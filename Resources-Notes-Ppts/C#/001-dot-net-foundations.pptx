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0"/>
  </p:notesMasterIdLst>
  <p:sldIdLst>
    <p:sldId id="256" r:id="rId2"/>
    <p:sldId id="342" r:id="rId3"/>
    <p:sldId id="258" r:id="rId4"/>
    <p:sldId id="260" r:id="rId5"/>
    <p:sldId id="308" r:id="rId6"/>
    <p:sldId id="311" r:id="rId7"/>
    <p:sldId id="312" r:id="rId8"/>
    <p:sldId id="321" r:id="rId9"/>
    <p:sldId id="313" r:id="rId10"/>
    <p:sldId id="314" r:id="rId11"/>
    <p:sldId id="317" r:id="rId12"/>
    <p:sldId id="318" r:id="rId13"/>
    <p:sldId id="319" r:id="rId14"/>
    <p:sldId id="320" r:id="rId15"/>
    <p:sldId id="339" r:id="rId16"/>
    <p:sldId id="340" r:id="rId17"/>
    <p:sldId id="322" r:id="rId18"/>
    <p:sldId id="404" r:id="rId19"/>
    <p:sldId id="333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6" r:id="rId28"/>
    <p:sldId id="337" r:id="rId29"/>
    <p:sldId id="330" r:id="rId30"/>
    <p:sldId id="334" r:id="rId31"/>
    <p:sldId id="335" r:id="rId32"/>
    <p:sldId id="353" r:id="rId33"/>
    <p:sldId id="354" r:id="rId34"/>
    <p:sldId id="331" r:id="rId35"/>
    <p:sldId id="332" r:id="rId36"/>
    <p:sldId id="338" r:id="rId37"/>
    <p:sldId id="415" r:id="rId38"/>
    <p:sldId id="416" r:id="rId39"/>
    <p:sldId id="417" r:id="rId40"/>
    <p:sldId id="341" r:id="rId41"/>
    <p:sldId id="412" r:id="rId42"/>
    <p:sldId id="414" r:id="rId43"/>
    <p:sldId id="405" r:id="rId44"/>
    <p:sldId id="406" r:id="rId45"/>
    <p:sldId id="464" r:id="rId46"/>
    <p:sldId id="355" r:id="rId47"/>
    <p:sldId id="349" r:id="rId48"/>
    <p:sldId id="346" r:id="rId49"/>
    <p:sldId id="418" r:id="rId50"/>
    <p:sldId id="413" r:id="rId51"/>
    <p:sldId id="345" r:id="rId52"/>
    <p:sldId id="343" r:id="rId53"/>
    <p:sldId id="347" r:id="rId54"/>
    <p:sldId id="348" r:id="rId55"/>
    <p:sldId id="350" r:id="rId56"/>
    <p:sldId id="351" r:id="rId57"/>
    <p:sldId id="352" r:id="rId58"/>
    <p:sldId id="407" r:id="rId59"/>
    <p:sldId id="409" r:id="rId60"/>
    <p:sldId id="408" r:id="rId61"/>
    <p:sldId id="410" r:id="rId62"/>
    <p:sldId id="411" r:id="rId63"/>
    <p:sldId id="427" r:id="rId64"/>
    <p:sldId id="356" r:id="rId65"/>
    <p:sldId id="419" r:id="rId66"/>
    <p:sldId id="422" r:id="rId67"/>
    <p:sldId id="423" r:id="rId68"/>
    <p:sldId id="424" r:id="rId69"/>
    <p:sldId id="425" r:id="rId70"/>
    <p:sldId id="420" r:id="rId71"/>
    <p:sldId id="461" r:id="rId72"/>
    <p:sldId id="344" r:id="rId73"/>
    <p:sldId id="358" r:id="rId74"/>
    <p:sldId id="359" r:id="rId75"/>
    <p:sldId id="361" r:id="rId76"/>
    <p:sldId id="421" r:id="rId77"/>
    <p:sldId id="362" r:id="rId78"/>
    <p:sldId id="426" r:id="rId79"/>
    <p:sldId id="363" r:id="rId80"/>
    <p:sldId id="460" r:id="rId81"/>
    <p:sldId id="364" r:id="rId82"/>
    <p:sldId id="428" r:id="rId83"/>
    <p:sldId id="365" r:id="rId84"/>
    <p:sldId id="367" r:id="rId85"/>
    <p:sldId id="366" r:id="rId86"/>
    <p:sldId id="368" r:id="rId87"/>
    <p:sldId id="429" r:id="rId88"/>
    <p:sldId id="430" r:id="rId89"/>
    <p:sldId id="432" r:id="rId90"/>
    <p:sldId id="373" r:id="rId91"/>
    <p:sldId id="431" r:id="rId92"/>
    <p:sldId id="440" r:id="rId93"/>
    <p:sldId id="441" r:id="rId94"/>
    <p:sldId id="434" r:id="rId95"/>
    <p:sldId id="433" r:id="rId96"/>
    <p:sldId id="435" r:id="rId97"/>
    <p:sldId id="370" r:id="rId98"/>
    <p:sldId id="442" r:id="rId99"/>
    <p:sldId id="436" r:id="rId100"/>
    <p:sldId id="437" r:id="rId101"/>
    <p:sldId id="438" r:id="rId102"/>
    <p:sldId id="439" r:id="rId103"/>
    <p:sldId id="374" r:id="rId104"/>
    <p:sldId id="445" r:id="rId105"/>
    <p:sldId id="444" r:id="rId106"/>
    <p:sldId id="448" r:id="rId107"/>
    <p:sldId id="449" r:id="rId108"/>
    <p:sldId id="455" r:id="rId109"/>
    <p:sldId id="447" r:id="rId110"/>
    <p:sldId id="446" r:id="rId111"/>
    <p:sldId id="450" r:id="rId112"/>
    <p:sldId id="357" r:id="rId113"/>
    <p:sldId id="452" r:id="rId114"/>
    <p:sldId id="453" r:id="rId115"/>
    <p:sldId id="451" r:id="rId116"/>
    <p:sldId id="454" r:id="rId117"/>
    <p:sldId id="462" r:id="rId118"/>
    <p:sldId id="459" r:id="rId119"/>
    <p:sldId id="443" r:id="rId120"/>
    <p:sldId id="457" r:id="rId121"/>
    <p:sldId id="456" r:id="rId122"/>
    <p:sldId id="458" r:id="rId123"/>
    <p:sldId id="463" r:id="rId124"/>
    <p:sldId id="371" r:id="rId125"/>
    <p:sldId id="372" r:id="rId126"/>
    <p:sldId id="375" r:id="rId127"/>
    <p:sldId id="377" r:id="rId128"/>
    <p:sldId id="376" r:id="rId129"/>
    <p:sldId id="378" r:id="rId130"/>
    <p:sldId id="379" r:id="rId131"/>
    <p:sldId id="380" r:id="rId132"/>
    <p:sldId id="381" r:id="rId133"/>
    <p:sldId id="382" r:id="rId134"/>
    <p:sldId id="385" r:id="rId135"/>
    <p:sldId id="383" r:id="rId136"/>
    <p:sldId id="384" r:id="rId137"/>
    <p:sldId id="387" r:id="rId138"/>
    <p:sldId id="386" r:id="rId139"/>
    <p:sldId id="390" r:id="rId140"/>
    <p:sldId id="391" r:id="rId141"/>
    <p:sldId id="388" r:id="rId142"/>
    <p:sldId id="389" r:id="rId143"/>
    <p:sldId id="392" r:id="rId144"/>
    <p:sldId id="393" r:id="rId145"/>
    <p:sldId id="394" r:id="rId146"/>
    <p:sldId id="395" r:id="rId147"/>
    <p:sldId id="397" r:id="rId148"/>
    <p:sldId id="400" r:id="rId149"/>
    <p:sldId id="401" r:id="rId150"/>
    <p:sldId id="396" r:id="rId151"/>
    <p:sldId id="399" r:id="rId152"/>
    <p:sldId id="398" r:id="rId153"/>
    <p:sldId id="402" r:id="rId154"/>
    <p:sldId id="403" r:id="rId155"/>
    <p:sldId id="270" r:id="rId156"/>
    <p:sldId id="263" r:id="rId157"/>
    <p:sldId id="265" r:id="rId158"/>
    <p:sldId id="275" r:id="rId159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161"/>
      <p:bold r:id="rId162"/>
      <p:italic r:id="rId163"/>
      <p:boldItalic r:id="rId164"/>
    </p:embeddedFont>
    <p:embeddedFont>
      <p:font typeface="Consolas" panose="020B0609020204030204" pitchFamily="49" charset="0"/>
      <p:regular r:id="rId165"/>
      <p:bold r:id="rId166"/>
      <p:italic r:id="rId167"/>
      <p:boldItalic r:id="rId168"/>
    </p:embeddedFont>
    <p:embeddedFont>
      <p:font typeface="Hammersmith One" panose="02010703030501060504" pitchFamily="2" charset="0"/>
      <p:regular r:id="rId169"/>
    </p:embeddedFont>
    <p:embeddedFont>
      <p:font typeface="Source Sans Pro" panose="020B0503030403020204" pitchFamily="34" charset="0"/>
      <p:regular r:id="rId170"/>
      <p:bold r:id="rId171"/>
      <p:italic r:id="rId172"/>
      <p:boldItalic r:id="rId1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10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11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font" Target="fonts/font1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ableStyles" Target="tableStyles.xml"/><Relationship Id="rId172" Type="http://schemas.openxmlformats.org/officeDocument/2006/relationships/font" Target="fonts/font12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font" Target="fonts/font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font" Target="fonts/font4.fntdata"/><Relationship Id="rId16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5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6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7DD508E3-75AF-97CB-4A7A-E5575608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0BBCFADB-33CC-6D45-5006-3AF8A28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722DCA5F-BECB-3FF9-0ED4-D5B813DCB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396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Probably pause here as it’s the best stopping point to expand on arrays a bit. The rest of the deck doesn’t expound on arrays to any depth </a:t>
            </a:r>
          </a:p>
        </p:txBody>
      </p:sp>
    </p:spTree>
    <p:extLst>
      <p:ext uri="{BB962C8B-B14F-4D97-AF65-F5344CB8AC3E}">
        <p14:creationId xmlns:p14="http://schemas.microsoft.com/office/powerpoint/2010/main" val="582876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18B14A5D-B57C-8C81-2B9E-44B74E77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4EE8823C-2AE6-45BF-0BEF-CCC949427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548971F2-1B03-A9E1-2EE2-D354DB02AB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280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6a9e8ca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6a9e8ca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631c3065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631c3065b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6a9e8cae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6a9e8cae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6a9e8cae7_0_18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6a9e8cae7_0_18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36700" cy="40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10800000">
            <a:off x="-444075" y="3169658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 rot="10800000">
            <a:off x="204337" y="4366358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rot="-10489599">
            <a:off x="-77639" y="178473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995422" y="463396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10489656">
            <a:off x="-740403" y="50347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sharp/fundamentals/types/#custom-types" TargetMode="Externa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earn.microsoft.com/en-us/dotnet/api/system.guid.compareto?view=net-9.0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learn.microsoft.com/en-us/dotnet/api/system.collections.generic?view=net-9.0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learn.microsoft.com/en-us/dotnet/api/system.collections.generic?view=net-9.0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collections.generic.ienumerable-1?view=net-10.0" TargetMode="Externa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hyperlink" Target="https://api.example.com/users?active=true&amp;limit=10" TargetMode="Externa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microsoft/mssql-server" TargetMode="Externa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4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8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9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6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9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9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9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7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9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9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9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9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0.png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9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9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accent3"/>
                </a:solidFill>
              </a:rPr>
              <a:t>.NET</a:t>
            </a:r>
            <a:br>
              <a:rPr lang="en" sz="4000" dirty="0">
                <a:solidFill>
                  <a:schemeClr val="accent3"/>
                </a:solidFill>
              </a:rPr>
            </a:br>
            <a:r>
              <a:rPr lang="en" sz="4000" dirty="0">
                <a:solidFill>
                  <a:schemeClr val="accent3"/>
                </a:solidFill>
              </a:rPr>
              <a:t>Foundations</a:t>
            </a:r>
            <a:endParaRPr sz="40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539C0-748C-4FA7-CC47-6634D470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163B-3742-D305-002F-9A93543C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119555"/>
            <a:ext cx="7736700" cy="572700"/>
          </a:xfrm>
        </p:spPr>
        <p:txBody>
          <a:bodyPr/>
          <a:lstStyle/>
          <a:p>
            <a:r>
              <a:rPr lang="en-US" dirty="0"/>
              <a:t>Software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A326D-236C-BDBF-9147-4E2305044577}"/>
              </a:ext>
            </a:extLst>
          </p:cNvPr>
          <p:cNvSpPr txBox="1"/>
          <p:nvPr/>
        </p:nvSpPr>
        <p:spPr>
          <a:xfrm>
            <a:off x="1030025" y="1617643"/>
            <a:ext cx="3095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Docker Desktop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VS Code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.NET (LTS release)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Node (LTS release; </a:t>
            </a:r>
            <a:r>
              <a:rPr lang="en-US" dirty="0" err="1">
                <a:solidFill>
                  <a:schemeClr val="bg1"/>
                </a:solidFill>
              </a:rPr>
              <a:t>nvm</a:t>
            </a:r>
            <a:r>
              <a:rPr lang="en-US" dirty="0">
                <a:solidFill>
                  <a:schemeClr val="bg1"/>
                </a:solidFill>
              </a:rPr>
              <a:t> for windows)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Microsoft SQL Server Management Studio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VS Code Extensions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Git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8D606-11F8-9E00-E7E8-9D904D37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221" y="1324113"/>
            <a:ext cx="3758129" cy="1054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989EF-3473-4269-1BA8-0D9C195CB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21" y="894189"/>
            <a:ext cx="3758128" cy="429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DCE6E3-FF02-EF9E-F28C-F4BAF2502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66" y="2413285"/>
            <a:ext cx="3229897" cy="115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402BB4-860E-641C-150C-7FD479D1A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959" y="3572531"/>
            <a:ext cx="3299016" cy="745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4A17BC-3B53-B6F4-15CD-D2423AC66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959" y="4308728"/>
            <a:ext cx="2726281" cy="61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6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853092" y="1735875"/>
            <a:ext cx="228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Platform Overview</a:t>
            </a:r>
            <a:endParaRPr sz="1400" dirty="0"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2"/>
          </p:nvPr>
        </p:nvSpPr>
        <p:spPr>
          <a:xfrm>
            <a:off x="939750" y="222105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What is .NET?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.NET Versions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Dependency Management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.NET SDK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Common SDK commands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3569494" y="1732084"/>
            <a:ext cx="169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C# Foundations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3031201" y="2198590"/>
            <a:ext cx="295081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What is C#?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Program Structure &amp; the Main method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 Types &amp; Type Conversion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Operators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Comments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Input/Output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Value Types vs Reference Types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Stack vs Heap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Selection &amp; Iteration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Custom Types &amp; Collections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OOP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6009321" y="1755492"/>
            <a:ext cx="1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C# Level I 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5946600" y="2198590"/>
            <a:ext cx="2740841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Serialization/Deserialization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File I/O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LINQ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ASP.NET Core overview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Minimal APIs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Entity Framework Core Overview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Testing Minimal APIs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1365436" y="1368266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3876864" y="1364475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6207321" y="1364475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Platform Overview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ED99-173B-B778-1C72-A510193F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.NET?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0CC77-F211-3153-0680-5201F86C4302}"/>
              </a:ext>
            </a:extLst>
          </p:cNvPr>
          <p:cNvSpPr txBox="1"/>
          <p:nvPr/>
        </p:nvSpPr>
        <p:spPr>
          <a:xfrm>
            <a:off x="713225" y="1161907"/>
            <a:ext cx="77367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.NET is a </a:t>
            </a:r>
            <a:r>
              <a:rPr lang="en-US" dirty="0">
                <a:solidFill>
                  <a:schemeClr val="accent3"/>
                </a:solidFill>
              </a:rPr>
              <a:t>free, open-source developer platform </a:t>
            </a:r>
            <a:r>
              <a:rPr lang="en-US" dirty="0">
                <a:solidFill>
                  <a:schemeClr val="bg1"/>
                </a:solidFill>
              </a:rPr>
              <a:t>for building many types of applications for multiple different programming platforms. 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.NET, you can use multiple languages, editors, and libraries to </a:t>
            </a:r>
            <a:r>
              <a:rPr lang="en-US" dirty="0">
                <a:solidFill>
                  <a:schemeClr val="accent3"/>
                </a:solidFill>
              </a:rPr>
              <a:t>build for web, mobile, desktop, games, and IoT </a:t>
            </a:r>
            <a:r>
              <a:rPr lang="en-US" dirty="0">
                <a:solidFill>
                  <a:schemeClr val="bg1"/>
                </a:solidFill>
              </a:rPr>
              <a:t>(Internet of Things).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In .NET: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We develop with </a:t>
            </a:r>
            <a:r>
              <a:rPr lang="en-US" dirty="0">
                <a:solidFill>
                  <a:schemeClr val="accent3"/>
                </a:solidFill>
              </a:rPr>
              <a:t>C#, VB, or F#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It has a </a:t>
            </a:r>
            <a:r>
              <a:rPr lang="en-US" dirty="0">
                <a:solidFill>
                  <a:schemeClr val="accent3"/>
                </a:solidFill>
              </a:rPr>
              <a:t>cross-platform design</a:t>
            </a:r>
            <a:r>
              <a:rPr lang="en-US" dirty="0">
                <a:solidFill>
                  <a:schemeClr val="bg1"/>
                </a:solidFill>
              </a:rPr>
              <a:t>, i.e. runs on windows, mac, and </a:t>
            </a:r>
            <a:r>
              <a:rPr lang="en-US" dirty="0" err="1">
                <a:solidFill>
                  <a:schemeClr val="bg1"/>
                </a:solidFill>
              </a:rPr>
              <a:t>linux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Multiple .NET versions can run side-by-side on the same machine to run projects concurrently 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90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1D6-1B66-9A97-ADD3-E6436DF4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399F-DEBE-F5AA-B9E0-D3EEDF5B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are coming from Java…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E782C-B717-D2B9-10BA-D806D55C0D1C}"/>
              </a:ext>
            </a:extLst>
          </p:cNvPr>
          <p:cNvSpPr txBox="1"/>
          <p:nvPr/>
        </p:nvSpPr>
        <p:spPr>
          <a:xfrm>
            <a:off x="713225" y="1161907"/>
            <a:ext cx="7736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A5AD96-3CAB-5A81-5464-C8A144055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20525"/>
              </p:ext>
            </p:extLst>
          </p:nvPr>
        </p:nvGraphicFramePr>
        <p:xfrm>
          <a:off x="311149" y="1012300"/>
          <a:ext cx="8521701" cy="37719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420589715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09334171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42089524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Technology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Java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.NET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351548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Language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C#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0209764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Dependency Manager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Maven/Gradle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Nuget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832885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Testing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junit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xunit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3999839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SQL Vendor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MySQL/PostgreSQL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SQL Server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6388971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DB access</a:t>
                      </a:r>
                      <a:br>
                        <a:rPr lang="en-US" sz="1800" b="1" dirty="0">
                          <a:effectLst/>
                        </a:rPr>
                      </a:br>
                      <a:endParaRPr lang="en-US" sz="1800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jdbc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ADO.NET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9583662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ORM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Hibernate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Entity Framework Core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1124072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Web Framework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javalin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ASP.NET Core minimal API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1376321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endParaRPr lang="en-US" sz="1800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Spring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ASP.NET Core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6442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75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F9FA8-4894-03FC-995C-4712A11B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6554-F592-557F-8412-7E5F8A86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versions and naming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595C5-FAB1-87D7-9734-B9FC44EDFFBA}"/>
              </a:ext>
            </a:extLst>
          </p:cNvPr>
          <p:cNvSpPr txBox="1"/>
          <p:nvPr/>
        </p:nvSpPr>
        <p:spPr>
          <a:xfrm>
            <a:off x="713225" y="1161907"/>
            <a:ext cx="7736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Yearly releases</a:t>
            </a:r>
            <a:r>
              <a:rPr lang="en-US" dirty="0">
                <a:solidFill>
                  <a:schemeClr val="bg1"/>
                </a:solidFill>
              </a:rPr>
              <a:t>, with even numbers being LTS (long term support)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.NET 10 is the latest release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‘.NET Framework’ is the first ever release (legacy)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‘.NET Core’ began cross-platform implementations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Eventually they dropped ‘Core’ and skipped version 4…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So the version history is something like this: .NET Framework &gt; .NET Core 1 &gt; … &gt; .NET Core 3.1 &gt; .NET 5 &gt;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 algn="ctr">
              <a:buFontTx/>
              <a:buChar char="-"/>
            </a:pP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1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1C89-5BAB-BCF0-A1F9-9DAEC647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9C3F-473F-23AC-EE81-DBFA0276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.NET SDK?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66E57-619F-904B-53AD-D47A8E10F10D}"/>
              </a:ext>
            </a:extLst>
          </p:cNvPr>
          <p:cNvSpPr txBox="1"/>
          <p:nvPr/>
        </p:nvSpPr>
        <p:spPr>
          <a:xfrm>
            <a:off x="713225" y="1161907"/>
            <a:ext cx="77367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.NET SDK is a set of libraries and tools that allows developers to create .NET applications and libraries. It contains the following components that are used to build and run applications:</a:t>
            </a:r>
          </a:p>
          <a:p>
            <a:pPr algn="ctr"/>
            <a:endParaRPr lang="en-US" dirty="0">
              <a:solidFill>
                <a:schemeClr val="accent3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.NET CLI </a:t>
            </a:r>
            <a:r>
              <a:rPr lang="en-US" dirty="0">
                <a:solidFill>
                  <a:schemeClr val="bg1"/>
                </a:solidFill>
              </a:rPr>
              <a:t>(command line interface)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.NET Runtime and libraries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Common Language Runtime (CLR) </a:t>
            </a:r>
            <a:r>
              <a:rPr lang="en-US" dirty="0">
                <a:solidFill>
                  <a:schemeClr val="bg1"/>
                </a:solidFill>
              </a:rPr>
              <a:t>handles memory allocation and management. It includes a virtual machine that executes apps but also generates and compiles code on-the-fly using a JIT compiler. 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Code is compiled into a </a:t>
            </a:r>
            <a:r>
              <a:rPr lang="en-US" dirty="0">
                <a:solidFill>
                  <a:schemeClr val="accent3"/>
                </a:solidFill>
              </a:rPr>
              <a:t>Common Intermediate Language (CIL) 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CIL </a:t>
            </a:r>
            <a:r>
              <a:rPr lang="en-US" dirty="0">
                <a:solidFill>
                  <a:schemeClr val="bg1"/>
                </a:solidFill>
              </a:rPr>
              <a:t>will be executed with a JIT compiler 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Base Class Library (BCL) </a:t>
            </a:r>
            <a:r>
              <a:rPr lang="en-US" dirty="0">
                <a:solidFill>
                  <a:schemeClr val="bg1"/>
                </a:solidFill>
              </a:rPr>
              <a:t>is available OOB, and comprises the System namespace</a:t>
            </a:r>
          </a:p>
          <a:p>
            <a:pPr marL="285750" lvl="1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System namespace: console, primitive datatypes, </a:t>
            </a:r>
            <a:r>
              <a:rPr lang="en-US" dirty="0" err="1">
                <a:solidFill>
                  <a:schemeClr val="bg1"/>
                </a:solidFill>
              </a:rPr>
              <a:t>subnamespaces</a:t>
            </a:r>
            <a:r>
              <a:rPr lang="en-US" dirty="0">
                <a:solidFill>
                  <a:schemeClr val="bg1"/>
                </a:solidFill>
              </a:rPr>
              <a:t> i.e. </a:t>
            </a:r>
            <a:r>
              <a:rPr lang="en-US" dirty="0" err="1">
                <a:solidFill>
                  <a:schemeClr val="bg1"/>
                </a:solidFill>
              </a:rPr>
              <a:t>system.collections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system.linq</a:t>
            </a:r>
            <a:r>
              <a:rPr lang="en-US" dirty="0">
                <a:solidFill>
                  <a:schemeClr val="bg1"/>
                </a:solidFill>
              </a:rPr>
              <a:t>, system.IO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.NET driver</a:t>
            </a:r>
            <a:r>
              <a:rPr lang="en-US" dirty="0">
                <a:solidFill>
                  <a:schemeClr val="bg1"/>
                </a:solidFill>
              </a:rPr>
              <a:t>, which provides an interface to the Microsoft .NET open source software framework for developing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79858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D7BB-20C7-158F-2D96-51078706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2C75-3FF7-5C2F-EC68-A0669F7F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FF828-B62E-4524-CDDE-A4A019699F01}"/>
              </a:ext>
            </a:extLst>
          </p:cNvPr>
          <p:cNvSpPr txBox="1"/>
          <p:nvPr/>
        </p:nvSpPr>
        <p:spPr>
          <a:xfrm>
            <a:off x="713225" y="1161907"/>
            <a:ext cx="77367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3"/>
                </a:solidFill>
              </a:rPr>
              <a:t>Nuget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is responsible for dependency management in .NET, and it comes pre-installed with the .NET SDK. This is how we include further libraries outside of the </a:t>
            </a:r>
            <a:r>
              <a:rPr lang="en-US" dirty="0">
                <a:solidFill>
                  <a:schemeClr val="accent3"/>
                </a:solidFill>
              </a:rPr>
              <a:t>BCLs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You can add a new package with:</a:t>
            </a: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dotnet add package &lt;package-name&gt;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Dependencies are added to our .</a:t>
            </a:r>
            <a:r>
              <a:rPr lang="en-US" dirty="0" err="1">
                <a:solidFill>
                  <a:schemeClr val="accent3"/>
                </a:solidFill>
              </a:rPr>
              <a:t>csproj</a:t>
            </a:r>
            <a:r>
              <a:rPr lang="en-US" dirty="0">
                <a:solidFill>
                  <a:schemeClr val="accent3"/>
                </a:solidFill>
              </a:rPr>
              <a:t> file. </a:t>
            </a:r>
          </a:p>
        </p:txBody>
      </p:sp>
    </p:spTree>
    <p:extLst>
      <p:ext uri="{BB962C8B-B14F-4D97-AF65-F5344CB8AC3E}">
        <p14:creationId xmlns:p14="http://schemas.microsoft.com/office/powerpoint/2010/main" val="103048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93DA-94DB-4D3E-D91F-E5655EA3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372F-479A-4C52-7F81-63D6B7CA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.NET SDK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4074C-80D3-8AFD-4C6A-C0024C86F08D}"/>
              </a:ext>
            </a:extLst>
          </p:cNvPr>
          <p:cNvSpPr txBox="1"/>
          <p:nvPr/>
        </p:nvSpPr>
        <p:spPr>
          <a:xfrm>
            <a:off x="1823506" y="932000"/>
            <a:ext cx="5496988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–info </a:t>
            </a:r>
            <a:r>
              <a:rPr lang="en-US" dirty="0">
                <a:solidFill>
                  <a:schemeClr val="bg1"/>
                </a:solidFill>
              </a:rPr>
              <a:t>– display info on dotnet </a:t>
            </a:r>
            <a:r>
              <a:rPr lang="en-US" dirty="0" err="1">
                <a:solidFill>
                  <a:schemeClr val="bg1"/>
                </a:solidFill>
              </a:rPr>
              <a:t>sdk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… </a:t>
            </a:r>
            <a:r>
              <a:rPr lang="en-US" dirty="0">
                <a:solidFill>
                  <a:schemeClr val="bg1"/>
                </a:solidFill>
              </a:rPr>
              <a:t>- scaffold a new project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console –n HelloWorld </a:t>
            </a:r>
            <a:r>
              <a:rPr lang="en-US" dirty="0">
                <a:solidFill>
                  <a:schemeClr val="bg1"/>
                </a:solidFill>
              </a:rPr>
              <a:t>– scaffold a console app with a project name of ‘HelloWorld’; uses top-level statements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console –n HelloWorld –use-program-main </a:t>
            </a:r>
            <a:r>
              <a:rPr lang="en-US" dirty="0">
                <a:solidFill>
                  <a:schemeClr val="bg1"/>
                </a:solidFill>
              </a:rPr>
              <a:t>– same as above, except it won’t use top level statements or implicit usings, we will get a main method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</a:t>
            </a:r>
            <a:r>
              <a:rPr lang="en-US" dirty="0" err="1">
                <a:solidFill>
                  <a:schemeClr val="accent3"/>
                </a:solidFill>
              </a:rPr>
              <a:t>gitignore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 create new .NET specific </a:t>
            </a:r>
            <a:r>
              <a:rPr lang="en-US" dirty="0" err="1">
                <a:solidFill>
                  <a:schemeClr val="bg1"/>
                </a:solidFill>
              </a:rPr>
              <a:t>gitignore</a:t>
            </a:r>
            <a:r>
              <a:rPr lang="en-US" dirty="0">
                <a:solidFill>
                  <a:schemeClr val="bg1"/>
                </a:solidFill>
              </a:rPr>
              <a:t> file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list </a:t>
            </a:r>
            <a:r>
              <a:rPr lang="en-US" dirty="0">
                <a:solidFill>
                  <a:schemeClr val="bg1"/>
                </a:solidFill>
              </a:rPr>
              <a:t>– list all templates available for the dotnet new command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run </a:t>
            </a:r>
            <a:r>
              <a:rPr lang="en-US" dirty="0">
                <a:solidFill>
                  <a:schemeClr val="bg1"/>
                </a:solidFill>
              </a:rPr>
              <a:t>–clean, restore, build, and run the project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6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890-0CB3-C3A4-0A40-86D75EC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Overview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7513-341F-981E-5D5E-619F62E2C4BC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.NET app.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BA2C-C335-E1A0-7D63-C94522D8DFDA}"/>
              </a:ext>
            </a:extLst>
          </p:cNvPr>
          <p:cNvSpPr txBox="1"/>
          <p:nvPr/>
        </p:nvSpPr>
        <p:spPr>
          <a:xfrm>
            <a:off x="2830664" y="1327868"/>
            <a:ext cx="57646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Hello World console app and run it. </a:t>
            </a:r>
          </a:p>
        </p:txBody>
      </p:sp>
    </p:spTree>
    <p:extLst>
      <p:ext uri="{BB962C8B-B14F-4D97-AF65-F5344CB8AC3E}">
        <p14:creationId xmlns:p14="http://schemas.microsoft.com/office/powerpoint/2010/main" val="247408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C8094-A028-8FC6-04F5-2CBC2C8E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C799-C842-F2EB-2DDF-89C5AC4B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6B024-2CA5-8C42-7CE1-EA502D43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25" y="1599916"/>
            <a:ext cx="2334984" cy="1910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0A1F2D-6543-6A4F-3E92-09DDEAFBEFA9}"/>
              </a:ext>
            </a:extLst>
          </p:cNvPr>
          <p:cNvSpPr txBox="1"/>
          <p:nvPr/>
        </p:nvSpPr>
        <p:spPr>
          <a:xfrm>
            <a:off x="3772800" y="1599916"/>
            <a:ext cx="48413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 is generated when we run the project. Both bin and </a:t>
            </a:r>
          </a:p>
          <a:p>
            <a:r>
              <a:rPr lang="en-US" dirty="0">
                <a:solidFill>
                  <a:schemeClr val="bg1"/>
                </a:solidFill>
              </a:rPr>
              <a:t>Obj folders represent generated project files.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</a:t>
            </a:r>
            <a:r>
              <a:rPr lang="en-US" dirty="0" err="1">
                <a:solidFill>
                  <a:schemeClr val="bg1"/>
                </a:solidFill>
              </a:rPr>
              <a:t>csproj</a:t>
            </a:r>
            <a:r>
              <a:rPr lang="en-US" dirty="0">
                <a:solidFill>
                  <a:schemeClr val="bg1"/>
                </a:solidFill>
              </a:rPr>
              <a:t> file lists project dependencies.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</a:t>
            </a:r>
            <a:r>
              <a:rPr lang="en-US" dirty="0" err="1">
                <a:solidFill>
                  <a:schemeClr val="bg1"/>
                </a:solidFill>
              </a:rPr>
              <a:t>sln</a:t>
            </a:r>
            <a:r>
              <a:rPr lang="en-US" dirty="0">
                <a:solidFill>
                  <a:schemeClr val="bg1"/>
                </a:solidFill>
              </a:rPr>
              <a:t> file (solution file) is responsible for linking multiple </a:t>
            </a:r>
          </a:p>
          <a:p>
            <a:r>
              <a:rPr lang="en-US" dirty="0">
                <a:solidFill>
                  <a:schemeClr val="bg1"/>
                </a:solidFill>
              </a:rPr>
              <a:t>Projects together so they may perform work in tandem.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.cs is our source code and project entry point. </a:t>
            </a:r>
          </a:p>
        </p:txBody>
      </p:sp>
    </p:spTree>
    <p:extLst>
      <p:ext uri="{BB962C8B-B14F-4D97-AF65-F5344CB8AC3E}">
        <p14:creationId xmlns:p14="http://schemas.microsoft.com/office/powerpoint/2010/main" val="178604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E219353E-924E-516B-F5EC-2D57386B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9DA35B7E-DE91-EF72-036B-F9B915225E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C# Foundations</a:t>
            </a:r>
            <a:endParaRPr sz="32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B2DFC788-A0AA-BB99-F6FC-1C7C93C970C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0CF66737-F793-4E36-305B-D241158B83F0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141FBAC0-E9C7-C22F-0F35-757FD0A91BA9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5A80CD13-0D8B-95AE-7986-4FC22CA21B6D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9A572E04-FD04-0C74-DE08-79697B6D6454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6F2A9A6C-1499-6570-235A-C0F933DB9018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05839FD5-10D7-8FF3-F25F-26A968C62CD0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CB13C1A6-3B12-B196-E579-32E85BF7FCFE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B2FE3521-65CB-0C17-00B1-BD094A8DC3D4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0519BDD7-FD95-44A6-B615-0DE21BEA675F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3DD5DC37-BF1A-186E-21E6-471A13A98D8F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93631240-8594-53D6-5D79-C67FB84E609F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F398896D-9238-7DA8-C6BC-8B52E03E6E0C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B02BD48F-10DD-51AC-2684-C9749172D7BD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8D4EB7C7-8390-93AA-4A45-A54483665C0A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F9C976AD-EFF1-EF24-F2D1-E44DE05736A4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C6DEA848-B96B-4DD3-B943-91E7FF2883D1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DF967650-8699-8CCD-DB8F-AC66318CCA9B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E5E5913C-A39F-14DC-5D67-8B7997D8ADDB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3D34FFD8-BE1A-C5E7-D631-426A84F69063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A0E6D8EC-A9AD-E818-1CD6-DE0A13A8B107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4C58BF72-1DB5-4DD7-B597-BF2CE77F6B88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58D25FD8-9F00-ADA1-F450-D4F62BFED5D7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7100BB77-750C-FBB1-12D7-0F39DAEFF4F3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74374790-15B1-1030-70EA-A91F601C7CBC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D0CD200B-1895-AA4C-77E3-9FDAD3ADF908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35F73BEC-ABEF-9AA0-3672-7F6FDC294904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E53B0C77-C6B5-149D-7B6B-99A7AB650871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FDEF13C1-08B0-50EA-1F72-0FE89FFB0960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18B5FB0D-ED9E-97FA-876E-838726EF36BB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0455AE37-C2BB-0D47-C960-2AC607E1A683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B5333903-668D-08D2-262C-CC1C4B84B37D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CC454902-61A3-4461-45E6-C5E81E852707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A2DEF2D6-9C35-03A2-8DC6-1B65DB65C540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08C07F6A-8191-2402-3511-5C5DF29D9FF3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781F16D2-1000-DE2B-68E2-F421497DA9C4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AAD01875-B55A-C77D-5FF5-5C24509D5087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E5526B42-2A3B-8B52-976D-1290E30E1403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9FB20A9C-88DE-831D-95CB-3D7F9BEFE789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64E6B1A8-BF82-FDA8-2D97-A15592DB5E99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77F92EE4-C969-6BD4-37D9-4B1936A27416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ED074557-358A-EBEA-97E5-517331918BB0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5AD5C0F2-76BF-85D2-C775-90F1F9A4BE13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D6C0A065-4BAE-C949-4C48-D3AC6CDCB7AF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9898D286-E1E6-92FD-BD95-3AA3A860AF80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72E23880-68F1-CDA5-68CC-7B5B22D5216B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12875BFC-050A-6F87-EF5E-191A835E7A2D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D095E105-121D-5824-711A-8CF00FD458C4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E677C3E6-7AFE-25BF-3F9C-F26F1BF0AFCB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F7CFC9B9-AC98-E950-612D-F2700E0A5EF2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9E70D837-8EEB-5DB8-26C6-94B4D39F8F74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668D07C6-4549-3F6D-688F-CBD6F690E870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BAAE70A4-5F97-D268-5387-E3038A96CF30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2F6D47D8-9321-6C1C-5C73-7FA1278BA401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00E2F81D-20AD-4813-C515-1AE7D0BF32A1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A145D80-6DAC-9828-0D14-7CDF335CD8D7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D7FDD6D5-198D-6C47-D89D-C2D61067E474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5893AEF6-4436-FE2B-A5B6-2792D8CD7FB7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9C30FF3A-4DD5-69F8-E572-A7C0922AF281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602C9831-DEA1-FD82-AEB7-443124085380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8FAB1DD2-0801-ACC0-4587-B6140A560D1D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B8F0F82E-6F82-DB1C-4ABB-19DCA24E09A9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3430AA1C-0307-0917-1886-CEB9486F3C5F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B9EF1943-EB11-E1B4-C06F-B22783231785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592C843A-5F38-C61E-80AF-BD763F2A1F5B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C55EECFD-53E1-9918-BDD8-8CFD036C1934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96F42A97-1763-9F8A-034A-8B87FA6610B2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A66CD389-D7C3-9FA0-15A7-0766D641693F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4663A20D-C4BE-CD77-F2AA-956CC98190A4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3324D1D1-5C84-1A35-6B7D-BEB20BF908F7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DEA9EA7F-F52B-D423-BCBC-0D7F3A51E4C7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6490D3C5-D3EE-E422-6D18-76F134337FF5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FEAF7837-A256-651B-F225-1CDC65104A12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E25B6709-6325-FD6E-519E-CB44E909BBB7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1A195C2B-5C65-3716-7506-76FD0E02C8C6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DD4A7F16-9B0D-B7F9-7AF1-84DAE596E02D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DA4DBC7E-B45F-CA37-180E-DC4D4AD802B5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1D9DA8B2-430B-75CB-8B6B-9221F1B574F2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87F640A7-2E3A-74E9-3941-A4FA445E3B3B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B2A0D6AC-6869-4E97-30DC-4C57B7F312C7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FC43FF43-D5F3-4AC5-F1CF-812F489DA2DB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D246966B-7A2B-5F61-524A-1AD65D8B6D3F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4C8A8D9F-6971-33D6-07C3-117755D1E4EB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AAEFB6B9-491B-C220-3996-3E8B2651B437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7D3F514A-3ABB-DF1C-B0ED-732A64DFFE00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194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3716-ED04-0041-3250-551E8F40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B3BF-8D39-250F-54CC-A5A1146C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C#?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BCDD5-FCA5-97F8-906D-0C8662DA26FC}"/>
              </a:ext>
            </a:extLst>
          </p:cNvPr>
          <p:cNvSpPr txBox="1"/>
          <p:nvPr/>
        </p:nvSpPr>
        <p:spPr>
          <a:xfrm>
            <a:off x="1499400" y="1281600"/>
            <a:ext cx="6145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C# may be described as: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object-oriented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Statically typed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C# program runtime is managed by the </a:t>
            </a:r>
            <a:r>
              <a:rPr lang="en-US" dirty="0">
                <a:solidFill>
                  <a:schemeClr val="accent3"/>
                </a:solidFill>
              </a:rPr>
              <a:t>CLR (common language runtime)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CLR </a:t>
            </a:r>
            <a:r>
              <a:rPr lang="en-US" dirty="0">
                <a:solidFill>
                  <a:schemeClr val="bg1"/>
                </a:solidFill>
              </a:rPr>
              <a:t>is the implementation by Microsoft of the </a:t>
            </a:r>
            <a:r>
              <a:rPr lang="en-US" dirty="0">
                <a:solidFill>
                  <a:schemeClr val="accent3"/>
                </a:solidFill>
              </a:rPr>
              <a:t>common language infrastructure (CLI)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 international standard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CLI</a:t>
            </a:r>
            <a:r>
              <a:rPr lang="en-US" dirty="0">
                <a:solidFill>
                  <a:schemeClr val="bg1"/>
                </a:solidFill>
              </a:rPr>
              <a:t> is the basis for creating both execution and development environments in which languages and libraries work together seamlessly</a:t>
            </a:r>
          </a:p>
        </p:txBody>
      </p:sp>
    </p:spTree>
    <p:extLst>
      <p:ext uri="{BB962C8B-B14F-4D97-AF65-F5344CB8AC3E}">
        <p14:creationId xmlns:p14="http://schemas.microsoft.com/office/powerpoint/2010/main" val="934905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D259-E3A4-DBA2-53B2-991179B1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25EA-8291-339E-2B84-613A3E97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C2010-6B8B-221D-1FB4-F993359B0D69}"/>
              </a:ext>
            </a:extLst>
          </p:cNvPr>
          <p:cNvSpPr txBox="1"/>
          <p:nvPr/>
        </p:nvSpPr>
        <p:spPr>
          <a:xfrm>
            <a:off x="502200" y="1454400"/>
            <a:ext cx="3313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Each C# file contains zero or more </a:t>
            </a: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3"/>
                </a:solidFill>
              </a:rPr>
              <a:t>namespace</a:t>
            </a:r>
            <a:r>
              <a:rPr lang="en-US" dirty="0">
                <a:solidFill>
                  <a:schemeClr val="bg1"/>
                </a:solidFill>
              </a:rPr>
              <a:t> contains types such as classes, structs, interfaces, </a:t>
            </a:r>
            <a:r>
              <a:rPr lang="en-US" dirty="0" err="1">
                <a:solidFill>
                  <a:schemeClr val="bg1"/>
                </a:solidFill>
              </a:rPr>
              <a:t>enums</a:t>
            </a:r>
            <a:r>
              <a:rPr lang="en-US" dirty="0">
                <a:solidFill>
                  <a:schemeClr val="bg1"/>
                </a:solidFill>
              </a:rPr>
              <a:t>, delegates, and other </a:t>
            </a: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 help us organize our code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This example shows </a:t>
            </a:r>
            <a:r>
              <a:rPr lang="en-US" dirty="0">
                <a:solidFill>
                  <a:schemeClr val="accent3"/>
                </a:solidFill>
              </a:rPr>
              <a:t>block-level namespaces</a:t>
            </a:r>
            <a:r>
              <a:rPr lang="en-US" dirty="0">
                <a:solidFill>
                  <a:schemeClr val="bg1"/>
                </a:solidFill>
              </a:rPr>
              <a:t> (older, pre </a:t>
            </a:r>
            <a:r>
              <a:rPr lang="en-US" dirty="0" err="1">
                <a:solidFill>
                  <a:schemeClr val="bg1"/>
                </a:solidFill>
              </a:rPr>
              <a:t>.net</a:t>
            </a:r>
            <a:r>
              <a:rPr lang="en-US" dirty="0">
                <a:solidFill>
                  <a:schemeClr val="bg1"/>
                </a:solidFill>
              </a:rPr>
              <a:t> 6)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More commonly we use </a:t>
            </a:r>
            <a:r>
              <a:rPr lang="en-US" dirty="0">
                <a:solidFill>
                  <a:schemeClr val="accent3"/>
                </a:solidFill>
              </a:rPr>
              <a:t>file-scoped namespaces</a:t>
            </a:r>
            <a:r>
              <a:rPr lang="en-US" dirty="0">
                <a:solidFill>
                  <a:schemeClr val="bg1"/>
                </a:solidFill>
              </a:rPr>
              <a:t> e.g. ‘namespace </a:t>
            </a:r>
            <a:r>
              <a:rPr lang="en-US" dirty="0" err="1">
                <a:solidFill>
                  <a:schemeClr val="bg1"/>
                </a:solidFill>
              </a:rPr>
              <a:t>YourNamespace</a:t>
            </a:r>
            <a:r>
              <a:rPr lang="en-US" dirty="0">
                <a:solidFill>
                  <a:schemeClr val="bg1"/>
                </a:solidFill>
              </a:rPr>
              <a:t>;’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689E4-B5AF-2BDB-ADC2-8BD77D402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00" y="1114388"/>
            <a:ext cx="4239515" cy="358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B924-BB6F-D85F-C1B5-285F6225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69DF-292D-68B9-DB9A-BAA0D387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C245F-F57F-8717-CBD8-D4C7ABBC4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991" y="2826506"/>
            <a:ext cx="4763165" cy="2095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E29B12-1553-68BF-2D60-675D779475B4}"/>
              </a:ext>
            </a:extLst>
          </p:cNvPr>
          <p:cNvSpPr txBox="1"/>
          <p:nvPr/>
        </p:nvSpPr>
        <p:spPr>
          <a:xfrm>
            <a:off x="1142468" y="971312"/>
            <a:ext cx="68782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Entry point for application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If multiple classes have main methods, then the </a:t>
            </a:r>
            <a:r>
              <a:rPr lang="en-US" dirty="0" err="1">
                <a:solidFill>
                  <a:schemeClr val="bg1"/>
                </a:solidFill>
              </a:rPr>
              <a:t>StartupObject</a:t>
            </a:r>
            <a:r>
              <a:rPr lang="en-US" dirty="0">
                <a:solidFill>
                  <a:schemeClr val="bg1"/>
                </a:solidFill>
              </a:rPr>
              <a:t> compiler option may be used to specify which one to use first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Console Apps get </a:t>
            </a:r>
            <a:r>
              <a:rPr lang="en-US" dirty="0">
                <a:solidFill>
                  <a:schemeClr val="accent3"/>
                </a:solidFill>
              </a:rPr>
              <a:t>Top-Level Statements </a:t>
            </a:r>
            <a:r>
              <a:rPr lang="en-US" dirty="0">
                <a:solidFill>
                  <a:schemeClr val="bg1"/>
                </a:solidFill>
              </a:rPr>
              <a:t>enabled by default. I.e. no boilerplate class/method, implicit usings,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return 0;</a:t>
            </a:r>
            <a:r>
              <a:rPr lang="en-US" dirty="0">
                <a:solidFill>
                  <a:schemeClr val="bg1"/>
                </a:solidFill>
              </a:rPr>
              <a:t> in the Main method to exit the application (or even cleaner just let C# handle it and do nothing – the program will end once Main completes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We can use </a:t>
            </a:r>
            <a:r>
              <a:rPr lang="en-US" dirty="0" err="1">
                <a:solidFill>
                  <a:schemeClr val="accent3"/>
                </a:solidFill>
              </a:rPr>
              <a:t>Environment.Exit</a:t>
            </a:r>
            <a:r>
              <a:rPr lang="en-US" dirty="0">
                <a:solidFill>
                  <a:schemeClr val="accent3"/>
                </a:solidFill>
              </a:rPr>
              <a:t>(0); </a:t>
            </a:r>
            <a:r>
              <a:rPr lang="en-US" dirty="0">
                <a:solidFill>
                  <a:schemeClr val="bg1"/>
                </a:solidFill>
              </a:rPr>
              <a:t>to exit the application from any method (rare)</a:t>
            </a:r>
          </a:p>
        </p:txBody>
      </p:sp>
    </p:spTree>
    <p:extLst>
      <p:ext uri="{BB962C8B-B14F-4D97-AF65-F5344CB8AC3E}">
        <p14:creationId xmlns:p14="http://schemas.microsoft.com/office/powerpoint/2010/main" val="358180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B3C3-1D6F-9F69-7D56-0AA0FD85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E360-89F3-F8FB-5E82-ADB737D8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Primitive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D70E7-0FDD-7EFE-7808-416A6DEA3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636927"/>
              </p:ext>
            </p:extLst>
          </p:nvPr>
        </p:nvGraphicFramePr>
        <p:xfrm>
          <a:off x="657490" y="1440412"/>
          <a:ext cx="7829020" cy="3454668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565804">
                  <a:extLst>
                    <a:ext uri="{9D8B030D-6E8A-4147-A177-3AD203B41FA5}">
                      <a16:colId xmlns:a16="http://schemas.microsoft.com/office/drawing/2014/main" val="407914205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925994283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2078598857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2797783635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3967258970"/>
                    </a:ext>
                  </a:extLst>
                </a:gridCol>
              </a:tblGrid>
              <a:tr h="3360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Alias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Type Name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Type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Size(bits)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Range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57684313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short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-32768 to 32767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545172025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int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31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(2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31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)-1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4291876632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63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(2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63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)-1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3092423002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byte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System.Byte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0 to 255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3280705455"/>
                  </a:ext>
                </a:extLst>
              </a:tr>
              <a:tr h="532047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System.Single</a:t>
                      </a:r>
                      <a:endParaRPr lang="en-US" sz="13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floating point number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±1.5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-45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±3.4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38</a:t>
                      </a:r>
                      <a:endParaRPr lang="en-US" sz="1300" b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2999546619"/>
                  </a:ext>
                </a:extLst>
              </a:tr>
              <a:tr h="532047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double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System.Double</a:t>
                      </a:r>
                      <a:endParaRPr lang="en-US" sz="13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floating point number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±5.0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-324 to ±1.7 × 10308</a:t>
                      </a:r>
                      <a:endParaRPr lang="en-US" sz="1300" b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925422451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char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System.Char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Unicode character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l-PL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 +0000 to U +ffff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2779195258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string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System.String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text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N/A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N/A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1866198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4BC4-07D1-9618-365E-0118E9FBBB90}"/>
              </a:ext>
            </a:extLst>
          </p:cNvPr>
          <p:cNvSpPr txBox="1"/>
          <p:nvPr/>
        </p:nvSpPr>
        <p:spPr>
          <a:xfrm>
            <a:off x="2295575" y="932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 num = 123;</a:t>
            </a:r>
          </a:p>
        </p:txBody>
      </p:sp>
    </p:spTree>
    <p:extLst>
      <p:ext uri="{BB962C8B-B14F-4D97-AF65-F5344CB8AC3E}">
        <p14:creationId xmlns:p14="http://schemas.microsoft.com/office/powerpoint/2010/main" val="232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B008-A02E-A92D-9345-C8EB173F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2ABD9-47E3-53DA-8E42-763E9FB53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9" y="1543954"/>
            <a:ext cx="3291871" cy="2055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9C8D55-55C4-D9AF-E91B-8CD9F2A94EA1}"/>
              </a:ext>
            </a:extLst>
          </p:cNvPr>
          <p:cNvSpPr txBox="1"/>
          <p:nvPr/>
        </p:nvSpPr>
        <p:spPr>
          <a:xfrm>
            <a:off x="4306529" y="1568220"/>
            <a:ext cx="39034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 allows for </a:t>
            </a:r>
            <a:r>
              <a:rPr lang="en-US" dirty="0">
                <a:solidFill>
                  <a:schemeClr val="accent3"/>
                </a:solidFill>
              </a:rPr>
              <a:t>implicit typing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Var </a:t>
            </a:r>
            <a:r>
              <a:rPr lang="en-US" dirty="0">
                <a:solidFill>
                  <a:schemeClr val="accent3"/>
                </a:solidFill>
              </a:rPr>
              <a:t>DOES NOT </a:t>
            </a:r>
            <a:r>
              <a:rPr lang="en-US" dirty="0">
                <a:solidFill>
                  <a:schemeClr val="bg1"/>
                </a:solidFill>
              </a:rPr>
              <a:t>allow variables to be dynamically typed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Var </a:t>
            </a:r>
            <a:r>
              <a:rPr lang="en-US" dirty="0">
                <a:solidFill>
                  <a:schemeClr val="accent3"/>
                </a:solidFill>
              </a:rPr>
              <a:t>MUST</a:t>
            </a:r>
            <a:r>
              <a:rPr lang="en-US" dirty="0">
                <a:solidFill>
                  <a:schemeClr val="bg1"/>
                </a:solidFill>
              </a:rPr>
              <a:t> be initialized when created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Good for shortening syntax on longer declarations, such as class names</a:t>
            </a:r>
          </a:p>
        </p:txBody>
      </p:sp>
    </p:spTree>
    <p:extLst>
      <p:ext uri="{BB962C8B-B14F-4D97-AF65-F5344CB8AC3E}">
        <p14:creationId xmlns:p14="http://schemas.microsoft.com/office/powerpoint/2010/main" val="4134861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941A-B5F6-5D3C-E684-6E453F20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562E-C8D7-2AA4-37EC-32FF6199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D6878-3BB7-FE6C-FFBD-3BFC0A2BE22E}"/>
              </a:ext>
            </a:extLst>
          </p:cNvPr>
          <p:cNvSpPr txBox="1"/>
          <p:nvPr/>
        </p:nvSpPr>
        <p:spPr>
          <a:xfrm>
            <a:off x="1330567" y="1281600"/>
            <a:ext cx="648286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There are 2 types of type conversion in C#: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Implicit Conversions</a:t>
            </a:r>
            <a:r>
              <a:rPr lang="en-US" dirty="0">
                <a:solidFill>
                  <a:schemeClr val="bg1"/>
                </a:solidFill>
              </a:rPr>
              <a:t>: No special syntax required, type safe, no data loss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Explicit Conversions (Casting)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Requires the cast operator (). A cast is required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when data might be lost in the conversion, or when failure could occur.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This is </a:t>
            </a:r>
            <a:r>
              <a:rPr lang="en-US" dirty="0">
                <a:solidFill>
                  <a:schemeClr val="accent3"/>
                </a:solidFill>
              </a:rPr>
              <a:t>implicit conversion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Int num = 123;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Long </a:t>
            </a:r>
            <a:r>
              <a:rPr lang="en-US" dirty="0" err="1">
                <a:solidFill>
                  <a:schemeClr val="bg1"/>
                </a:solidFill>
              </a:rPr>
              <a:t>biggerNum</a:t>
            </a:r>
            <a:r>
              <a:rPr lang="en-US" dirty="0">
                <a:solidFill>
                  <a:schemeClr val="bg1"/>
                </a:solidFill>
              </a:rPr>
              <a:t> = num;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This is </a:t>
            </a:r>
            <a:r>
              <a:rPr lang="en-US" dirty="0">
                <a:solidFill>
                  <a:schemeClr val="accent3"/>
                </a:solidFill>
              </a:rPr>
              <a:t>explicit conversion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Double x = 123.4;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Int a = (int)x;</a:t>
            </a:r>
          </a:p>
        </p:txBody>
      </p:sp>
    </p:spTree>
    <p:extLst>
      <p:ext uri="{BB962C8B-B14F-4D97-AF65-F5344CB8AC3E}">
        <p14:creationId xmlns:p14="http://schemas.microsoft.com/office/powerpoint/2010/main" val="2441531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B199-1EDF-1A20-4C1B-CC5BDD45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78BB-15B7-A14A-E1A5-A3914C9F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4369E-71FA-0DD7-626D-9AC911B58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573584"/>
              </p:ext>
            </p:extLst>
          </p:nvPr>
        </p:nvGraphicFramePr>
        <p:xfrm>
          <a:off x="1114813" y="1024261"/>
          <a:ext cx="6914373" cy="3790419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304791">
                  <a:extLst>
                    <a:ext uri="{9D8B030D-6E8A-4147-A177-3AD203B41FA5}">
                      <a16:colId xmlns:a16="http://schemas.microsoft.com/office/drawing/2014/main" val="46832875"/>
                    </a:ext>
                  </a:extLst>
                </a:gridCol>
                <a:gridCol w="2304791">
                  <a:extLst>
                    <a:ext uri="{9D8B030D-6E8A-4147-A177-3AD203B41FA5}">
                      <a16:colId xmlns:a16="http://schemas.microsoft.com/office/drawing/2014/main" val="1270129676"/>
                    </a:ext>
                  </a:extLst>
                </a:gridCol>
                <a:gridCol w="2304791">
                  <a:extLst>
                    <a:ext uri="{9D8B030D-6E8A-4147-A177-3AD203B41FA5}">
                      <a16:colId xmlns:a16="http://schemas.microsoft.com/office/drawing/2014/main" val="3449538044"/>
                    </a:ext>
                  </a:extLst>
                </a:gridCol>
              </a:tblGrid>
              <a:tr h="277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787023235"/>
                  </a:ext>
                </a:extLst>
              </a:tr>
              <a:tr h="277914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Adds two operands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+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503706773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Subtracts second operand from the first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-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170255180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Multiplies both operands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*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771925442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/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Divides numerator by denominator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 / A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491299759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%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Remainder after an integer division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 % A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613523596"/>
                  </a:ext>
                </a:extLst>
              </a:tr>
              <a:tr h="602389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++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Increment operator; increases integer value by one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A++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2855366481"/>
                  </a:ext>
                </a:extLst>
              </a:tr>
              <a:tr h="602389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--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Decrement operator; decreases integer value by one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A--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406360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61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2980-DC18-8B81-5E62-F6C207FB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405-0CE7-181A-E3AA-1732BB02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D423E1-943B-CCB1-B9C8-931DD46F4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47741"/>
              </p:ext>
            </p:extLst>
          </p:nvPr>
        </p:nvGraphicFramePr>
        <p:xfrm>
          <a:off x="1638918" y="1082004"/>
          <a:ext cx="5866164" cy="3480941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955388">
                  <a:extLst>
                    <a:ext uri="{9D8B030D-6E8A-4147-A177-3AD203B41FA5}">
                      <a16:colId xmlns:a16="http://schemas.microsoft.com/office/drawing/2014/main" val="333310605"/>
                    </a:ext>
                  </a:extLst>
                </a:gridCol>
                <a:gridCol w="1955388">
                  <a:extLst>
                    <a:ext uri="{9D8B030D-6E8A-4147-A177-3AD203B41FA5}">
                      <a16:colId xmlns:a16="http://schemas.microsoft.com/office/drawing/2014/main" val="1408769836"/>
                    </a:ext>
                  </a:extLst>
                </a:gridCol>
                <a:gridCol w="1955388">
                  <a:extLst>
                    <a:ext uri="{9D8B030D-6E8A-4147-A177-3AD203B41FA5}">
                      <a16:colId xmlns:a16="http://schemas.microsoft.com/office/drawing/2014/main" val="3409423723"/>
                    </a:ext>
                  </a:extLst>
                </a:gridCol>
              </a:tblGrid>
              <a:tr h="2019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4127706479"/>
                  </a:ext>
                </a:extLst>
              </a:tr>
              <a:tr h="437556"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==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values of two operands are equal or not,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==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287492092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values of two operands are equal or not, if values are not equal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!=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80734920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&gt;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greater than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&gt;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3024916936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&lt;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less than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&lt;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2114166100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&gt;=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greater than or equal to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&gt;=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4227830565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&lt;=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less than or equal to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&lt;=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348102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337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18B2-44F8-0DA6-5837-2FEDECA2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9BFE-56E1-0970-14A6-D110AB82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62BFA1-E9E8-9DE4-224A-5EFB49C02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694654"/>
              </p:ext>
            </p:extLst>
          </p:nvPr>
        </p:nvGraphicFramePr>
        <p:xfrm>
          <a:off x="311150" y="1275715"/>
          <a:ext cx="8521701" cy="316992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41551312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742506010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8645963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74769698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&amp;&amp;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AND operator. If both the operands are non zero then condition becomes true.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&amp;&amp; B) is false.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36199465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||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OR Operator. If any of the two operands is non zero then condition becomes true.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|| B) is true.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4114164199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NOT Operator. Use to reverses the logical state of its operand. If a condition is true then Logical NOT operator will make false.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!(A &amp;&amp; B) is true.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60034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3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80B9-37EC-F4B6-7479-96881780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B514-6F42-4C36-EA3A-B44F7EC3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D551D6-3C61-D420-160A-8C7F468C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258497"/>
              </p:ext>
            </p:extLst>
          </p:nvPr>
        </p:nvGraphicFramePr>
        <p:xfrm>
          <a:off x="785064" y="1087725"/>
          <a:ext cx="7573872" cy="380026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524624">
                  <a:extLst>
                    <a:ext uri="{9D8B030D-6E8A-4147-A177-3AD203B41FA5}">
                      <a16:colId xmlns:a16="http://schemas.microsoft.com/office/drawing/2014/main" val="263486898"/>
                    </a:ext>
                  </a:extLst>
                </a:gridCol>
                <a:gridCol w="2524624">
                  <a:extLst>
                    <a:ext uri="{9D8B030D-6E8A-4147-A177-3AD203B41FA5}">
                      <a16:colId xmlns:a16="http://schemas.microsoft.com/office/drawing/2014/main" val="3486806644"/>
                    </a:ext>
                  </a:extLst>
                </a:gridCol>
                <a:gridCol w="2524624">
                  <a:extLst>
                    <a:ext uri="{9D8B030D-6E8A-4147-A177-3AD203B41FA5}">
                      <a16:colId xmlns:a16="http://schemas.microsoft.com/office/drawing/2014/main" val="892288425"/>
                    </a:ext>
                  </a:extLst>
                </a:gridCol>
              </a:tblGrid>
              <a:tr h="1952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1078756921"/>
                  </a:ext>
                </a:extLst>
              </a:tr>
              <a:tr h="422970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Simple assignment operator, Assigns values from right side operands to left side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= A + B assigns value of A + B into C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3013188591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 AND assignment operator, It adds right operand to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+= A is equivalent to C = C +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916203990"/>
                  </a:ext>
                </a:extLst>
              </a:tr>
              <a:tr h="650724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Subtract AND assignment operator, It subtracts right operand from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-= A is equivalent to C = C -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787639454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Multiply AND assignment operator, It multiplies right operand with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*= A is equivalent to C = C *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804071728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/=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Divide AND assignment operator, It divides left operand with the right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/= A is equivalent to C = C /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984349596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%=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Modulus AND assignment operator, It takes modulus using two operands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%= A is equivalent to C = C %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107893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835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8740-C450-A2CA-D8D0-FE275642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D830-19F0-9A87-F7D4-97127DA2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Increment/Decrement Operators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2184B-EB8E-9BF7-93F3-49B39C3EDDA5}"/>
              </a:ext>
            </a:extLst>
          </p:cNvPr>
          <p:cNvSpPr txBox="1"/>
          <p:nvPr/>
        </p:nvSpPr>
        <p:spPr>
          <a:xfrm>
            <a:off x="900425" y="139894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= 3;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++);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DF35-0744-E12B-E5A7-01C26254D783}"/>
              </a:ext>
            </a:extLst>
          </p:cNvPr>
          <p:cNvSpPr txBox="1"/>
          <p:nvPr/>
        </p:nvSpPr>
        <p:spPr>
          <a:xfrm>
            <a:off x="4572000" y="139894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double a = 1.5;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1.5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(++a); // output: 2.5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2.5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A015C-BF78-3BC8-8AD4-C9813E1C82C3}"/>
              </a:ext>
            </a:extLst>
          </p:cNvPr>
          <p:cNvSpPr txBox="1"/>
          <p:nvPr/>
        </p:nvSpPr>
        <p:spPr>
          <a:xfrm>
            <a:off x="900425" y="333894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= 3;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--);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6D1C8-AA92-711A-2CD7-7453108387F4}"/>
              </a:ext>
            </a:extLst>
          </p:cNvPr>
          <p:cNvSpPr txBox="1"/>
          <p:nvPr/>
        </p:nvSpPr>
        <p:spPr>
          <a:xfrm>
            <a:off x="4572000" y="3338946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double a = 1.5;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1.5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(--a); // output: 0.5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D4CB2-0EED-0A8F-EC1E-29DEB3F6F872}"/>
              </a:ext>
            </a:extLst>
          </p:cNvPr>
          <p:cNvSpPr txBox="1"/>
          <p:nvPr/>
        </p:nvSpPr>
        <p:spPr>
          <a:xfrm>
            <a:off x="3374353" y="1011585"/>
            <a:ext cx="2414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Postfix and Prefix increment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BB9BF-5AB3-959C-00DB-0542D01939E8}"/>
              </a:ext>
            </a:extLst>
          </p:cNvPr>
          <p:cNvSpPr txBox="1"/>
          <p:nvPr/>
        </p:nvSpPr>
        <p:spPr>
          <a:xfrm>
            <a:off x="3364778" y="3031167"/>
            <a:ext cx="2473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Postfix and Prefix decrement</a:t>
            </a:r>
          </a:p>
        </p:txBody>
      </p:sp>
    </p:spTree>
    <p:extLst>
      <p:ext uri="{BB962C8B-B14F-4D97-AF65-F5344CB8AC3E}">
        <p14:creationId xmlns:p14="http://schemas.microsoft.com/office/powerpoint/2010/main" val="3761896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E5FD-6214-CE0C-5CEB-CA493AE9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CB5A-542F-0C04-640F-7689A593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17DC5-EB4B-63E2-6C91-EED9FA8A79BE}"/>
              </a:ext>
            </a:extLst>
          </p:cNvPr>
          <p:cNvSpPr txBox="1"/>
          <p:nvPr/>
        </p:nvSpPr>
        <p:spPr>
          <a:xfrm>
            <a:off x="2817575" y="1310400"/>
            <a:ext cx="3528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Bitwise complement operator </a:t>
            </a:r>
            <a:r>
              <a:rPr lang="en-US" dirty="0">
                <a:solidFill>
                  <a:schemeClr val="accent3"/>
                </a:solidFill>
              </a:rPr>
              <a:t>~</a:t>
            </a:r>
          </a:p>
          <a:p>
            <a:r>
              <a:rPr lang="en-US" dirty="0">
                <a:solidFill>
                  <a:schemeClr val="bg1"/>
                </a:solidFill>
              </a:rPr>
              <a:t>Left-shift operator </a:t>
            </a:r>
            <a:r>
              <a:rPr lang="en-US" dirty="0">
                <a:solidFill>
                  <a:schemeClr val="accent3"/>
                </a:solidFill>
              </a:rPr>
              <a:t>&lt;&lt;</a:t>
            </a:r>
          </a:p>
          <a:p>
            <a:r>
              <a:rPr lang="en-US" dirty="0">
                <a:solidFill>
                  <a:schemeClr val="bg1"/>
                </a:solidFill>
              </a:rPr>
              <a:t>Right-shift operator </a:t>
            </a:r>
            <a:r>
              <a:rPr lang="en-US" dirty="0">
                <a:solidFill>
                  <a:schemeClr val="accent3"/>
                </a:solidFill>
              </a:rPr>
              <a:t>&gt;&gt;</a:t>
            </a:r>
          </a:p>
          <a:p>
            <a:r>
              <a:rPr lang="en-US" dirty="0">
                <a:solidFill>
                  <a:schemeClr val="bg1"/>
                </a:solidFill>
              </a:rPr>
              <a:t>Unsigned right-shift operator </a:t>
            </a:r>
            <a:r>
              <a:rPr lang="en-US" dirty="0">
                <a:solidFill>
                  <a:schemeClr val="accent3"/>
                </a:solidFill>
              </a:rPr>
              <a:t>&gt;&gt;&gt;</a:t>
            </a:r>
          </a:p>
          <a:p>
            <a:r>
              <a:rPr lang="en-US" dirty="0">
                <a:solidFill>
                  <a:schemeClr val="bg1"/>
                </a:solidFill>
              </a:rPr>
              <a:t>Logical AND operator </a:t>
            </a:r>
            <a:r>
              <a:rPr lang="en-US" dirty="0">
                <a:solidFill>
                  <a:schemeClr val="accent3"/>
                </a:solidFill>
              </a:rPr>
              <a:t>&amp;</a:t>
            </a:r>
          </a:p>
          <a:p>
            <a:r>
              <a:rPr lang="en-US" dirty="0">
                <a:solidFill>
                  <a:schemeClr val="bg1"/>
                </a:solidFill>
              </a:rPr>
              <a:t>Logical OR operator </a:t>
            </a:r>
            <a:r>
              <a:rPr lang="en-US" dirty="0">
                <a:solidFill>
                  <a:schemeClr val="accent3"/>
                </a:solidFill>
              </a:rPr>
              <a:t>|</a:t>
            </a:r>
          </a:p>
          <a:p>
            <a:r>
              <a:rPr lang="en-US" dirty="0">
                <a:solidFill>
                  <a:schemeClr val="bg1"/>
                </a:solidFill>
              </a:rPr>
              <a:t>Logical exclusive OR operator </a:t>
            </a:r>
            <a:r>
              <a:rPr lang="en-US" dirty="0">
                <a:solidFill>
                  <a:schemeClr val="accent3"/>
                </a:solidFill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2251157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906A-FCC8-587A-956A-CD09A1F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2CE1-0EE8-EA1E-4D5D-870CA126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6A7337-8045-B223-C342-23056D67D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64760"/>
              </p:ext>
            </p:extLst>
          </p:nvPr>
        </p:nvGraphicFramePr>
        <p:xfrm>
          <a:off x="311149" y="1463875"/>
          <a:ext cx="8521701" cy="18288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98019701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16169721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1603100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Category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Associativity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35678371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Postfix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() [] -&gt; . ++ - -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9251047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Unary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 - ! ~ ++ - - (type)* &amp; </a:t>
                      </a:r>
                      <a:r>
                        <a:rPr lang="en-US" sz="14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sizeof</a:t>
                      </a:r>
                      <a:endParaRPr lang="en-US" sz="14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Right to left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582136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Multiplicative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 / %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33588939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Additive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 -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9638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94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C696-FEB1-1B18-9465-53955108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8FEF-105B-DD42-4FF8-3BAD3254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Special Mentions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C909D-8CC2-45F9-8B75-3B569B12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69" y="1941583"/>
            <a:ext cx="2991267" cy="266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D8513D-122E-3528-8A61-F8BF5D92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84" y="2237719"/>
            <a:ext cx="3057952" cy="247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A5264-E4A0-8609-4D31-8B896B276348}"/>
              </a:ext>
            </a:extLst>
          </p:cNvPr>
          <p:cNvSpPr txBox="1"/>
          <p:nvPr/>
        </p:nvSpPr>
        <p:spPr>
          <a:xfrm>
            <a:off x="4844709" y="1838988"/>
            <a:ext cx="348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null-forgiving operator </a:t>
            </a:r>
            <a:r>
              <a:rPr lang="en-US" dirty="0">
                <a:solidFill>
                  <a:schemeClr val="bg1"/>
                </a:solidFill>
              </a:rPr>
              <a:t>suppresses all nullable warnings for the preceding expression.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9A8257-DF42-A06A-3711-387AA7F92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20" y="2905781"/>
            <a:ext cx="3896280" cy="1578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E30AEC-5BC3-CCBE-4785-AAFDC74E8EB2}"/>
              </a:ext>
            </a:extLst>
          </p:cNvPr>
          <p:cNvSpPr txBox="1"/>
          <p:nvPr/>
        </p:nvSpPr>
        <p:spPr>
          <a:xfrm>
            <a:off x="5119200" y="2959756"/>
            <a:ext cx="341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null-conditional operator </a:t>
            </a:r>
            <a:r>
              <a:rPr lang="en-US" dirty="0">
                <a:solidFill>
                  <a:schemeClr val="bg1"/>
                </a:solidFill>
              </a:rPr>
              <a:t>evaluates the first operand; if that’s null, stop, with a result of null. Otherwise, evaluate the next operand.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94952-F1E1-CB1B-1AB6-8AE92D786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355" y="1132269"/>
            <a:ext cx="2679033" cy="581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843EB-3B85-B054-FE8F-EE0B7A50656E}"/>
              </a:ext>
            </a:extLst>
          </p:cNvPr>
          <p:cNvSpPr txBox="1"/>
          <p:nvPr/>
        </p:nvSpPr>
        <p:spPr>
          <a:xfrm>
            <a:off x="4756219" y="1100324"/>
            <a:ext cx="348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a </a:t>
            </a:r>
            <a:r>
              <a:rPr lang="en-US" dirty="0">
                <a:solidFill>
                  <a:schemeClr val="accent3"/>
                </a:solidFill>
              </a:rPr>
              <a:t>null-conditional operator</a:t>
            </a:r>
            <a:r>
              <a:rPr lang="en-US" dirty="0">
                <a:solidFill>
                  <a:schemeClr val="bg1"/>
                </a:solidFill>
              </a:rPr>
              <a:t>, it suppresses nullable reference type warnings</a:t>
            </a:r>
          </a:p>
        </p:txBody>
      </p:sp>
    </p:spTree>
    <p:extLst>
      <p:ext uri="{BB962C8B-B14F-4D97-AF65-F5344CB8AC3E}">
        <p14:creationId xmlns:p14="http://schemas.microsoft.com/office/powerpoint/2010/main" val="94332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C32C-5192-93AE-E6AE-47F060C4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E8D5-5FAC-FC9D-7801-D7EBEFCD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Special Mentions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CE3D3-CCC5-FFD7-B83D-B393FBBB94C2}"/>
              </a:ext>
            </a:extLst>
          </p:cNvPr>
          <p:cNvSpPr txBox="1"/>
          <p:nvPr/>
        </p:nvSpPr>
        <p:spPr>
          <a:xfrm>
            <a:off x="5148000" y="1673086"/>
            <a:ext cx="354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null-coalescing operator</a:t>
            </a:r>
            <a:r>
              <a:rPr lang="en-US" dirty="0">
                <a:solidFill>
                  <a:schemeClr val="bg1"/>
                </a:solidFill>
              </a:rPr>
              <a:t> returns the value of its left-hand operand if it isn’t null; otherwise, it evaluates the right-hand operand and returns its result.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5CBBA-E6F9-47D2-B643-35FE4B7F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57" y="3368280"/>
            <a:ext cx="4734586" cy="1171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EC752C-2C67-FC74-482A-56DBA65EBBD4}"/>
              </a:ext>
            </a:extLst>
          </p:cNvPr>
          <p:cNvSpPr txBox="1"/>
          <p:nvPr/>
        </p:nvSpPr>
        <p:spPr>
          <a:xfrm>
            <a:off x="5371200" y="3368280"/>
            <a:ext cx="365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conditional operator (or ternary conditional operator)</a:t>
            </a:r>
            <a:r>
              <a:rPr lang="en-US" dirty="0">
                <a:solidFill>
                  <a:schemeClr val="bg1"/>
                </a:solidFill>
              </a:rPr>
              <a:t>, evaluates a Boolean expression and returns the result of one of the two expressions, depending on whether the Boolean expression evaluates to true or false.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8DCC2-9BBC-CE11-7278-303269D34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44" y="2150139"/>
            <a:ext cx="4034400" cy="676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DD6B4-C824-5DF4-6E6A-0C26C8562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923" y="1134723"/>
            <a:ext cx="2640565" cy="94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16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03AC-D36D-BFE1-1C04-3739BE43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311C-7256-9094-EFC3-33CF57CE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8B611-595F-F0FA-C2C7-1859956DBFDF}"/>
              </a:ext>
            </a:extLst>
          </p:cNvPr>
          <p:cNvSpPr txBox="1"/>
          <p:nvPr/>
        </p:nvSpPr>
        <p:spPr>
          <a:xfrm>
            <a:off x="2564035" y="1512000"/>
            <a:ext cx="4035079" cy="1075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>
                <a:solidFill>
                  <a:schemeClr val="accent3"/>
                </a:solidFill>
              </a:rPr>
              <a:t>// </a:t>
            </a:r>
            <a:r>
              <a:rPr lang="en-US" dirty="0">
                <a:solidFill>
                  <a:schemeClr val="bg1"/>
                </a:solidFill>
              </a:rPr>
              <a:t>- Represents a single line comment</a:t>
            </a:r>
          </a:p>
          <a:p>
            <a:pPr>
              <a:lnSpc>
                <a:spcPct val="250000"/>
              </a:lnSpc>
            </a:pPr>
            <a:r>
              <a:rPr lang="en-US" dirty="0">
                <a:solidFill>
                  <a:schemeClr val="accent3"/>
                </a:solidFill>
              </a:rPr>
              <a:t>/* comment */ </a:t>
            </a:r>
            <a:r>
              <a:rPr lang="en-US" dirty="0">
                <a:solidFill>
                  <a:schemeClr val="bg1"/>
                </a:solidFill>
              </a:rPr>
              <a:t>- Represents a multi-line comment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51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2272-D773-9D66-35C3-A2C966E6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9AF5-54F0-B77B-A18A-9586D0ED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CA95E-AAC8-04ED-B553-3EA17FCF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19" y="1512670"/>
            <a:ext cx="3134162" cy="1686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FCC54-E933-B2B7-2CA6-D51C3869C169}"/>
              </a:ext>
            </a:extLst>
          </p:cNvPr>
          <p:cNvSpPr txBox="1"/>
          <p:nvPr/>
        </p:nvSpPr>
        <p:spPr>
          <a:xfrm>
            <a:off x="4960800" y="1512670"/>
            <a:ext cx="338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Question Time: What’s the distinction between the single and double quotes on line 3?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Note: Care that </a:t>
            </a:r>
            <a:r>
              <a:rPr lang="en-US" dirty="0" err="1">
                <a:solidFill>
                  <a:schemeClr val="bg1"/>
                </a:solidFill>
              </a:rPr>
              <a:t>Console.ReadLine</a:t>
            </a:r>
            <a:r>
              <a:rPr lang="en-US" dirty="0">
                <a:solidFill>
                  <a:schemeClr val="bg1"/>
                </a:solidFill>
              </a:rPr>
              <a:t>() returns a string, not an int!</a:t>
            </a:r>
          </a:p>
        </p:txBody>
      </p:sp>
    </p:spTree>
    <p:extLst>
      <p:ext uri="{BB962C8B-B14F-4D97-AF65-F5344CB8AC3E}">
        <p14:creationId xmlns:p14="http://schemas.microsoft.com/office/powerpoint/2010/main" val="1417907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FD1C-69CC-D6D5-FE4C-EF671E05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54CC-8CDC-6F05-6891-5D298D93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7ECFD-5EAD-316A-BF2B-3FF3A2A94C11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our console app.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5D063-D012-7070-F71D-7D18F8AC3B1C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Edit our console app to take in a user email and output it back to the user. </a:t>
            </a:r>
          </a:p>
        </p:txBody>
      </p:sp>
    </p:spTree>
    <p:extLst>
      <p:ext uri="{BB962C8B-B14F-4D97-AF65-F5344CB8AC3E}">
        <p14:creationId xmlns:p14="http://schemas.microsoft.com/office/powerpoint/2010/main" val="3127692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14E6F-8AB6-ACBB-A180-CF9A55F2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4E06-2324-6C35-9F9F-BD519B05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C# Under-the-hood behavior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5B104-0308-7A50-547D-24617532B6B4}"/>
              </a:ext>
            </a:extLst>
          </p:cNvPr>
          <p:cNvSpPr txBox="1"/>
          <p:nvPr/>
        </p:nvSpPr>
        <p:spPr>
          <a:xfrm>
            <a:off x="2002973" y="1079456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Value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98DF3-4A74-7E9A-3000-188BD7A5EC87}"/>
              </a:ext>
            </a:extLst>
          </p:cNvPr>
          <p:cNvSpPr txBox="1"/>
          <p:nvPr/>
        </p:nvSpPr>
        <p:spPr>
          <a:xfrm>
            <a:off x="5617029" y="1079455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Reference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10824-5127-8DD5-A800-23C0D017490A}"/>
              </a:ext>
            </a:extLst>
          </p:cNvPr>
          <p:cNvSpPr txBox="1"/>
          <p:nvPr/>
        </p:nvSpPr>
        <p:spPr>
          <a:xfrm>
            <a:off x="936785" y="1582611"/>
            <a:ext cx="32395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Represents some data at a memory address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Size is determined up front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You can’t have a null value type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DE502-225A-852F-9DF6-176CE56A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28" y="3435306"/>
            <a:ext cx="6582694" cy="1257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3EABC2-199A-3893-1E88-6EE988CD262F}"/>
              </a:ext>
            </a:extLst>
          </p:cNvPr>
          <p:cNvSpPr txBox="1"/>
          <p:nvPr/>
        </p:nvSpPr>
        <p:spPr>
          <a:xfrm>
            <a:off x="5373189" y="1534687"/>
            <a:ext cx="2834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Variable only holds a pointer to a memory address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Size is not determined up front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Can be null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C913B0-6F02-371B-DE1E-4E5862986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38" y="2822086"/>
            <a:ext cx="1800476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88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F45F-BDE0-F07B-8EE5-75977ACA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B39B-A336-8AC9-FED3-86B01B21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C#, Where memory is always** managed for you!!!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0B50F-8C9C-E7BA-F2EA-D23BFB47E217}"/>
              </a:ext>
            </a:extLst>
          </p:cNvPr>
          <p:cNvSpPr txBox="1"/>
          <p:nvPr/>
        </p:nvSpPr>
        <p:spPr>
          <a:xfrm>
            <a:off x="2062101" y="195072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The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0AC97-C32A-9E22-AEDD-9749D28A3E40}"/>
              </a:ext>
            </a:extLst>
          </p:cNvPr>
          <p:cNvSpPr txBox="1"/>
          <p:nvPr/>
        </p:nvSpPr>
        <p:spPr>
          <a:xfrm>
            <a:off x="6169487" y="1946528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The Heap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BBC97-C10F-7E00-1A3E-B64DE32D8049}"/>
              </a:ext>
            </a:extLst>
          </p:cNvPr>
          <p:cNvSpPr txBox="1"/>
          <p:nvPr/>
        </p:nvSpPr>
        <p:spPr>
          <a:xfrm>
            <a:off x="2282708" y="1185633"/>
            <a:ext cx="4597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Two areas used to store data for memory management.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64B9C-D680-ADD2-AAA0-09271F22A821}"/>
              </a:ext>
            </a:extLst>
          </p:cNvPr>
          <p:cNvSpPr txBox="1"/>
          <p:nvPr/>
        </p:nvSpPr>
        <p:spPr>
          <a:xfrm>
            <a:off x="713225" y="2512130"/>
            <a:ext cx="36887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for static memory allocation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Stores value types and reference type pointers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Follows LIFO structure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automatically freed once out of scope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Limited in size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Managed by the compiler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Very fast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1A11E-EF90-AC02-BADD-94E9F629CF3B}"/>
              </a:ext>
            </a:extLst>
          </p:cNvPr>
          <p:cNvSpPr txBox="1"/>
          <p:nvPr/>
        </p:nvSpPr>
        <p:spPr>
          <a:xfrm>
            <a:off x="4859187" y="2512130"/>
            <a:ext cx="35907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for dynamic memory allocation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Stores Objects, strings, arrays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Structure is just a pile of data, any piece of data can be accessed at any time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can exist after method returns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Larger memory space than the stack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Managed by the Garbage Collector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Slow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71B1D-BA5E-5D02-9767-C774A42FA89D}"/>
              </a:ext>
            </a:extLst>
          </p:cNvPr>
          <p:cNvSpPr txBox="1"/>
          <p:nvPr/>
        </p:nvSpPr>
        <p:spPr>
          <a:xfrm>
            <a:off x="4109247" y="4861095"/>
            <a:ext cx="585417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" dirty="0">
                <a:solidFill>
                  <a:schemeClr val="bg1"/>
                </a:solidFill>
              </a:rPr>
              <a:t>** Except for unmanaged resources</a:t>
            </a:r>
          </a:p>
        </p:txBody>
      </p:sp>
    </p:spTree>
    <p:extLst>
      <p:ext uri="{BB962C8B-B14F-4D97-AF65-F5344CB8AC3E}">
        <p14:creationId xmlns:p14="http://schemas.microsoft.com/office/powerpoint/2010/main" val="3240330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B32D-F482-8E36-F981-0E491E0A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99BA-1D5B-BEDA-7510-926FE8B5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A3D77-752C-2168-8FDE-ACEEBC455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86" y="1034028"/>
            <a:ext cx="5628428" cy="1435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5D2AC6-A277-3FC5-AA7C-57C50156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84" y="2722452"/>
            <a:ext cx="8209632" cy="205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4616-0C80-B3AD-713E-F709ED7D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AFA9-03D2-9EA5-D026-F62632E9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AF531-9FC4-0F37-09C1-BD5A80F4B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2" y="1621838"/>
            <a:ext cx="4143953" cy="1181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B96D8-0A14-2676-F3A9-D44393EA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704" y="1755206"/>
            <a:ext cx="2095792" cy="914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BD57FC-42CE-0D70-D1D5-A5249015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63" y="3492940"/>
            <a:ext cx="6928474" cy="89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68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2DA5-229E-6D99-6ACA-A1585A77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6416-6D04-DD77-085A-59C4118B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565B4-0857-6B7F-6D05-14BDD72B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443" y="1576967"/>
            <a:ext cx="528711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94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2A7A-0845-5628-0BF5-79EF62337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AB6BA-4E32-8CC5-B06F-CC98B5D1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4" y="1172099"/>
            <a:ext cx="3750272" cy="635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F1C8CA-BC76-DB53-B12F-FE01CA1919E5}"/>
              </a:ext>
            </a:extLst>
          </p:cNvPr>
          <p:cNvSpPr txBox="1"/>
          <p:nvPr/>
        </p:nvSpPr>
        <p:spPr>
          <a:xfrm>
            <a:off x="4291782" y="1005483"/>
            <a:ext cx="46526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Your computer’s local time with no </a:t>
            </a:r>
            <a:r>
              <a:rPr lang="en-US" dirty="0" err="1">
                <a:solidFill>
                  <a:schemeClr val="bg1"/>
                </a:solidFill>
              </a:rPr>
              <a:t>timezone</a:t>
            </a:r>
            <a:r>
              <a:rPr lang="en-US" dirty="0">
                <a:solidFill>
                  <a:schemeClr val="bg1"/>
                </a:solidFill>
              </a:rPr>
              <a:t> info</a:t>
            </a:r>
          </a:p>
          <a:p>
            <a:pPr marL="285750" indent="-28575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Coordinated Universal Time – z means ‘</a:t>
            </a:r>
            <a:r>
              <a:rPr lang="en-US" dirty="0" err="1">
                <a:solidFill>
                  <a:schemeClr val="bg1"/>
                </a:solidFill>
              </a:rPr>
              <a:t>zulu</a:t>
            </a:r>
            <a:r>
              <a:rPr lang="en-US" dirty="0">
                <a:solidFill>
                  <a:schemeClr val="bg1"/>
                </a:solidFill>
              </a:rPr>
              <a:t> time’</a:t>
            </a:r>
          </a:p>
          <a:p>
            <a:pPr marL="285750" lvl="1" indent="112713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No ambiguity across systems</a:t>
            </a:r>
          </a:p>
          <a:p>
            <a:pPr indent="112713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Local time + its offset from UTC (best practice for maximum precision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5D7EA-7E99-5113-D2A2-03B1541B1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10" y="2845405"/>
            <a:ext cx="3181755" cy="310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AE314-0A8A-61B8-5776-704F5EF5F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50" y="3186136"/>
            <a:ext cx="3353268" cy="362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15279A-720D-CA57-BCB3-58EC19EC3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49" y="3601166"/>
            <a:ext cx="3372321" cy="304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D6C1EA-6B0D-724A-AE77-D88CA10D0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202" y="3954306"/>
            <a:ext cx="3966580" cy="2287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F8C933-D7B3-372A-EE32-4DCAA081B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640" y="4220316"/>
            <a:ext cx="4448360" cy="2616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3D49BE-2A70-0188-2BA7-EF721BDC5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594" y="4509349"/>
            <a:ext cx="3543795" cy="4001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CEE60D-0BBB-7409-6ADB-C60C9C13E0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954" y="2845404"/>
            <a:ext cx="1215767" cy="2979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9E13EB3-3CED-8283-C04D-B4AFD74C2C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950" y="3186136"/>
            <a:ext cx="3126558" cy="3320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77575F-6DFC-C64E-490D-379B264A82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0743" y="3561061"/>
            <a:ext cx="1448188" cy="3109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9E07B06-F258-0576-9940-177AB03EFD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2220" y="3915681"/>
            <a:ext cx="3235067" cy="28643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D7920CE-BD8A-1B41-2F0F-627EFD7689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9467" y="4228578"/>
            <a:ext cx="2280571" cy="2451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E48DC86-561D-2E9E-B306-E0EE8B0734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1679" y="4587619"/>
            <a:ext cx="3836145" cy="243565"/>
          </a:xfrm>
          <a:prstGeom prst="rect">
            <a:avLst/>
          </a:prstGeom>
        </p:spPr>
      </p:pic>
      <p:sp>
        <p:nvSpPr>
          <p:cNvPr id="31" name="Callout: Bent Line 30">
            <a:extLst>
              <a:ext uri="{FF2B5EF4-FFF2-40B4-BE49-F238E27FC236}">
                <a16:creationId xmlns:a16="http://schemas.microsoft.com/office/drawing/2014/main" id="{9708D018-E339-EBCD-A272-AAEDDA5F8982}"/>
              </a:ext>
            </a:extLst>
          </p:cNvPr>
          <p:cNvSpPr/>
          <p:nvPr/>
        </p:nvSpPr>
        <p:spPr>
          <a:xfrm>
            <a:off x="49161" y="3872022"/>
            <a:ext cx="8244349" cy="635127"/>
          </a:xfrm>
          <a:prstGeom prst="borderCallout2">
            <a:avLst>
              <a:gd name="adj1" fmla="val -4852"/>
              <a:gd name="adj2" fmla="val 1364"/>
              <a:gd name="adj3" fmla="val -165345"/>
              <a:gd name="adj4" fmla="val 1272"/>
              <a:gd name="adj5" fmla="val -199044"/>
              <a:gd name="adj6" fmla="val 557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FCB6B-5390-4954-9394-3BAEF804674D}"/>
              </a:ext>
            </a:extLst>
          </p:cNvPr>
          <p:cNvSpPr txBox="1"/>
          <p:nvPr/>
        </p:nvSpPr>
        <p:spPr>
          <a:xfrm>
            <a:off x="536594" y="2321085"/>
            <a:ext cx="3932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Notice the difference. The first is preferred, as it contains UTC offset.</a:t>
            </a:r>
          </a:p>
        </p:txBody>
      </p:sp>
      <p:sp>
        <p:nvSpPr>
          <p:cNvPr id="33" name="Callout: Bent Line 32">
            <a:extLst>
              <a:ext uri="{FF2B5EF4-FFF2-40B4-BE49-F238E27FC236}">
                <a16:creationId xmlns:a16="http://schemas.microsoft.com/office/drawing/2014/main" id="{5B8FD0A9-FE4B-9CEA-E7BD-7DCC592B66E2}"/>
              </a:ext>
            </a:extLst>
          </p:cNvPr>
          <p:cNvSpPr/>
          <p:nvPr/>
        </p:nvSpPr>
        <p:spPr>
          <a:xfrm>
            <a:off x="492115" y="4541293"/>
            <a:ext cx="8244349" cy="410997"/>
          </a:xfrm>
          <a:prstGeom prst="borderCallout2">
            <a:avLst>
              <a:gd name="adj1" fmla="val -2460"/>
              <a:gd name="adj2" fmla="val 97607"/>
              <a:gd name="adj3" fmla="val -471559"/>
              <a:gd name="adj4" fmla="val 97635"/>
              <a:gd name="adj5" fmla="val -489708"/>
              <a:gd name="adj6" fmla="val 878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18E5E4-1E00-FD0F-7572-2CE730B115B0}"/>
              </a:ext>
            </a:extLst>
          </p:cNvPr>
          <p:cNvSpPr txBox="1"/>
          <p:nvPr/>
        </p:nvSpPr>
        <p:spPr>
          <a:xfrm>
            <a:off x="6469751" y="2345030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Best Practice!</a:t>
            </a:r>
          </a:p>
        </p:txBody>
      </p:sp>
    </p:spTree>
    <p:extLst>
      <p:ext uri="{BB962C8B-B14F-4D97-AF65-F5344CB8AC3E}">
        <p14:creationId xmlns:p14="http://schemas.microsoft.com/office/powerpoint/2010/main" val="3898408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AA44-D750-3B84-73A3-A53D0D2B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5A372-8B49-3E7A-46C1-10339E4AD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335" y="1308413"/>
            <a:ext cx="6233329" cy="333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67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9742-5C0E-A142-AF6D-43086D85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130E-0A5D-687C-BC63-20278A85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Args</a:t>
            </a:r>
            <a:r>
              <a:rPr lang="en-US" dirty="0"/>
              <a:t> and Dates 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3B96D-06A3-A0A7-DFE1-D07439FA338C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Generate Dates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5A79B-5054-141E-04EE-8966624214B4}"/>
              </a:ext>
            </a:extLst>
          </p:cNvPr>
          <p:cNvSpPr txBox="1"/>
          <p:nvPr/>
        </p:nvSpPr>
        <p:spPr>
          <a:xfrm>
            <a:off x="2830664" y="1327868"/>
            <a:ext cx="57646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console app that prints different date formats based on the </a:t>
            </a:r>
            <a:r>
              <a:rPr lang="en-US" dirty="0" err="1">
                <a:solidFill>
                  <a:schemeClr val="bg1"/>
                </a:solidFill>
              </a:rPr>
              <a:t>args</a:t>
            </a:r>
            <a:r>
              <a:rPr lang="en-US" dirty="0">
                <a:solidFill>
                  <a:schemeClr val="bg1"/>
                </a:solidFill>
              </a:rPr>
              <a:t> passed into main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DateTimeOffset</a:t>
            </a:r>
            <a:r>
              <a:rPr lang="en-US" dirty="0">
                <a:solidFill>
                  <a:schemeClr val="bg1"/>
                </a:solidFill>
              </a:rPr>
              <a:t> with “o” </a:t>
            </a: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DateTime</a:t>
            </a:r>
            <a:r>
              <a:rPr lang="en-US" dirty="0">
                <a:solidFill>
                  <a:schemeClr val="bg1"/>
                </a:solidFill>
              </a:rPr>
              <a:t> with a long date format</a:t>
            </a:r>
          </a:p>
        </p:txBody>
      </p:sp>
    </p:spTree>
    <p:extLst>
      <p:ext uri="{BB962C8B-B14F-4D97-AF65-F5344CB8AC3E}">
        <p14:creationId xmlns:p14="http://schemas.microsoft.com/office/powerpoint/2010/main" val="1200667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EBFD-0295-0A25-6E30-2B135A0F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51F0-B9F8-657C-6E11-91B925ABE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50872-5DFB-74FC-99F7-5617E55593F5}"/>
              </a:ext>
            </a:extLst>
          </p:cNvPr>
          <p:cNvSpPr txBox="1"/>
          <p:nvPr/>
        </p:nvSpPr>
        <p:spPr>
          <a:xfrm>
            <a:off x="1841926" y="1065600"/>
            <a:ext cx="546014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use the following to create our own Custom Data Types: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Struct = defined as a value type, good for little or no behavior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 = defined as a reference type, good for lots of behavior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Interface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Enum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Record</a:t>
            </a:r>
          </a:p>
          <a:p>
            <a:pPr algn="ctr"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hlinkClick r:id="rId2"/>
              </a:rPr>
              <a:t>Custom Types Best Practices</a:t>
            </a:r>
            <a:r>
              <a:rPr lang="en-US" dirty="0">
                <a:solidFill>
                  <a:schemeClr val="bg1"/>
                </a:solidFill>
              </a:rPr>
              <a:t> &lt; Docs</a:t>
            </a:r>
          </a:p>
        </p:txBody>
      </p:sp>
    </p:spTree>
    <p:extLst>
      <p:ext uri="{BB962C8B-B14F-4D97-AF65-F5344CB8AC3E}">
        <p14:creationId xmlns:p14="http://schemas.microsoft.com/office/powerpoint/2010/main" val="566942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5A1A-FCC2-BD22-247E-F1FF755F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4DF72-700E-7DB2-A966-B63FB09576B5}"/>
              </a:ext>
            </a:extLst>
          </p:cNvPr>
          <p:cNvSpPr txBox="1"/>
          <p:nvPr/>
        </p:nvSpPr>
        <p:spPr>
          <a:xfrm>
            <a:off x="4316361" y="1052052"/>
            <a:ext cx="40017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Classes are blueprints for objects</a:t>
            </a:r>
            <a:r>
              <a:rPr lang="en-US" dirty="0">
                <a:solidFill>
                  <a:schemeClr val="bg1"/>
                </a:solidFill>
              </a:rPr>
              <a:t>, they have: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Constructors</a:t>
            </a:r>
            <a:r>
              <a:rPr lang="en-US" dirty="0">
                <a:solidFill>
                  <a:schemeClr val="bg1"/>
                </a:solidFill>
              </a:rPr>
              <a:t> – sets values for fields/properties once the object is created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Fields</a:t>
            </a:r>
            <a:r>
              <a:rPr lang="en-US" dirty="0">
                <a:solidFill>
                  <a:schemeClr val="bg1"/>
                </a:solidFill>
              </a:rPr>
              <a:t> – variables in a class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Properties</a:t>
            </a:r>
            <a:r>
              <a:rPr lang="en-US" dirty="0">
                <a:solidFill>
                  <a:schemeClr val="bg1"/>
                </a:solidFill>
              </a:rPr>
              <a:t> – modern syntax to store data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Methods</a:t>
            </a:r>
            <a:r>
              <a:rPr lang="en-US" dirty="0">
                <a:solidFill>
                  <a:schemeClr val="bg1"/>
                </a:solidFill>
              </a:rPr>
              <a:t> – reusable blocks of code; </a:t>
            </a:r>
            <a:r>
              <a:rPr lang="en-US" dirty="0">
                <a:solidFill>
                  <a:schemeClr val="accent3"/>
                </a:solidFill>
              </a:rPr>
              <a:t>static</a:t>
            </a:r>
            <a:r>
              <a:rPr lang="en-US" dirty="0">
                <a:solidFill>
                  <a:schemeClr val="bg1"/>
                </a:solidFill>
              </a:rPr>
              <a:t> class members may be accessed without instantiating the class into an object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829302-9813-0742-701E-632BE616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68" y="932000"/>
            <a:ext cx="3366754" cy="3993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4536CA-3D07-FB8F-2519-40C14F6B3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62" y="4339028"/>
            <a:ext cx="4001729" cy="25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6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4CD3-4A54-1917-2182-A0117B7C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instantiation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02137A-2F08-B3A5-E6AC-7D6320003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22" y="3159586"/>
            <a:ext cx="3726346" cy="217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BD2DDC-35AA-677B-03D8-40D7F6684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46" y="1585885"/>
            <a:ext cx="3053805" cy="1519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A6CD52-B4E3-6E0E-DABB-AB87E4A72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142" y="3194761"/>
            <a:ext cx="1995855" cy="9669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0CC30E-1085-FA50-4D67-0F1580DE798B}"/>
              </a:ext>
            </a:extLst>
          </p:cNvPr>
          <p:cNvSpPr txBox="1"/>
          <p:nvPr/>
        </p:nvSpPr>
        <p:spPr>
          <a:xfrm>
            <a:off x="824347" y="1230400"/>
            <a:ext cx="1677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a constructor: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48425E-22F1-23C2-1C2F-EB974CF5776A}"/>
              </a:ext>
            </a:extLst>
          </p:cNvPr>
          <p:cNvSpPr txBox="1"/>
          <p:nvPr/>
        </p:nvSpPr>
        <p:spPr>
          <a:xfrm>
            <a:off x="4878127" y="1230400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Without a constructor and using properties: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C60E26-5B92-975C-EDE4-139A213C9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" y="1530399"/>
            <a:ext cx="3222967" cy="157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627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FD0C-0A60-AC68-7ECC-55DD1C01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4588C-3FFA-AD7B-3B4B-38254005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67" y="1078458"/>
            <a:ext cx="3610479" cy="3705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F865C1-AB3B-2F9E-284B-0452F5760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34" y="1918869"/>
            <a:ext cx="3258005" cy="1590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DE3A4-0785-FBE0-51D6-8C1A1655B1C3}"/>
              </a:ext>
            </a:extLst>
          </p:cNvPr>
          <p:cNvSpPr txBox="1"/>
          <p:nvPr/>
        </p:nvSpPr>
        <p:spPr>
          <a:xfrm>
            <a:off x="5324168" y="3834580"/>
            <a:ext cx="2791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called </a:t>
            </a:r>
            <a:r>
              <a:rPr lang="en-US" dirty="0">
                <a:solidFill>
                  <a:schemeClr val="accent3"/>
                </a:solidFill>
              </a:rPr>
              <a:t>string interpolation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7609C7-AE3F-3000-1B67-4EE7551A8E42}"/>
              </a:ext>
            </a:extLst>
          </p:cNvPr>
          <p:cNvCxnSpPr/>
          <p:nvPr/>
        </p:nvCxnSpPr>
        <p:spPr>
          <a:xfrm flipH="1" flipV="1">
            <a:off x="6548284" y="2880852"/>
            <a:ext cx="353961" cy="993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897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1F0F-FB6A-5DF7-23C5-BC9FB151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String Interpolations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36E64-AD51-58D2-2192-8B82BBF357E4}"/>
              </a:ext>
            </a:extLst>
          </p:cNvPr>
          <p:cNvSpPr txBox="1"/>
          <p:nvPr/>
        </p:nvSpPr>
        <p:spPr>
          <a:xfrm>
            <a:off x="462117" y="1639794"/>
            <a:ext cx="29103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F2 → fixed-point with 2 decimals</a:t>
            </a:r>
          </a:p>
          <a:p>
            <a:r>
              <a:rPr lang="en-US" dirty="0">
                <a:solidFill>
                  <a:schemeClr val="bg1"/>
                </a:solidFill>
              </a:rPr>
              <a:t>N → number with commas</a:t>
            </a:r>
          </a:p>
          <a:p>
            <a:r>
              <a:rPr lang="en-US" dirty="0">
                <a:solidFill>
                  <a:schemeClr val="bg1"/>
                </a:solidFill>
              </a:rPr>
              <a:t>E → scientific notation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Currency, percentages, and date formatting are all also available: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A36100-90B7-18DC-27C3-22CA834F5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063" y="2027030"/>
            <a:ext cx="3705742" cy="409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8D400-0185-8324-40F0-7C52D796A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574" y="1533958"/>
            <a:ext cx="2619741" cy="457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BE9D8D-4CA3-8820-237F-B44D67BBB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784" y="2976430"/>
            <a:ext cx="2448267" cy="4477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4F71D6-0452-89D6-DA83-D5B59308F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837" y="3478858"/>
            <a:ext cx="2429214" cy="4477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47FAB1-C2F4-29E9-57F4-587B0566A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7336" y="4063304"/>
            <a:ext cx="2953162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76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3430-FAEA-6F0A-0168-05C89BFF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60DA-FC9B-65BE-0BFD-B410C21B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0F7C0-D721-5260-4E76-EB54460F459C}"/>
              </a:ext>
            </a:extLst>
          </p:cNvPr>
          <p:cNvSpPr txBox="1"/>
          <p:nvPr/>
        </p:nvSpPr>
        <p:spPr>
          <a:xfrm>
            <a:off x="2295575" y="1150862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int </a:t>
            </a:r>
            <a:r>
              <a:rPr lang="en-US" dirty="0" err="1">
                <a:solidFill>
                  <a:schemeClr val="accent3"/>
                </a:solidFill>
              </a:rPr>
              <a:t>len</a:t>
            </a:r>
            <a:r>
              <a:rPr lang="en-US" dirty="0">
                <a:solidFill>
                  <a:schemeClr val="accent3"/>
                </a:solidFill>
              </a:rPr>
              <a:t> = </a:t>
            </a:r>
            <a:r>
              <a:rPr lang="en-US" dirty="0" err="1">
                <a:solidFill>
                  <a:schemeClr val="accent3"/>
                </a:solidFill>
              </a:rPr>
              <a:t>str.Length</a:t>
            </a:r>
            <a:r>
              <a:rPr lang="en-US" dirty="0">
                <a:solidFill>
                  <a:schemeClr val="accent3"/>
                </a:solidFill>
              </a:rPr>
              <a:t>; &lt;-property of string class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ToUpper</a:t>
            </a:r>
            <a:r>
              <a:rPr lang="en-US" dirty="0">
                <a:solidFill>
                  <a:schemeClr val="bg1"/>
                </a:solidFill>
              </a:rPr>
              <a:t>() / </a:t>
            </a:r>
            <a:r>
              <a:rPr lang="en-US" dirty="0" err="1">
                <a:solidFill>
                  <a:schemeClr val="bg1"/>
                </a:solidFill>
              </a:rPr>
              <a:t>ToLower</a:t>
            </a:r>
            <a:r>
              <a:rPr lang="en-US" dirty="0">
                <a:solidFill>
                  <a:schemeClr val="bg1"/>
                </a:solidFill>
              </a:rPr>
              <a:t>() → casing</a:t>
            </a:r>
          </a:p>
          <a:p>
            <a:r>
              <a:rPr lang="en-US" dirty="0">
                <a:solidFill>
                  <a:schemeClr val="bg1"/>
                </a:solidFill>
              </a:rPr>
              <a:t>Trim() / </a:t>
            </a:r>
            <a:r>
              <a:rPr lang="en-US" dirty="0" err="1">
                <a:solidFill>
                  <a:schemeClr val="bg1"/>
                </a:solidFill>
              </a:rPr>
              <a:t>TrimStart</a:t>
            </a:r>
            <a:r>
              <a:rPr lang="en-US" dirty="0">
                <a:solidFill>
                  <a:schemeClr val="bg1"/>
                </a:solidFill>
              </a:rPr>
              <a:t>() / </a:t>
            </a:r>
            <a:r>
              <a:rPr lang="en-US" dirty="0" err="1">
                <a:solidFill>
                  <a:schemeClr val="bg1"/>
                </a:solidFill>
              </a:rPr>
              <a:t>TrimEnd</a:t>
            </a:r>
            <a:r>
              <a:rPr lang="en-US" dirty="0">
                <a:solidFill>
                  <a:schemeClr val="bg1"/>
                </a:solidFill>
              </a:rPr>
              <a:t>() → remove whitespace</a:t>
            </a:r>
          </a:p>
          <a:p>
            <a:r>
              <a:rPr lang="en-US" dirty="0">
                <a:solidFill>
                  <a:schemeClr val="bg1"/>
                </a:solidFill>
              </a:rPr>
              <a:t>Substring(start, length) → extract part of string</a:t>
            </a:r>
          </a:p>
          <a:p>
            <a:r>
              <a:rPr lang="en-US" dirty="0" err="1">
                <a:solidFill>
                  <a:schemeClr val="bg1"/>
                </a:solidFill>
              </a:rPr>
              <a:t>IndexOf</a:t>
            </a:r>
            <a:r>
              <a:rPr lang="en-US" dirty="0">
                <a:solidFill>
                  <a:schemeClr val="bg1"/>
                </a:solidFill>
              </a:rPr>
              <a:t>() / </a:t>
            </a:r>
            <a:r>
              <a:rPr lang="en-US" dirty="0" err="1">
                <a:solidFill>
                  <a:schemeClr val="bg1"/>
                </a:solidFill>
              </a:rPr>
              <a:t>LastIndexOf</a:t>
            </a:r>
            <a:r>
              <a:rPr lang="en-US" dirty="0">
                <a:solidFill>
                  <a:schemeClr val="bg1"/>
                </a:solidFill>
              </a:rPr>
              <a:t>() → find position</a:t>
            </a:r>
          </a:p>
          <a:p>
            <a:r>
              <a:rPr lang="en-US" dirty="0">
                <a:solidFill>
                  <a:schemeClr val="bg1"/>
                </a:solidFill>
              </a:rPr>
              <a:t>Contains() → check existence</a:t>
            </a:r>
          </a:p>
          <a:p>
            <a:r>
              <a:rPr lang="en-US" dirty="0">
                <a:solidFill>
                  <a:schemeClr val="bg1"/>
                </a:solidFill>
              </a:rPr>
              <a:t>Replace(old, new) → replace characters/words</a:t>
            </a:r>
          </a:p>
          <a:p>
            <a:r>
              <a:rPr lang="en-US" dirty="0">
                <a:solidFill>
                  <a:schemeClr val="bg1"/>
                </a:solidFill>
              </a:rPr>
              <a:t>Split() → break into array</a:t>
            </a:r>
          </a:p>
          <a:p>
            <a:r>
              <a:rPr lang="en-US" dirty="0">
                <a:solidFill>
                  <a:schemeClr val="bg1"/>
                </a:solidFill>
              </a:rPr>
              <a:t>Join() → combine array into string</a:t>
            </a:r>
          </a:p>
          <a:p>
            <a:r>
              <a:rPr lang="en-US" dirty="0">
                <a:solidFill>
                  <a:schemeClr val="bg1"/>
                </a:solidFill>
              </a:rPr>
              <a:t>Equals() / == → compare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121BC-8578-2F7E-D4DE-F126B9CCCFFF}"/>
              </a:ext>
            </a:extLst>
          </p:cNvPr>
          <p:cNvSpPr txBox="1"/>
          <p:nvPr/>
        </p:nvSpPr>
        <p:spPr>
          <a:xfrm>
            <a:off x="5883215" y="3613075"/>
            <a:ext cx="29674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Reversing a string:</a:t>
            </a:r>
          </a:p>
          <a:p>
            <a:r>
              <a:rPr lang="en-US" dirty="0">
                <a:solidFill>
                  <a:schemeClr val="bg1"/>
                </a:solidFill>
              </a:rPr>
              <a:t>string str = "hello";</a:t>
            </a:r>
          </a:p>
          <a:p>
            <a:r>
              <a:rPr lang="en-US" dirty="0">
                <a:solidFill>
                  <a:schemeClr val="bg1"/>
                </a:solidFill>
              </a:rPr>
              <a:t>char[] </a:t>
            </a:r>
            <a:r>
              <a:rPr lang="en-US" dirty="0" err="1">
                <a:solidFill>
                  <a:schemeClr val="bg1"/>
                </a:solidFill>
              </a:rPr>
              <a:t>arr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str.ToCharArray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r>
              <a:rPr lang="en-US" dirty="0" err="1">
                <a:solidFill>
                  <a:schemeClr val="bg1"/>
                </a:solidFill>
              </a:rPr>
              <a:t>Array.Reverse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arr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r>
              <a:rPr lang="en-US" dirty="0">
                <a:solidFill>
                  <a:schemeClr val="bg1"/>
                </a:solidFill>
              </a:rPr>
              <a:t>string reversed = new string(</a:t>
            </a:r>
            <a:r>
              <a:rPr lang="en-US" dirty="0" err="1">
                <a:solidFill>
                  <a:schemeClr val="bg1"/>
                </a:solidFill>
              </a:rPr>
              <a:t>arr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(reversed);</a:t>
            </a:r>
          </a:p>
        </p:txBody>
      </p:sp>
    </p:spTree>
    <p:extLst>
      <p:ext uri="{BB962C8B-B14F-4D97-AF65-F5344CB8AC3E}">
        <p14:creationId xmlns:p14="http://schemas.microsoft.com/office/powerpoint/2010/main" val="35884045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7239-E076-FC93-0EC9-A5FB1D32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B117-13F9-5AB9-342B-7CAE56D9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OOB Struct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7EB15-00C7-8D12-C5E5-69F4782A6B2F}"/>
              </a:ext>
            </a:extLst>
          </p:cNvPr>
          <p:cNvSpPr txBox="1"/>
          <p:nvPr/>
        </p:nvSpPr>
        <p:spPr>
          <a:xfrm>
            <a:off x="1619110" y="1065600"/>
            <a:ext cx="5905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can use the </a:t>
            </a:r>
            <a:r>
              <a:rPr lang="en-US" dirty="0" err="1">
                <a:solidFill>
                  <a:schemeClr val="accent3"/>
                </a:solidFill>
              </a:rPr>
              <a:t>Guid</a:t>
            </a:r>
            <a:r>
              <a:rPr lang="en-US" dirty="0">
                <a:solidFill>
                  <a:schemeClr val="accent3"/>
                </a:solidFill>
              </a:rPr>
              <a:t> Struct </a:t>
            </a:r>
            <a:r>
              <a:rPr lang="en-US" dirty="0">
                <a:solidFill>
                  <a:schemeClr val="bg1"/>
                </a:solidFill>
              </a:rPr>
              <a:t>to create a globally unique identifier </a:t>
            </a:r>
            <a:r>
              <a:rPr lang="en-US" dirty="0">
                <a:solidFill>
                  <a:schemeClr val="accent3"/>
                </a:solidFill>
              </a:rPr>
              <a:t>(GUID)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90B41-3D5B-39FC-91F2-0A67E8A3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893" y="1822240"/>
            <a:ext cx="2248214" cy="419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4E3C1-C13D-34F3-DD3C-6A2BAD263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472" y="2481250"/>
            <a:ext cx="2553056" cy="181000"/>
          </a:xfrm>
          <a:prstGeom prst="rect">
            <a:avLst/>
          </a:prstGeom>
        </p:spPr>
      </p:pic>
      <p:sp>
        <p:nvSpPr>
          <p:cNvPr id="10" name="TextBox 9">
            <a:hlinkClick r:id="rId4"/>
            <a:extLst>
              <a:ext uri="{FF2B5EF4-FFF2-40B4-BE49-F238E27FC236}">
                <a16:creationId xmlns:a16="http://schemas.microsoft.com/office/drawing/2014/main" id="{C48BAAB5-7D15-FDEA-EFC6-96FAE17B94B4}"/>
              </a:ext>
            </a:extLst>
          </p:cNvPr>
          <p:cNvSpPr txBox="1"/>
          <p:nvPr/>
        </p:nvSpPr>
        <p:spPr>
          <a:xfrm>
            <a:off x="2943145" y="4070980"/>
            <a:ext cx="3276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For a struct, </a:t>
            </a:r>
            <a:r>
              <a:rPr lang="en-US" u="sng" dirty="0" err="1">
                <a:solidFill>
                  <a:schemeClr val="bg1"/>
                </a:solidFill>
              </a:rPr>
              <a:t>Guid</a:t>
            </a:r>
            <a:r>
              <a:rPr lang="en-US" u="sng" dirty="0">
                <a:solidFill>
                  <a:schemeClr val="bg1"/>
                </a:solidFill>
              </a:rPr>
              <a:t> has a lot of methods.</a:t>
            </a:r>
          </a:p>
        </p:txBody>
      </p:sp>
    </p:spTree>
    <p:extLst>
      <p:ext uri="{BB962C8B-B14F-4D97-AF65-F5344CB8AC3E}">
        <p14:creationId xmlns:p14="http://schemas.microsoft.com/office/powerpoint/2010/main" val="26921014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0527-0A27-E318-17F0-C644AD10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4451-2C31-47E7-1B1F-42C8ADBE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4F66E-1E45-55F3-4960-12F256B904DF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Car class.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35B04-2CB6-F2AA-40BA-9874CD3EB105}"/>
              </a:ext>
            </a:extLst>
          </p:cNvPr>
          <p:cNvSpPr txBox="1"/>
          <p:nvPr/>
        </p:nvSpPr>
        <p:spPr>
          <a:xfrm>
            <a:off x="2830664" y="1327868"/>
            <a:ext cx="576469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new class to represent a car.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Let’s include a make, model, year, price, and Id.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‘display’ method that uses string interpolation to print the ID and formatted price.</a:t>
            </a:r>
          </a:p>
        </p:txBody>
      </p:sp>
    </p:spTree>
    <p:extLst>
      <p:ext uri="{BB962C8B-B14F-4D97-AF65-F5344CB8AC3E}">
        <p14:creationId xmlns:p14="http://schemas.microsoft.com/office/powerpoint/2010/main" val="670764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00233-CEF6-9EDD-9114-208A7AF4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B129-DED0-9948-A427-112E03CE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0912BD03-2147-B663-CE08-D28FD39AF7C6}"/>
              </a:ext>
            </a:extLst>
          </p:cNvPr>
          <p:cNvSpPr txBox="1"/>
          <p:nvPr/>
        </p:nvSpPr>
        <p:spPr>
          <a:xfrm>
            <a:off x="3441678" y="4476423"/>
            <a:ext cx="2329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Generic Collections &lt;- Link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3E6241-0E07-5EC0-000B-5A08A1EC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9" y="2740440"/>
            <a:ext cx="2872379" cy="3145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71BF98-1459-AD45-586C-D6B677F402CD}"/>
              </a:ext>
            </a:extLst>
          </p:cNvPr>
          <p:cNvSpPr txBox="1"/>
          <p:nvPr/>
        </p:nvSpPr>
        <p:spPr>
          <a:xfrm>
            <a:off x="1372264" y="2152399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auto-resize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84584-E2DF-BD1C-EC7A-41127C00B0E2}"/>
              </a:ext>
            </a:extLst>
          </p:cNvPr>
          <p:cNvSpPr txBox="1"/>
          <p:nvPr/>
        </p:nvSpPr>
        <p:spPr>
          <a:xfrm>
            <a:off x="3368281" y="2152401"/>
            <a:ext cx="201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 performant/generic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D097CB-939C-A038-9BD7-087979560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371" y="2573046"/>
            <a:ext cx="2077493" cy="10462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128838-F402-BC6F-0958-336FEB67C0F6}"/>
              </a:ext>
            </a:extLst>
          </p:cNvPr>
          <p:cNvSpPr txBox="1"/>
          <p:nvPr/>
        </p:nvSpPr>
        <p:spPr>
          <a:xfrm>
            <a:off x="5800429" y="2152399"/>
            <a:ext cx="2302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Truly generic &amp; performant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48402B-465F-8140-525F-390FE737A05E}"/>
              </a:ext>
            </a:extLst>
          </p:cNvPr>
          <p:cNvSpPr txBox="1"/>
          <p:nvPr/>
        </p:nvSpPr>
        <p:spPr>
          <a:xfrm>
            <a:off x="2519952" y="1216459"/>
            <a:ext cx="4172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Lists </a:t>
            </a:r>
            <a:r>
              <a:rPr lang="en-US" dirty="0">
                <a:solidFill>
                  <a:schemeClr val="bg1"/>
                </a:solidFill>
              </a:rPr>
              <a:t>are indexed collections of the same type(T).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1C4831-1121-B90B-5F06-21C46C5A7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61" y="2726286"/>
            <a:ext cx="2076740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475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8EB6-6627-D2A1-EA9C-37BC09B7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Boxing/Unboxing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8837B-3917-3C79-2BB0-31F17A719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109" y="1885854"/>
            <a:ext cx="1838582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8F9145-1982-0E76-AE8E-7B8451DF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83" y="1919196"/>
            <a:ext cx="1981477" cy="61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7F6591-5BA2-1450-3765-A14A5FEB7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270" y="3580593"/>
            <a:ext cx="2638793" cy="609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BA7A1-73C5-1473-B06B-69784C303BA6}"/>
              </a:ext>
            </a:extLst>
          </p:cNvPr>
          <p:cNvSpPr txBox="1"/>
          <p:nvPr/>
        </p:nvSpPr>
        <p:spPr>
          <a:xfrm>
            <a:off x="2635045" y="3217826"/>
            <a:ext cx="3469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Used mostly with non-generic collections: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8CC30-CCFD-110F-37C4-2D475D28EACD}"/>
              </a:ext>
            </a:extLst>
          </p:cNvPr>
          <p:cNvSpPr txBox="1"/>
          <p:nvPr/>
        </p:nvSpPr>
        <p:spPr>
          <a:xfrm>
            <a:off x="1519109" y="1559789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Boxing: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10C824-479B-57E6-2096-6ABD61C1C990}"/>
              </a:ext>
            </a:extLst>
          </p:cNvPr>
          <p:cNvSpPr txBox="1"/>
          <p:nvPr/>
        </p:nvSpPr>
        <p:spPr>
          <a:xfrm>
            <a:off x="5461844" y="1611419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Unboxing:</a:t>
            </a:r>
          </a:p>
        </p:txBody>
      </p:sp>
    </p:spTree>
    <p:extLst>
      <p:ext uri="{BB962C8B-B14F-4D97-AF65-F5344CB8AC3E}">
        <p14:creationId xmlns:p14="http://schemas.microsoft.com/office/powerpoint/2010/main" val="32085268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A8B0-D6A7-685F-4146-FA43FCCB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Nuget</a:t>
            </a:r>
            <a:r>
              <a:rPr lang="en-US" dirty="0"/>
              <a:t> Gallery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89DCF-BA25-7824-6618-43F6D569B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91" y="1164302"/>
            <a:ext cx="7457768" cy="2239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3D0A3B-4C8A-F74B-E44B-9F5EA9ED1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12" y="4178710"/>
            <a:ext cx="6139575" cy="734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968E77-3320-E148-C04E-9511C3A5753E}"/>
              </a:ext>
            </a:extLst>
          </p:cNvPr>
          <p:cNvSpPr txBox="1"/>
          <p:nvPr/>
        </p:nvSpPr>
        <p:spPr>
          <a:xfrm>
            <a:off x="3216457" y="3825309"/>
            <a:ext cx="273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gets added to </a:t>
            </a:r>
            <a:r>
              <a:rPr lang="en-US" dirty="0" err="1">
                <a:solidFill>
                  <a:schemeClr val="bg1"/>
                </a:solidFill>
              </a:rPr>
              <a:t>csproj</a:t>
            </a:r>
            <a:r>
              <a:rPr lang="en-US" dirty="0">
                <a:solidFill>
                  <a:schemeClr val="bg1"/>
                </a:solidFill>
              </a:rPr>
              <a:t> for us:</a:t>
            </a:r>
          </a:p>
        </p:txBody>
      </p:sp>
    </p:spTree>
    <p:extLst>
      <p:ext uri="{BB962C8B-B14F-4D97-AF65-F5344CB8AC3E}">
        <p14:creationId xmlns:p14="http://schemas.microsoft.com/office/powerpoint/2010/main" val="1180734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455D-4434-6C0A-6238-7C0726C1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4F98-550A-C7F3-98EA-47A33C59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FF566-9C03-9270-C4CA-BDDAF54D1390}"/>
              </a:ext>
            </a:extLst>
          </p:cNvPr>
          <p:cNvSpPr txBox="1"/>
          <p:nvPr/>
        </p:nvSpPr>
        <p:spPr>
          <a:xfrm>
            <a:off x="779228" y="1327868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Car management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4D10D-088D-28E1-7326-CE7EF54C5461}"/>
              </a:ext>
            </a:extLst>
          </p:cNvPr>
          <p:cNvSpPr txBox="1"/>
          <p:nvPr/>
        </p:nvSpPr>
        <p:spPr>
          <a:xfrm>
            <a:off x="2830664" y="1327868"/>
            <a:ext cx="5764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45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Edit our existing console app so that it has a menu with three options as soon as it loads:</a:t>
            </a:r>
          </a:p>
          <a:p>
            <a:r>
              <a:rPr lang="en-US" dirty="0">
                <a:solidFill>
                  <a:schemeClr val="bg1"/>
                </a:solidFill>
              </a:rPr>
              <a:t>1. Enter New Car</a:t>
            </a:r>
          </a:p>
          <a:p>
            <a:r>
              <a:rPr lang="en-US" dirty="0">
                <a:solidFill>
                  <a:schemeClr val="bg1"/>
                </a:solidFill>
              </a:rPr>
              <a:t>2. List Cars</a:t>
            </a:r>
          </a:p>
          <a:p>
            <a:r>
              <a:rPr lang="en-US" dirty="0">
                <a:solidFill>
                  <a:schemeClr val="bg1"/>
                </a:solidFill>
              </a:rPr>
              <a:t>3. Exit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should be able to create new instances of a car and add it to a running list that we may view.</a:t>
            </a:r>
          </a:p>
        </p:txBody>
      </p:sp>
    </p:spTree>
    <p:extLst>
      <p:ext uri="{BB962C8B-B14F-4D97-AF65-F5344CB8AC3E}">
        <p14:creationId xmlns:p14="http://schemas.microsoft.com/office/powerpoint/2010/main" val="20722117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7040-7436-6CBA-0DCE-A5C787B9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4F0B-98DB-42F7-4EEF-B8EBF57A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Edit/delete list entry in console 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729FC-0127-0BF8-C15F-5CB9601188E9}"/>
              </a:ext>
            </a:extLst>
          </p:cNvPr>
          <p:cNvSpPr txBox="1"/>
          <p:nvPr/>
        </p:nvSpPr>
        <p:spPr>
          <a:xfrm>
            <a:off x="5159105" y="1880902"/>
            <a:ext cx="2408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&lt;- Uses lambda expression!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E60DF0-37D7-F88A-F463-73A2971A6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4" y="1032717"/>
            <a:ext cx="4591691" cy="2886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52F0CD-2F92-FEA2-6CE4-BA5A28DE3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9" y="3107566"/>
            <a:ext cx="4572638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40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5375-4552-DB5E-CEDA-F8ADF2D0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4436-A3B3-4CDB-B7E3-CDC8EEA4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201E6-68CA-0FEF-6D21-1020A7A80F23}"/>
              </a:ext>
            </a:extLst>
          </p:cNvPr>
          <p:cNvSpPr txBox="1"/>
          <p:nvPr/>
        </p:nvSpPr>
        <p:spPr>
          <a:xfrm>
            <a:off x="779228" y="1327868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the Car management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C914B-C8E5-D63D-D60D-5936199A5B03}"/>
              </a:ext>
            </a:extLst>
          </p:cNvPr>
          <p:cNvSpPr txBox="1"/>
          <p:nvPr/>
        </p:nvSpPr>
        <p:spPr>
          <a:xfrm>
            <a:off x="2830664" y="1327868"/>
            <a:ext cx="57646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Add the ability to search for a car for update or deletion from a list. </a:t>
            </a:r>
          </a:p>
        </p:txBody>
      </p:sp>
    </p:spTree>
    <p:extLst>
      <p:ext uri="{BB962C8B-B14F-4D97-AF65-F5344CB8AC3E}">
        <p14:creationId xmlns:p14="http://schemas.microsoft.com/office/powerpoint/2010/main" val="39087373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C87E5-0116-C8B4-7AAA-B3001616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0C07-45F2-5F0E-9E9B-9B2A332F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 (continued)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55B6CDC6-1E79-0F89-CF20-782A6B71861A}"/>
              </a:ext>
            </a:extLst>
          </p:cNvPr>
          <p:cNvSpPr txBox="1"/>
          <p:nvPr/>
        </p:nvSpPr>
        <p:spPr>
          <a:xfrm>
            <a:off x="3687740" y="4684427"/>
            <a:ext cx="2329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Generic Collections &lt;- Link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923D83-0F78-33D5-F3E5-C5AFE07C9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231" y="3423932"/>
            <a:ext cx="2962688" cy="171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458AD0-854B-77FA-814C-0C734248C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73" y="2021021"/>
            <a:ext cx="8449854" cy="11241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BF3171-4299-9296-69FD-128C32F35CD2}"/>
              </a:ext>
            </a:extLst>
          </p:cNvPr>
          <p:cNvSpPr txBox="1"/>
          <p:nvPr/>
        </p:nvSpPr>
        <p:spPr>
          <a:xfrm>
            <a:off x="982224" y="1210804"/>
            <a:ext cx="7198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Dictionaries</a:t>
            </a:r>
            <a:r>
              <a:rPr lang="en-US" dirty="0">
                <a:solidFill>
                  <a:schemeClr val="bg1"/>
                </a:solidFill>
              </a:rPr>
              <a:t> are collections of key/value pairs. Each key must be unique. The key and value can be any type(T).</a:t>
            </a:r>
          </a:p>
        </p:txBody>
      </p:sp>
    </p:spTree>
    <p:extLst>
      <p:ext uri="{BB962C8B-B14F-4D97-AF65-F5344CB8AC3E}">
        <p14:creationId xmlns:p14="http://schemas.microsoft.com/office/powerpoint/2010/main" val="17919614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E0E97-B052-C6C5-DDEE-DF97177E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B2A1-DAE9-5397-4C47-2E4B466A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Iterating over Dictionaries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FE01D-CC9E-715B-CB18-9DEE0B8E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44" y="2849824"/>
            <a:ext cx="6354062" cy="562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A7AED9-CDD6-61D0-871C-F76D63A83527}"/>
              </a:ext>
            </a:extLst>
          </p:cNvPr>
          <p:cNvSpPr txBox="1"/>
          <p:nvPr/>
        </p:nvSpPr>
        <p:spPr>
          <a:xfrm>
            <a:off x="1816603" y="1521580"/>
            <a:ext cx="55299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Dictionaries</a:t>
            </a:r>
            <a:r>
              <a:rPr lang="en-US" dirty="0">
                <a:solidFill>
                  <a:schemeClr val="bg1"/>
                </a:solidFill>
              </a:rPr>
              <a:t> may be iterated over with </a:t>
            </a:r>
            <a:r>
              <a:rPr lang="en-US" dirty="0">
                <a:solidFill>
                  <a:schemeClr val="accent3"/>
                </a:solidFill>
              </a:rPr>
              <a:t>foreach</a:t>
            </a:r>
            <a:r>
              <a:rPr lang="en-US" dirty="0">
                <a:solidFill>
                  <a:schemeClr val="bg1"/>
                </a:solidFill>
              </a:rPr>
              <a:t>. For each </a:t>
            </a:r>
            <a:r>
              <a:rPr lang="en-US" dirty="0">
                <a:solidFill>
                  <a:schemeClr val="accent3"/>
                </a:solidFill>
              </a:rPr>
              <a:t>item</a:t>
            </a:r>
            <a:r>
              <a:rPr lang="en-US" dirty="0">
                <a:solidFill>
                  <a:schemeClr val="bg1"/>
                </a:solidFill>
              </a:rPr>
              <a:t>, the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property</a:t>
            </a:r>
            <a:r>
              <a:rPr lang="en-US" dirty="0">
                <a:solidFill>
                  <a:schemeClr val="bg1"/>
                </a:solidFill>
              </a:rPr>
              <a:t> provides access to the key and the </a:t>
            </a:r>
            <a:r>
              <a:rPr lang="en-US" dirty="0">
                <a:solidFill>
                  <a:schemeClr val="accent3"/>
                </a:solidFill>
              </a:rPr>
              <a:t>Value property </a:t>
            </a:r>
            <a:r>
              <a:rPr lang="en-US" dirty="0">
                <a:solidFill>
                  <a:schemeClr val="bg1"/>
                </a:solidFill>
              </a:rPr>
              <a:t>provides access to the value. </a:t>
            </a:r>
          </a:p>
        </p:txBody>
      </p:sp>
    </p:spTree>
    <p:extLst>
      <p:ext uri="{BB962C8B-B14F-4D97-AF65-F5344CB8AC3E}">
        <p14:creationId xmlns:p14="http://schemas.microsoft.com/office/powerpoint/2010/main" val="3735264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BA99-38DA-3B37-3929-2A4CC3F6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1549-8990-460D-0B16-32982F50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Nested Collections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F7D7C-E4C1-B323-16AA-F8CC082A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74" y="1555401"/>
            <a:ext cx="6639852" cy="44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08266C-CD76-038A-C8EE-695DDB62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495" y="2894025"/>
            <a:ext cx="6335009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124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6D46-0F0C-CB08-9D16-6972716F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576C-A3FC-235E-DD2C-EA96447D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7D400-F900-C79D-0BC5-299D43C2C315}"/>
              </a:ext>
            </a:extLst>
          </p:cNvPr>
          <p:cNvSpPr txBox="1"/>
          <p:nvPr/>
        </p:nvSpPr>
        <p:spPr>
          <a:xfrm>
            <a:off x="779228" y="1327868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the Car management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E2FCD-850C-B3B9-6D43-2F276E26192F}"/>
              </a:ext>
            </a:extLst>
          </p:cNvPr>
          <p:cNvSpPr txBox="1"/>
          <p:nvPr/>
        </p:nvSpPr>
        <p:spPr>
          <a:xfrm>
            <a:off x="2830664" y="1327868"/>
            <a:ext cx="57646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Add the ability to add invoices for a specific car.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Add the ability to print out and view all invoices with the associated car Id. </a:t>
            </a:r>
          </a:p>
        </p:txBody>
      </p:sp>
    </p:spTree>
    <p:extLst>
      <p:ext uri="{BB962C8B-B14F-4D97-AF65-F5344CB8AC3E}">
        <p14:creationId xmlns:p14="http://schemas.microsoft.com/office/powerpoint/2010/main" val="23531332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9AE2-FCB4-E098-D3E3-B9EBCA24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49F1F-35FC-00EA-7EDE-4D46C8616D6A}"/>
              </a:ext>
            </a:extLst>
          </p:cNvPr>
          <p:cNvSpPr txBox="1"/>
          <p:nvPr/>
        </p:nvSpPr>
        <p:spPr>
          <a:xfrm>
            <a:off x="1457589" y="1443016"/>
            <a:ext cx="62479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APIE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Abstraction</a:t>
            </a:r>
            <a:r>
              <a:rPr lang="en-US" dirty="0">
                <a:solidFill>
                  <a:schemeClr val="bg1"/>
                </a:solidFill>
              </a:rPr>
              <a:t> – focus on what something does, rather than how it does it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Polymorphism</a:t>
            </a:r>
            <a:r>
              <a:rPr lang="en-US" dirty="0">
                <a:solidFill>
                  <a:schemeClr val="bg1"/>
                </a:solidFill>
              </a:rPr>
              <a:t> – many forms; allows objects of different classes to be treated as objects of a common superclass or interface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Inheritance</a:t>
            </a:r>
            <a:r>
              <a:rPr lang="en-US" dirty="0">
                <a:solidFill>
                  <a:schemeClr val="bg1"/>
                </a:solidFill>
              </a:rPr>
              <a:t> – where subclasses inherit properties and methods from an existing class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Encapsulation</a:t>
            </a:r>
            <a:r>
              <a:rPr lang="en-US" dirty="0">
                <a:solidFill>
                  <a:schemeClr val="bg1"/>
                </a:solidFill>
              </a:rPr>
              <a:t> – hiding the internal state (properties/methods) of an object and controlling its access</a:t>
            </a:r>
          </a:p>
        </p:txBody>
      </p:sp>
    </p:spTree>
    <p:extLst>
      <p:ext uri="{BB962C8B-B14F-4D97-AF65-F5344CB8AC3E}">
        <p14:creationId xmlns:p14="http://schemas.microsoft.com/office/powerpoint/2010/main" val="11614554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AD77-64C8-4864-4A65-CB729942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4F928-6A9A-60AD-6973-B8CF8618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55" y="1305839"/>
            <a:ext cx="3105583" cy="2915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CFB00-1942-1853-DD8B-B5F3C53BF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970" y="2262144"/>
            <a:ext cx="205768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149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8C87-0415-949A-AA6C-E44A3FC7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7899D-1579-C430-7389-0DB829381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88" y="932000"/>
            <a:ext cx="2400508" cy="1799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414A81-A786-69F0-9D47-86161208F69A}"/>
              </a:ext>
            </a:extLst>
          </p:cNvPr>
          <p:cNvSpPr txBox="1"/>
          <p:nvPr/>
        </p:nvSpPr>
        <p:spPr>
          <a:xfrm>
            <a:off x="3640894" y="1272963"/>
            <a:ext cx="494879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Abstract methods can’t be instantiated directly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Can contain abstract methods, concrete methods, and fields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class can only derive one abstract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C99F2-1DA0-F3D8-30CB-0EFE72827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847" y="3028334"/>
            <a:ext cx="1807789" cy="19794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2C713-CDCF-4EE3-FDF5-6827B4143338}"/>
              </a:ext>
            </a:extLst>
          </p:cNvPr>
          <p:cNvSpPr txBox="1"/>
          <p:nvPr/>
        </p:nvSpPr>
        <p:spPr>
          <a:xfrm>
            <a:off x="3694971" y="3229582"/>
            <a:ext cx="398378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Interfaces are also used to create abstractions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Interfaces can’t have concrete methods or fields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Classes can implement multiple interfaces</a:t>
            </a:r>
          </a:p>
        </p:txBody>
      </p:sp>
    </p:spTree>
    <p:extLst>
      <p:ext uri="{BB962C8B-B14F-4D97-AF65-F5344CB8AC3E}">
        <p14:creationId xmlns:p14="http://schemas.microsoft.com/office/powerpoint/2010/main" val="246294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2FF1-1917-3518-000E-6C90644D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EBD3C-AFAD-EB73-590D-78972589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67" y="1445342"/>
            <a:ext cx="2926098" cy="3093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4299AD-7803-994B-2069-14F25F45CF51}"/>
              </a:ext>
            </a:extLst>
          </p:cNvPr>
          <p:cNvSpPr txBox="1"/>
          <p:nvPr/>
        </p:nvSpPr>
        <p:spPr>
          <a:xfrm>
            <a:off x="1302774" y="1086465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Method Overloading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0DE5C-A940-AC10-0F5E-B17BAA31B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041" y="1445342"/>
            <a:ext cx="2300285" cy="1822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9738C3-9829-9C72-571B-1D50D409A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565" y="1445342"/>
            <a:ext cx="2410544" cy="1245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E04843-9A89-A331-877F-85E6B1A89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482" y="3588208"/>
            <a:ext cx="2419688" cy="10288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9DCA0C-607B-D38C-C382-A1432488A9E7}"/>
              </a:ext>
            </a:extLst>
          </p:cNvPr>
          <p:cNvSpPr txBox="1"/>
          <p:nvPr/>
        </p:nvSpPr>
        <p:spPr>
          <a:xfrm>
            <a:off x="5319482" y="1080367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Method Overriding</a:t>
            </a:r>
          </a:p>
        </p:txBody>
      </p:sp>
    </p:spTree>
    <p:extLst>
      <p:ext uri="{BB962C8B-B14F-4D97-AF65-F5344CB8AC3E}">
        <p14:creationId xmlns:p14="http://schemas.microsoft.com/office/powerpoint/2010/main" val="23377673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0F2-9D25-8E22-4D21-4F2F9C8E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9A234-FEE8-3F85-3460-E0A23CED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35" y="1470887"/>
            <a:ext cx="2454260" cy="2553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7329E1-76B4-C5AB-41F5-2279E03F9EE1}"/>
              </a:ext>
            </a:extLst>
          </p:cNvPr>
          <p:cNvSpPr txBox="1"/>
          <p:nvPr/>
        </p:nvSpPr>
        <p:spPr>
          <a:xfrm>
            <a:off x="396068" y="947667"/>
            <a:ext cx="3038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Constructor with</a:t>
            </a:r>
          </a:p>
          <a:p>
            <a:r>
              <a:rPr lang="en-US" dirty="0">
                <a:solidFill>
                  <a:schemeClr val="bg1"/>
                </a:solidFill>
              </a:rPr>
              <a:t>Getter / Setter methods (traditional):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B71D71-748B-A477-9DA6-99367D17E414}"/>
              </a:ext>
            </a:extLst>
          </p:cNvPr>
          <p:cNvSpPr txBox="1"/>
          <p:nvPr/>
        </p:nvSpPr>
        <p:spPr>
          <a:xfrm>
            <a:off x="3616834" y="1094622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Properties (modern):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3B9E3-988D-B6F1-0206-0E75CE94F2FC}"/>
              </a:ext>
            </a:extLst>
          </p:cNvPr>
          <p:cNvSpPr txBox="1"/>
          <p:nvPr/>
        </p:nvSpPr>
        <p:spPr>
          <a:xfrm>
            <a:off x="3391333" y="3038168"/>
            <a:ext cx="5698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Access modifiers </a:t>
            </a:r>
            <a:r>
              <a:rPr lang="en-US" dirty="0">
                <a:solidFill>
                  <a:schemeClr val="bg1"/>
                </a:solidFill>
              </a:rPr>
              <a:t>control access to these items from different scopes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57CAC1-4A5F-C2CB-3465-C27A782C7090}"/>
              </a:ext>
            </a:extLst>
          </p:cNvPr>
          <p:cNvCxnSpPr/>
          <p:nvPr/>
        </p:nvCxnSpPr>
        <p:spPr>
          <a:xfrm flipV="1">
            <a:off x="4581575" y="2571750"/>
            <a:ext cx="388631" cy="43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FE97A5F-E51C-0C94-C8FA-96198540C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086" y="1470887"/>
            <a:ext cx="4905303" cy="137516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8689B8-103D-9530-FB13-37F17C8842CE}"/>
              </a:ext>
            </a:extLst>
          </p:cNvPr>
          <p:cNvCxnSpPr>
            <a:cxnSpLocks/>
          </p:cNvCxnSpPr>
          <p:nvPr/>
        </p:nvCxnSpPr>
        <p:spPr>
          <a:xfrm flipV="1">
            <a:off x="4286865" y="2787752"/>
            <a:ext cx="68825" cy="25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9AA3C5-9AD8-3976-2151-860A0E16549A}"/>
              </a:ext>
            </a:extLst>
          </p:cNvPr>
          <p:cNvCxnSpPr/>
          <p:nvPr/>
        </p:nvCxnSpPr>
        <p:spPr>
          <a:xfrm flipH="1" flipV="1">
            <a:off x="1410929" y="2359742"/>
            <a:ext cx="2089355" cy="737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4507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7E45-2E46-364B-B563-BC28E83D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9D614-EE83-6C0A-C842-DF2A5ADE2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41899"/>
            <a:ext cx="7620000" cy="245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371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5662ABD1-CAE5-6058-093B-D316977F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BBED721D-245F-2BEE-E75B-B003E13CC7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C# Level I</a:t>
            </a:r>
            <a:endParaRPr sz="32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6D8EEA04-2378-4672-E275-89AA4EC4194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AE34BEF5-8860-6059-678D-B4BC670F3AFC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73911764-B8CA-406D-CDC4-9F8159F42170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29867876-1C82-7439-5A6F-6B808D879B9C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AAEC8826-24CD-1BC2-FC60-A6307D533C8E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7FECA228-BAD6-0444-3529-2D15A6E8BFD1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19A74724-A56F-67A0-AE98-41CE16865855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91150B5D-A880-BFB0-0AC5-D18EF70FB133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E3C73A3D-5C66-4471-1F76-108B1F3AED2E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3FA18229-9827-6D40-74FA-2A6DE7BE2C2D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ED63C935-7577-B38A-3DE2-68AB93D76C66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E814A574-020F-8086-D420-2308C75D51BE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55B0688B-B829-E141-402B-779D692EAF82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F6155162-840A-54DC-482B-81FAA73CCD6A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F2F972BF-EC76-17D6-4847-FBE6FC4A17C7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E5019BD0-354A-947A-0BA5-0C5FECC402F9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2F7AA1DF-36BC-6558-E77D-E5795531B17D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394F4FBE-3FC9-3B09-DC7B-1273EE4C7095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32DA9260-2FAB-8901-8AD2-2D23D377CAAD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F49366F3-A226-A970-D251-894D7F26EC11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16D465E4-C3BE-AF0F-8778-E865C69C9C78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0B231AAE-E614-20B0-A0B9-785CEB05F37C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19E26B10-8C1F-D819-3CCA-DF5D45BB571D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ADADD0DD-A005-ED93-F581-AE4506F205A3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22DA943F-FBBC-3989-665D-962084080C5E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F93B8E1B-6B12-10E6-6973-73B4D6E1CEC6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BAB93BA8-787E-244A-0681-079078DE7D3D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F98908CB-3950-FC34-F46E-46D19BB83D78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71EE399E-EA91-35EE-6467-EF9F8D2E7924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943847AB-05D9-FD07-1831-B810CC870F0C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4AE364CB-26E3-A34E-921C-615A598C0A9B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C27FDF0D-DB44-689F-D19B-2E6C74E8334E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9F64158F-0694-725E-C8AE-21EDB260F1F5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F1ADBC95-3C8D-E06D-01E4-3B3542F9A6E9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F66B8927-FD74-0265-A7E2-931CBAF3FCD4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3A8C168A-D7CD-2909-01BF-4C06A7D0F2C1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DCA15BFE-2C1E-84DD-904E-E6A91F1A1DE7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2D86FCF4-3F10-6011-F8A7-517B330821C8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268C0B66-014A-B14F-1359-4DCF12B08F10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F7DDF2D3-9666-F106-975C-EC84C883A1C3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6143F013-AA78-8D57-2595-D833BD65611C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0555C428-1133-DB7B-CA3E-383EC17A6EB1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F895A0AD-F446-07AB-E17D-BDE58E158BD1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66D99FBF-0527-5039-815C-CC1EB9F32589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71C2381F-6A86-D755-DE02-A2125C2B9FCD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96DDBF2D-442A-26B2-4450-AF6EF8F0ACFC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781C8863-A78D-7873-217B-260F6296F9EC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77877AD6-43E8-304E-46F7-AC4F9AF12618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C1F3228C-FA70-4CD1-7C2D-2C56396FAEEF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49972AA9-0245-866E-673D-CB99E4C4FA79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3AEE63FC-C8A3-AC20-8548-B41C0756120D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6E3987CA-1E17-683A-DE02-2E2207BE60B5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24B9FBAC-8760-7B8B-B18A-33BB32D261D2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2ADD0C85-BD82-B79C-1E06-6BA45D05EF81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738A37CD-7B5B-998F-E38E-7477FFE5CF97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CF0614CB-D10B-1F9A-1F2A-67CD15C73E58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92AA9F10-5485-0BDC-9D77-DA31B75D6D67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C32EE51C-4BD7-E8B5-0476-F02A0A978A5F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5F3A6ECD-4330-30A8-F012-2DFCB59AF87F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F3B21900-BDF7-D4F9-E4DA-D7C94A3C1012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8B375232-70D6-0AE6-4CDE-3227C33A1DAB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312E5641-945F-5A89-13B1-A2BFEBA18213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B09A59EB-F6A8-41D4-F9B3-02770005CA2E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FBA25A15-E33A-4886-7163-3CBC632A67AD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E0E4CF18-C5DB-2ED1-2808-87396090D274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B1D99D3E-BFFF-E43F-C9D7-4E783201259A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624DE45A-FADF-4EA7-5D06-707E90CD2C7E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69043778-9E60-C57A-5646-DE1974AA140A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5E94DF08-0D31-4152-55BD-E27293773E6B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32FB634D-5A5D-BC42-354B-872C3BB28C8F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321CA338-E33E-7B56-5E5D-38F4B360CEBA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034AC5E0-D282-E637-765B-5415EEFBB810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DF07959B-8D32-359A-581C-2CAB6AC41DEC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3FB4C45E-2823-B221-09DE-5068B31E39D9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B2EADAD9-D0B6-2710-DEF9-F8C670840A47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896DC0AF-8DE8-5839-6104-1A5F3306FD2C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0D02F787-ECC5-C3DE-BEF9-A87FA7704252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3C0AD9DC-DC80-1C7A-AA6A-BC3DCC357EAC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F993D9BE-7C77-9628-26FB-3A00ABD2FE3F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902D5F91-0DF6-60A0-7E68-38AA59BCB156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10790898-741F-F48E-FCEA-112C99835327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DB3B4185-B375-521C-90EB-963723E9F655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535A45A8-835E-9FB1-74FC-27002D759005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F887A3E5-17FA-6A02-944B-BF0FAC995EA7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D8194FF7-411C-DA37-40FA-B9EB0BB08DFA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6614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A331-FD59-CAF4-BE4A-44165F63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4AF4-6071-A060-1F59-DB8E27FF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Partial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00C5F-1FC1-8FBD-A385-9AF74CD48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44" y="1897624"/>
            <a:ext cx="2517237" cy="2895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97CE69-553D-E36C-687A-9D918395C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37" y="2331539"/>
            <a:ext cx="2600688" cy="1267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A84B37-D033-3F0F-C577-0F3430682DE0}"/>
              </a:ext>
            </a:extLst>
          </p:cNvPr>
          <p:cNvSpPr txBox="1"/>
          <p:nvPr/>
        </p:nvSpPr>
        <p:spPr>
          <a:xfrm>
            <a:off x="2442718" y="990947"/>
            <a:ext cx="4258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Both classes will essentially merge at compilation. We won’t use this too much in web apps. </a:t>
            </a:r>
          </a:p>
        </p:txBody>
      </p:sp>
    </p:spTree>
    <p:extLst>
      <p:ext uri="{BB962C8B-B14F-4D97-AF65-F5344CB8AC3E}">
        <p14:creationId xmlns:p14="http://schemas.microsoft.com/office/powerpoint/2010/main" val="1438256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6DA3-C0B1-DE5A-B475-C510E660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Sealed classes and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F770B-2720-6E65-6989-21C91AF1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60" y="1910153"/>
            <a:ext cx="3772426" cy="2419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3675EC-4675-F89E-731D-81E9AFC88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287" y="1524622"/>
            <a:ext cx="3134162" cy="3515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326A3A-FC2B-0939-A669-36D726130CFA}"/>
              </a:ext>
            </a:extLst>
          </p:cNvPr>
          <p:cNvSpPr txBox="1"/>
          <p:nvPr/>
        </p:nvSpPr>
        <p:spPr>
          <a:xfrm>
            <a:off x="2559226" y="932000"/>
            <a:ext cx="4044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Sealed classes and methods cannot be inherited</a:t>
            </a:r>
          </a:p>
        </p:txBody>
      </p:sp>
    </p:spTree>
    <p:extLst>
      <p:ext uri="{BB962C8B-B14F-4D97-AF65-F5344CB8AC3E}">
        <p14:creationId xmlns:p14="http://schemas.microsoft.com/office/powerpoint/2010/main" val="1802217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5240-AB77-6A7B-7BC3-081DEB6C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&amp; Queues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7F395-68A5-D336-2778-835B6FEF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86" y="2028797"/>
            <a:ext cx="2794038" cy="2184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02B7E7-3A3E-2A3E-5011-C8A408BD6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554" y="2028797"/>
            <a:ext cx="3171028" cy="2005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F44DBA-556B-FEAF-124A-E249FBD4931E}"/>
              </a:ext>
            </a:extLst>
          </p:cNvPr>
          <p:cNvSpPr txBox="1"/>
          <p:nvPr/>
        </p:nvSpPr>
        <p:spPr>
          <a:xfrm>
            <a:off x="996286" y="1358386"/>
            <a:ext cx="2727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Stacks have a last in first out (LIFO)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69E69-E050-7BD4-86ED-850116EB8B75}"/>
              </a:ext>
            </a:extLst>
          </p:cNvPr>
          <p:cNvSpPr txBox="1"/>
          <p:nvPr/>
        </p:nvSpPr>
        <p:spPr>
          <a:xfrm>
            <a:off x="4998015" y="1358386"/>
            <a:ext cx="2727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Queues have a first in, first out (FIFO) structure</a:t>
            </a:r>
          </a:p>
        </p:txBody>
      </p:sp>
    </p:spTree>
    <p:extLst>
      <p:ext uri="{BB962C8B-B14F-4D97-AF65-F5344CB8AC3E}">
        <p14:creationId xmlns:p14="http://schemas.microsoft.com/office/powerpoint/2010/main" val="33471812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699E-F0CD-6D9A-6AA2-F1D51533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3E92E-0119-1544-CE79-B3D407832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3" y="1781976"/>
            <a:ext cx="3077497" cy="27495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446E4-E851-C1EA-C847-AE607F724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033" y="3445560"/>
            <a:ext cx="885949" cy="1086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4D0DD-7476-00B3-8078-AC494A1CF6F2}"/>
              </a:ext>
            </a:extLst>
          </p:cNvPr>
          <p:cNvSpPr txBox="1"/>
          <p:nvPr/>
        </p:nvSpPr>
        <p:spPr>
          <a:xfrm>
            <a:off x="4128647" y="1661651"/>
            <a:ext cx="4321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linked list is a collection of nodes where each element points to the next (and optionally previous in a doubly linked list)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C#, LinkedList&lt;T&gt; is a 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28074698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EAA6-FB93-70A7-1D8E-1B2C8F31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HashSets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27ABF-7FE7-6C31-20FF-E5D71744B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10" y="1543664"/>
            <a:ext cx="2984504" cy="2862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CE29E7-FEB4-2A96-414A-B7457D1EAA31}"/>
              </a:ext>
            </a:extLst>
          </p:cNvPr>
          <p:cNvSpPr txBox="1"/>
          <p:nvPr/>
        </p:nvSpPr>
        <p:spPr>
          <a:xfrm>
            <a:off x="5211096" y="2163097"/>
            <a:ext cx="192713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duplicates allowed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Very fast lookup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 guaranteed order</a:t>
            </a:r>
          </a:p>
        </p:txBody>
      </p:sp>
    </p:spTree>
    <p:extLst>
      <p:ext uri="{BB962C8B-B14F-4D97-AF65-F5344CB8AC3E}">
        <p14:creationId xmlns:p14="http://schemas.microsoft.com/office/powerpoint/2010/main" val="6160324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E8BB-0049-50F5-8D38-BCF53FE9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39C4B-A7A4-5359-9D8A-01E2F0B7D242}"/>
              </a:ext>
            </a:extLst>
          </p:cNvPr>
          <p:cNvSpPr txBox="1"/>
          <p:nvPr/>
        </p:nvSpPr>
        <p:spPr>
          <a:xfrm>
            <a:off x="4009744" y="1912374"/>
            <a:ext cx="40853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Enums are like picklists/dropdowns in code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status code of ‘3’ wouldn’t tell us much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But we could create a reusable </a:t>
            </a:r>
            <a:r>
              <a:rPr lang="en-US" dirty="0" err="1">
                <a:solidFill>
                  <a:schemeClr val="bg1"/>
                </a:solidFill>
              </a:rPr>
              <a:t>enum</a:t>
            </a:r>
            <a:r>
              <a:rPr lang="en-US" dirty="0">
                <a:solidFill>
                  <a:schemeClr val="bg1"/>
                </a:solidFill>
              </a:rPr>
              <a:t> that clearly defines possible values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545D97-F268-1FCF-C080-CB7A169B1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53" y="1299637"/>
            <a:ext cx="2562583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676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DD7E-2A9F-FB92-B07A-F1958A64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Downcasting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EEAE1-5263-574A-A529-8946C15CA96C}"/>
              </a:ext>
            </a:extLst>
          </p:cNvPr>
          <p:cNvSpPr txBox="1"/>
          <p:nvPr/>
        </p:nvSpPr>
        <p:spPr>
          <a:xfrm>
            <a:off x="3303917" y="2009082"/>
            <a:ext cx="25361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if (obj is Dog dog)</a:t>
            </a:r>
          </a:p>
          <a:p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dog.Bark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r>
              <a:rPr lang="en-US" dirty="0">
                <a:solidFill>
                  <a:schemeClr val="bg1"/>
                </a:solidFill>
              </a:rPr>
              <a:t>Dog </a:t>
            </a:r>
            <a:r>
              <a:rPr lang="en-US" dirty="0" err="1">
                <a:solidFill>
                  <a:schemeClr val="bg1"/>
                </a:solidFill>
              </a:rPr>
              <a:t>dog</a:t>
            </a:r>
            <a:r>
              <a:rPr lang="en-US" dirty="0">
                <a:solidFill>
                  <a:schemeClr val="bg1"/>
                </a:solidFill>
              </a:rPr>
              <a:t> = obj as Dog;</a:t>
            </a:r>
          </a:p>
          <a:p>
            <a:r>
              <a:rPr lang="en-US" dirty="0">
                <a:solidFill>
                  <a:schemeClr val="bg1"/>
                </a:solidFill>
              </a:rPr>
              <a:t>if (dog != null)</a:t>
            </a:r>
          </a:p>
          <a:p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dog.Bark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12BF7-7A04-F5B0-DA8A-BFB0F3965F72}"/>
              </a:ext>
            </a:extLst>
          </p:cNvPr>
          <p:cNvSpPr txBox="1"/>
          <p:nvPr/>
        </p:nvSpPr>
        <p:spPr>
          <a:xfrm>
            <a:off x="1906804" y="1162763"/>
            <a:ext cx="5349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Allows us to check for invalid cast exceptions before they happen</a:t>
            </a:r>
          </a:p>
        </p:txBody>
      </p:sp>
    </p:spTree>
    <p:extLst>
      <p:ext uri="{BB962C8B-B14F-4D97-AF65-F5344CB8AC3E}">
        <p14:creationId xmlns:p14="http://schemas.microsoft.com/office/powerpoint/2010/main" val="14409156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FA3F-1919-7CFA-EAC6-3BFA39B3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6F91-DE29-AD06-CC47-624AE51B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Serialization/Deserialization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0EA95-7E58-EA1C-338F-736E602EB02B}"/>
              </a:ext>
            </a:extLst>
          </p:cNvPr>
          <p:cNvSpPr txBox="1"/>
          <p:nvPr/>
        </p:nvSpPr>
        <p:spPr>
          <a:xfrm>
            <a:off x="421883" y="1336962"/>
            <a:ext cx="2860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Serialization</a:t>
            </a:r>
            <a:r>
              <a:rPr lang="en-US" dirty="0">
                <a:solidFill>
                  <a:schemeClr val="bg1"/>
                </a:solidFill>
              </a:rPr>
              <a:t> – the process of converting an object into a format that can be readily persisted or transported. 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Serialize an Object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Transport it over the internet using HTTP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Deserialize it at the destination machine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FEF4C9-74B4-CD82-14F4-FFCE7CF28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845" y="1639805"/>
            <a:ext cx="5595879" cy="22951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4FF884-D159-10F8-0248-4F315511EB68}"/>
              </a:ext>
            </a:extLst>
          </p:cNvPr>
          <p:cNvSpPr txBox="1"/>
          <p:nvPr/>
        </p:nvSpPr>
        <p:spPr>
          <a:xfrm>
            <a:off x="421882" y="3646313"/>
            <a:ext cx="2741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Deserialization</a:t>
            </a:r>
            <a:r>
              <a:rPr lang="en-US" dirty="0">
                <a:solidFill>
                  <a:schemeClr val="bg1"/>
                </a:solidFill>
              </a:rPr>
              <a:t> – Reconstructs an object from a serialized form. </a:t>
            </a:r>
          </a:p>
        </p:txBody>
      </p:sp>
    </p:spTree>
    <p:extLst>
      <p:ext uri="{BB962C8B-B14F-4D97-AF65-F5344CB8AC3E}">
        <p14:creationId xmlns:p14="http://schemas.microsoft.com/office/powerpoint/2010/main" val="35149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A2AE-4AF7-5441-08BF-DEF2D52B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2453-CB58-2C92-0800-A0CB6A41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5B92D-0AC8-C0DC-0A02-561E075A02C4}"/>
              </a:ext>
            </a:extLst>
          </p:cNvPr>
          <p:cNvSpPr txBox="1"/>
          <p:nvPr/>
        </p:nvSpPr>
        <p:spPr>
          <a:xfrm>
            <a:off x="1147826" y="1086787"/>
            <a:ext cx="35890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Common Synchronous Options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accent3"/>
                </a:solidFill>
              </a:rPr>
              <a:t>StreamWriter</a:t>
            </a:r>
            <a:endParaRPr lang="en-US" dirty="0">
              <a:solidFill>
                <a:schemeClr val="accent3"/>
              </a:solidFill>
            </a:endParaRPr>
          </a:p>
          <a:p>
            <a:pPr marL="457200" lvl="3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Write()</a:t>
            </a:r>
          </a:p>
          <a:p>
            <a:pPr marL="457200" lvl="3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WriteLine()</a:t>
            </a:r>
          </a:p>
          <a:p>
            <a:pPr marL="285750" lvl="3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File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WriteAllLines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WriteAllText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AppendAllLines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AppendAllText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AC8C0-A4F7-3839-C3DC-66076EAE70D9}"/>
              </a:ext>
            </a:extLst>
          </p:cNvPr>
          <p:cNvSpPr txBox="1"/>
          <p:nvPr/>
        </p:nvSpPr>
        <p:spPr>
          <a:xfrm>
            <a:off x="4969240" y="1086788"/>
            <a:ext cx="348068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Common Asynchronous Options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accent3"/>
                </a:solidFill>
              </a:rPr>
              <a:t>StreamWriter</a:t>
            </a:r>
            <a:endParaRPr lang="en-US" dirty="0">
              <a:solidFill>
                <a:schemeClr val="accent3"/>
              </a:solidFill>
            </a:endParaRPr>
          </a:p>
          <a:p>
            <a:pPr marL="45720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WriteAsync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45720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WriteLineAsync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File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AppendText</a:t>
            </a:r>
            <a:r>
              <a:rPr lang="en-US" dirty="0">
                <a:solidFill>
                  <a:schemeClr val="bg1"/>
                </a:solidFill>
              </a:rPr>
              <a:t> – returns </a:t>
            </a:r>
            <a:r>
              <a:rPr lang="en-US" dirty="0" err="1">
                <a:solidFill>
                  <a:schemeClr val="bg1"/>
                </a:solidFill>
              </a:rPr>
              <a:t>StreamWriter</a:t>
            </a:r>
            <a:r>
              <a:rPr lang="en-US" dirty="0">
                <a:solidFill>
                  <a:schemeClr val="bg1"/>
                </a:solidFill>
              </a:rPr>
              <a:t>; can add to existing file or create new one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OpenText() – returns </a:t>
            </a:r>
            <a:r>
              <a:rPr lang="en-US" dirty="0" err="1">
                <a:solidFill>
                  <a:schemeClr val="bg1"/>
                </a:solidFill>
              </a:rPr>
              <a:t>StreamReader</a:t>
            </a:r>
            <a:endParaRPr lang="en-US" dirty="0">
              <a:solidFill>
                <a:schemeClr val="bg1"/>
              </a:solidFill>
            </a:endParaRP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ReadAllTextAsync</a:t>
            </a:r>
            <a:r>
              <a:rPr lang="en-US" dirty="0">
                <a:solidFill>
                  <a:schemeClr val="bg1"/>
                </a:solidFill>
              </a:rPr>
              <a:t>() – returns string of all the text in the file</a:t>
            </a:r>
          </a:p>
          <a:p>
            <a:pPr marL="457200" lvl="4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CreateText</a:t>
            </a:r>
            <a:r>
              <a:rPr lang="en-US" dirty="0">
                <a:solidFill>
                  <a:schemeClr val="bg1"/>
                </a:solidFill>
              </a:rPr>
              <a:t>() – returns </a:t>
            </a:r>
            <a:r>
              <a:rPr lang="en-US" dirty="0" err="1">
                <a:solidFill>
                  <a:schemeClr val="bg1"/>
                </a:solidFill>
              </a:rPr>
              <a:t>StreamWriter</a:t>
            </a:r>
            <a:r>
              <a:rPr lang="en-US" dirty="0">
                <a:solidFill>
                  <a:schemeClr val="bg1"/>
                </a:solidFill>
              </a:rPr>
              <a:t>; creates or opens a file for writing, if file already exists, its contents are replaced </a:t>
            </a:r>
          </a:p>
          <a:p>
            <a:pPr marL="457200" indent="-285750">
              <a:buClr>
                <a:schemeClr val="bg1"/>
              </a:buCl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457200" indent="-285750">
              <a:buFontTx/>
              <a:buChar char="-"/>
            </a:pP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FBE50-AB43-67DD-03CB-5728659E02C8}"/>
              </a:ext>
            </a:extLst>
          </p:cNvPr>
          <p:cNvSpPr txBox="1"/>
          <p:nvPr/>
        </p:nvSpPr>
        <p:spPr>
          <a:xfrm>
            <a:off x="351585" y="4381278"/>
            <a:ext cx="4702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File class</a:t>
            </a:r>
            <a:r>
              <a:rPr lang="en-US" dirty="0">
                <a:solidFill>
                  <a:schemeClr val="bg1"/>
                </a:solidFill>
              </a:rPr>
              <a:t> also contains the </a:t>
            </a:r>
            <a:r>
              <a:rPr lang="en-US" dirty="0">
                <a:solidFill>
                  <a:schemeClr val="accent3"/>
                </a:solidFill>
              </a:rPr>
              <a:t>Exists property</a:t>
            </a:r>
            <a:r>
              <a:rPr lang="en-US" dirty="0">
                <a:solidFill>
                  <a:schemeClr val="bg1"/>
                </a:solidFill>
              </a:rPr>
              <a:t>, which returns a Boolean of if a file exists or not. </a:t>
            </a:r>
          </a:p>
        </p:txBody>
      </p:sp>
    </p:spTree>
    <p:extLst>
      <p:ext uri="{BB962C8B-B14F-4D97-AF65-F5344CB8AC3E}">
        <p14:creationId xmlns:p14="http://schemas.microsoft.com/office/powerpoint/2010/main" val="4211627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862D-C81B-B5C8-42D2-F72006B9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0B69-6D5F-4AD2-F1B5-4C0370EC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E33B6-9F6F-3652-5936-B92B875CB12F}"/>
              </a:ext>
            </a:extLst>
          </p:cNvPr>
          <p:cNvSpPr txBox="1"/>
          <p:nvPr/>
        </p:nvSpPr>
        <p:spPr>
          <a:xfrm>
            <a:off x="5051606" y="1703915"/>
            <a:ext cx="3732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Garbage Collector </a:t>
            </a:r>
            <a:r>
              <a:rPr lang="en-US" dirty="0">
                <a:solidFill>
                  <a:schemeClr val="bg1"/>
                </a:solidFill>
              </a:rPr>
              <a:t>doesn’t actually manage everything… </a:t>
            </a:r>
            <a:r>
              <a:rPr lang="en-US" dirty="0">
                <a:solidFill>
                  <a:schemeClr val="accent3"/>
                </a:solidFill>
              </a:rPr>
              <a:t>Unmanaged Resources</a:t>
            </a:r>
            <a:r>
              <a:rPr lang="en-US" dirty="0">
                <a:solidFill>
                  <a:schemeClr val="bg1"/>
                </a:solidFill>
              </a:rPr>
              <a:t> must be handled by us.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File I/O, Database Connections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iDisposable</a:t>
            </a:r>
            <a:r>
              <a:rPr lang="en-US" dirty="0">
                <a:solidFill>
                  <a:schemeClr val="bg1"/>
                </a:solidFill>
              </a:rPr>
              <a:t> interface can release resources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Using keyword can release resources, with or without code blocks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7FC55-3329-C43C-7C3D-D4AEFA44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57" y="1074899"/>
            <a:ext cx="4504813" cy="337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490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AF40F-DC20-0DEB-89C2-CF587585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EC9F-93B0-0612-5B98-E96EA537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Level I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E3552-A721-835C-9526-4807DC6EDF7D}"/>
              </a:ext>
            </a:extLst>
          </p:cNvPr>
          <p:cNvSpPr txBox="1"/>
          <p:nvPr/>
        </p:nvSpPr>
        <p:spPr>
          <a:xfrm>
            <a:off x="779228" y="1327868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the Car management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0C3C7-3278-C087-7085-D92723118B3A}"/>
              </a:ext>
            </a:extLst>
          </p:cNvPr>
          <p:cNvSpPr txBox="1"/>
          <p:nvPr/>
        </p:nvSpPr>
        <p:spPr>
          <a:xfrm>
            <a:off x="2830664" y="1327868"/>
            <a:ext cx="57646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quitting the application, we should write all of our cars in JSON format to a local file.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loading the application, we should read the file to populate our list of cars. </a:t>
            </a:r>
          </a:p>
        </p:txBody>
      </p:sp>
    </p:spTree>
    <p:extLst>
      <p:ext uri="{BB962C8B-B14F-4D97-AF65-F5344CB8AC3E}">
        <p14:creationId xmlns:p14="http://schemas.microsoft.com/office/powerpoint/2010/main" val="37477976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BE8C-0560-E367-8802-0963F946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IEnumerable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24E55-8844-B0A2-B297-C023F30D6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06" y="2247570"/>
            <a:ext cx="5741138" cy="758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BD5E44-CFDA-C419-A1E4-5FA0C8824446}"/>
              </a:ext>
            </a:extLst>
          </p:cNvPr>
          <p:cNvSpPr txBox="1"/>
          <p:nvPr/>
        </p:nvSpPr>
        <p:spPr>
          <a:xfrm>
            <a:off x="1271255" y="1661652"/>
            <a:ext cx="6601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see on the docs, many collections implement the </a:t>
            </a:r>
            <a:r>
              <a:rPr lang="en-US" dirty="0" err="1">
                <a:solidFill>
                  <a:schemeClr val="bg1"/>
                </a:solidFill>
              </a:rPr>
              <a:t>IEnumerable</a:t>
            </a:r>
            <a:r>
              <a:rPr lang="en-US" dirty="0">
                <a:solidFill>
                  <a:schemeClr val="bg1"/>
                </a:solidFill>
              </a:rPr>
              <a:t> interface:</a:t>
            </a:r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35A75F1E-2775-1E3C-522F-1FE0C9308F94}"/>
              </a:ext>
            </a:extLst>
          </p:cNvPr>
          <p:cNvSpPr txBox="1"/>
          <p:nvPr/>
        </p:nvSpPr>
        <p:spPr>
          <a:xfrm>
            <a:off x="4030825" y="380016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DOCS Link</a:t>
            </a:r>
          </a:p>
        </p:txBody>
      </p:sp>
    </p:spTree>
    <p:extLst>
      <p:ext uri="{BB962C8B-B14F-4D97-AF65-F5344CB8AC3E}">
        <p14:creationId xmlns:p14="http://schemas.microsoft.com/office/powerpoint/2010/main" val="41615068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6ADE-9F91-5F26-79A1-34213D6D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ACBE-F0C0-484D-61C0-E116E702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LINQ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19477-36D9-3837-DA7F-1020854A1273}"/>
              </a:ext>
            </a:extLst>
          </p:cNvPr>
          <p:cNvSpPr txBox="1"/>
          <p:nvPr/>
        </p:nvSpPr>
        <p:spPr>
          <a:xfrm>
            <a:off x="1965565" y="886951"/>
            <a:ext cx="52128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Language-Integrated Query (LINQ) </a:t>
            </a:r>
            <a:r>
              <a:rPr lang="en-US" dirty="0">
                <a:solidFill>
                  <a:schemeClr val="bg1"/>
                </a:solidFill>
              </a:rPr>
              <a:t>is the name for the set of technologies based on the integration of query capabilities directly into the C# language.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CED6D-1736-D842-7D85-310BB9E98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91" y="1808145"/>
            <a:ext cx="4240433" cy="3009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0C901D-5810-BFC2-80DC-BC4200B6B9C3}"/>
              </a:ext>
            </a:extLst>
          </p:cNvPr>
          <p:cNvSpPr txBox="1"/>
          <p:nvPr/>
        </p:nvSpPr>
        <p:spPr>
          <a:xfrm>
            <a:off x="5244867" y="2312034"/>
            <a:ext cx="31315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Works with lists, databases, and many other collections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There are 2 syntax types: query syntax &amp; method syntax, seen below: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A0AB7-D3BD-FDF3-E235-18D99F9D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108" y="3941685"/>
            <a:ext cx="3586543" cy="23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711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7432-CEC5-5360-AD45-51DC3E40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02F10D-B227-D952-8927-3085126A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74" y="1597833"/>
            <a:ext cx="3131574" cy="237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AE9F16-310F-1CCA-233F-15DBFDBF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74" y="1835675"/>
            <a:ext cx="3131575" cy="2482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D81D81-6F1F-B34B-7C0E-E52250D8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74" y="2083910"/>
            <a:ext cx="3047544" cy="4483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F1936D-3A2E-F111-69A9-DB89BD8C4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633" y="3485998"/>
            <a:ext cx="2054910" cy="814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DE0577-7E8D-3E9E-9D39-326C1B8FDD77}"/>
              </a:ext>
            </a:extLst>
          </p:cNvPr>
          <p:cNvSpPr txBox="1"/>
          <p:nvPr/>
        </p:nvSpPr>
        <p:spPr>
          <a:xfrm>
            <a:off x="550606" y="1268361"/>
            <a:ext cx="1827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LINQ is very flexible: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6940E-679F-A306-35B5-E6FD04CC14BD}"/>
              </a:ext>
            </a:extLst>
          </p:cNvPr>
          <p:cNvSpPr txBox="1"/>
          <p:nvPr/>
        </p:nvSpPr>
        <p:spPr>
          <a:xfrm>
            <a:off x="713225" y="3092245"/>
            <a:ext cx="2542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And we can put it all together: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F19AD-05DE-E4C0-C9A5-D9DEB397CDEE}"/>
              </a:ext>
            </a:extLst>
          </p:cNvPr>
          <p:cNvSpPr txBox="1"/>
          <p:nvPr/>
        </p:nvSpPr>
        <p:spPr>
          <a:xfrm>
            <a:off x="4551435" y="1716753"/>
            <a:ext cx="38984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Note: LINQ queries are not always executed immediately.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It uses </a:t>
            </a:r>
            <a:r>
              <a:rPr lang="en-US" dirty="0">
                <a:solidFill>
                  <a:schemeClr val="accent3"/>
                </a:solidFill>
              </a:rPr>
              <a:t>deferred execution </a:t>
            </a:r>
            <a:r>
              <a:rPr lang="en-US" dirty="0">
                <a:solidFill>
                  <a:schemeClr val="bg1"/>
                </a:solidFill>
              </a:rPr>
              <a:t>and will run when the results are iterated over or explicitly made manifest with 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 err="1">
                <a:solidFill>
                  <a:schemeClr val="accent3"/>
                </a:solidFill>
              </a:rPr>
              <a:t>ToList</a:t>
            </a:r>
            <a:r>
              <a:rPr lang="en-US" dirty="0">
                <a:solidFill>
                  <a:schemeClr val="accent3"/>
                </a:solidFill>
              </a:rPr>
              <a:t>()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F9AFB0-2801-9BA2-3AE4-C503C8F0E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838" y="3524380"/>
            <a:ext cx="5122811" cy="24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018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814B-CF74-AC21-0940-D6944E13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CD5A-7127-CD45-0232-7804F248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Level I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91DBD-EF72-BB9C-2B59-540E4C505417}"/>
              </a:ext>
            </a:extLst>
          </p:cNvPr>
          <p:cNvSpPr txBox="1"/>
          <p:nvPr/>
        </p:nvSpPr>
        <p:spPr>
          <a:xfrm>
            <a:off x="779228" y="1327868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the Car management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B22EC-DB37-53ED-C7AD-55E9B4F56B5B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Add a search feature to our application. A user should be able to enter a year for a car and have all the cars of that year print to the console. </a:t>
            </a:r>
          </a:p>
        </p:txBody>
      </p:sp>
    </p:spTree>
    <p:extLst>
      <p:ext uri="{BB962C8B-B14F-4D97-AF65-F5344CB8AC3E}">
        <p14:creationId xmlns:p14="http://schemas.microsoft.com/office/powerpoint/2010/main" val="27591733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D919-3503-399E-7884-592C715E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A8327-44B7-2CD5-E631-14FB2953FDB5}"/>
              </a:ext>
            </a:extLst>
          </p:cNvPr>
          <p:cNvSpPr txBox="1"/>
          <p:nvPr/>
        </p:nvSpPr>
        <p:spPr>
          <a:xfrm>
            <a:off x="431319" y="932000"/>
            <a:ext cx="541738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using System;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public class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 : Exception</a:t>
            </a:r>
          </a:p>
          <a:p>
            <a:r>
              <a:rPr lang="en-US" sz="1100" dirty="0">
                <a:solidFill>
                  <a:schemeClr val="bg1"/>
                </a:solidFill>
              </a:rPr>
              <a:t>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public int </a:t>
            </a:r>
            <a:r>
              <a:rPr lang="en-US" sz="1100" dirty="0" err="1">
                <a:solidFill>
                  <a:schemeClr val="bg1"/>
                </a:solidFill>
              </a:rPr>
              <a:t>OrderId</a:t>
            </a:r>
            <a:r>
              <a:rPr lang="en-US" sz="1100" dirty="0">
                <a:solidFill>
                  <a:schemeClr val="bg1"/>
                </a:solidFill>
              </a:rPr>
              <a:t> { get; }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   public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() { }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   public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(string message)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: base(message) { }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   public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(string message, Exception inner)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: base(message, inner) { }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    public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(int </a:t>
            </a:r>
            <a:r>
              <a:rPr lang="en-US" sz="1100" dirty="0" err="1">
                <a:solidFill>
                  <a:schemeClr val="bg1"/>
                </a:solidFill>
              </a:rPr>
              <a:t>orderId</a:t>
            </a:r>
            <a:r>
              <a:rPr lang="en-US" sz="1100" dirty="0">
                <a:solidFill>
                  <a:schemeClr val="bg1"/>
                </a:solidFill>
              </a:rPr>
              <a:t>, string message)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: base(message)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</a:t>
            </a:r>
            <a:r>
              <a:rPr lang="en-US" sz="1100" dirty="0" err="1">
                <a:solidFill>
                  <a:schemeClr val="bg1"/>
                </a:solidFill>
              </a:rPr>
              <a:t>OrderId</a:t>
            </a:r>
            <a:r>
              <a:rPr lang="en-US" sz="1100" dirty="0">
                <a:solidFill>
                  <a:schemeClr val="bg1"/>
                </a:solidFill>
              </a:rPr>
              <a:t> = </a:t>
            </a:r>
            <a:r>
              <a:rPr lang="en-US" sz="1100" dirty="0" err="1">
                <a:solidFill>
                  <a:schemeClr val="bg1"/>
                </a:solidFill>
              </a:rPr>
              <a:t>orderId</a:t>
            </a:r>
            <a:r>
              <a:rPr lang="en-US" sz="1100" dirty="0">
                <a:solidFill>
                  <a:schemeClr val="bg1"/>
                </a:solidFill>
              </a:rPr>
              <a:t>;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23CA5-4866-9346-5A07-6FDE6837AF7B}"/>
              </a:ext>
            </a:extLst>
          </p:cNvPr>
          <p:cNvSpPr txBox="1"/>
          <p:nvPr/>
        </p:nvSpPr>
        <p:spPr>
          <a:xfrm>
            <a:off x="336430" y="4653395"/>
            <a:ext cx="58055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throw new 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n-US" sz="1100" dirty="0" err="1">
                <a:solidFill>
                  <a:schemeClr val="bg1"/>
                </a:solidFill>
              </a:rPr>
              <a:t>orderId</a:t>
            </a:r>
            <a:r>
              <a:rPr lang="en-US" sz="1100" dirty="0">
                <a:solidFill>
                  <a:schemeClr val="bg1"/>
                </a:solidFill>
              </a:rPr>
              <a:t>, "Order ID must be greater than zero.");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055DD-A02C-1E29-488E-573237A2A353}"/>
              </a:ext>
            </a:extLst>
          </p:cNvPr>
          <p:cNvSpPr txBox="1"/>
          <p:nvPr/>
        </p:nvSpPr>
        <p:spPr>
          <a:xfrm>
            <a:off x="5175849" y="1244891"/>
            <a:ext cx="4572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try</a:t>
            </a:r>
          </a:p>
          <a:p>
            <a:r>
              <a:rPr lang="en-US" sz="1100" dirty="0">
                <a:solidFill>
                  <a:schemeClr val="bg1"/>
                </a:solidFill>
              </a:rPr>
              <a:t>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</a:t>
            </a:r>
            <a:r>
              <a:rPr lang="en-US" sz="1100" dirty="0" err="1">
                <a:solidFill>
                  <a:schemeClr val="bg1"/>
                </a:solidFill>
              </a:rPr>
              <a:t>ProcessOrder</a:t>
            </a:r>
            <a:r>
              <a:rPr lang="en-US" sz="1100" dirty="0">
                <a:solidFill>
                  <a:schemeClr val="bg1"/>
                </a:solidFill>
              </a:rPr>
              <a:t>(0);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  <a:p>
            <a:r>
              <a:rPr lang="en-US" sz="1100" dirty="0">
                <a:solidFill>
                  <a:schemeClr val="bg1"/>
                </a:solidFill>
              </a:rPr>
              <a:t>catch (</a:t>
            </a:r>
            <a:r>
              <a:rPr lang="en-US" sz="1100" dirty="0" err="1">
                <a:solidFill>
                  <a:schemeClr val="bg1"/>
                </a:solidFill>
              </a:rPr>
              <a:t>InvalidOrderException</a:t>
            </a:r>
            <a:r>
              <a:rPr lang="en-US" sz="1100" dirty="0">
                <a:solidFill>
                  <a:schemeClr val="bg1"/>
                </a:solidFill>
              </a:rPr>
              <a:t> ex)</a:t>
            </a:r>
          </a:p>
          <a:p>
            <a:r>
              <a:rPr lang="en-US" sz="1100" dirty="0">
                <a:solidFill>
                  <a:schemeClr val="bg1"/>
                </a:solidFill>
              </a:rPr>
              <a:t>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</a:t>
            </a:r>
            <a:r>
              <a:rPr lang="en-US" sz="1100" dirty="0" err="1">
                <a:solidFill>
                  <a:schemeClr val="bg1"/>
                </a:solidFill>
              </a:rPr>
              <a:t>Console.WriteLine</a:t>
            </a:r>
            <a:r>
              <a:rPr lang="en-US" sz="1100" dirty="0">
                <a:solidFill>
                  <a:schemeClr val="bg1"/>
                </a:solidFill>
              </a:rPr>
              <a:t>($"Custom error: {</a:t>
            </a:r>
            <a:r>
              <a:rPr lang="en-US" sz="1100" dirty="0" err="1">
                <a:solidFill>
                  <a:schemeClr val="bg1"/>
                </a:solidFill>
              </a:rPr>
              <a:t>ex.Message</a:t>
            </a:r>
            <a:r>
              <a:rPr lang="en-US" sz="1100" dirty="0">
                <a:solidFill>
                  <a:schemeClr val="bg1"/>
                </a:solidFill>
              </a:rPr>
              <a:t>}");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</a:t>
            </a:r>
            <a:r>
              <a:rPr lang="en-US" sz="1100" dirty="0" err="1">
                <a:solidFill>
                  <a:schemeClr val="bg1"/>
                </a:solidFill>
              </a:rPr>
              <a:t>Console.WriteLine</a:t>
            </a:r>
            <a:r>
              <a:rPr lang="en-US" sz="1100" dirty="0">
                <a:solidFill>
                  <a:schemeClr val="bg1"/>
                </a:solidFill>
              </a:rPr>
              <a:t>($"Order ID: {</a:t>
            </a:r>
            <a:r>
              <a:rPr lang="en-US" sz="1100" dirty="0" err="1">
                <a:solidFill>
                  <a:schemeClr val="bg1"/>
                </a:solidFill>
              </a:rPr>
              <a:t>ex.OrderId</a:t>
            </a:r>
            <a:r>
              <a:rPr lang="en-US" sz="1100" dirty="0">
                <a:solidFill>
                  <a:schemeClr val="bg1"/>
                </a:solidFill>
              </a:rPr>
              <a:t>}");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  <a:p>
            <a:r>
              <a:rPr lang="en-US" sz="1100" dirty="0">
                <a:solidFill>
                  <a:schemeClr val="bg1"/>
                </a:solidFill>
              </a:rPr>
              <a:t>catch (Exception ex)</a:t>
            </a:r>
          </a:p>
          <a:p>
            <a:r>
              <a:rPr lang="en-US" sz="1100" dirty="0">
                <a:solidFill>
                  <a:schemeClr val="bg1"/>
                </a:solidFill>
              </a:rPr>
              <a:t>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</a:t>
            </a:r>
            <a:r>
              <a:rPr lang="en-US" sz="1100" dirty="0" err="1">
                <a:solidFill>
                  <a:schemeClr val="bg1"/>
                </a:solidFill>
              </a:rPr>
              <a:t>Console.WriteLine</a:t>
            </a:r>
            <a:r>
              <a:rPr lang="en-US" sz="1100" dirty="0">
                <a:solidFill>
                  <a:schemeClr val="bg1"/>
                </a:solidFill>
              </a:rPr>
              <a:t>($"General error: {</a:t>
            </a:r>
            <a:r>
              <a:rPr lang="en-US" sz="1100" dirty="0" err="1">
                <a:solidFill>
                  <a:schemeClr val="bg1"/>
                </a:solidFill>
              </a:rPr>
              <a:t>ex.Message</a:t>
            </a:r>
            <a:r>
              <a:rPr lang="en-US" sz="1100" dirty="0">
                <a:solidFill>
                  <a:schemeClr val="bg1"/>
                </a:solidFill>
              </a:rPr>
              <a:t>}");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54578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7CA3-91D3-DFA7-D768-3C8BF3B9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5918-5232-883A-5161-D191A767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What is an API?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1193A-43B8-9BE7-1142-AE048300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12" y="976453"/>
            <a:ext cx="6933776" cy="2213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37DD97-E178-60D9-319D-6A7FD3612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71" y="3562125"/>
            <a:ext cx="382005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942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4AF6-608D-AF2D-E0CE-2A558EAE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B1098-D367-ACD0-7389-A70732C95F63}"/>
              </a:ext>
            </a:extLst>
          </p:cNvPr>
          <p:cNvSpPr txBox="1"/>
          <p:nvPr/>
        </p:nvSpPr>
        <p:spPr>
          <a:xfrm>
            <a:off x="427703" y="1233513"/>
            <a:ext cx="383458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REST</a:t>
            </a:r>
            <a:r>
              <a:rPr lang="en-US" dirty="0">
                <a:solidFill>
                  <a:schemeClr val="bg1"/>
                </a:solidFill>
              </a:rPr>
              <a:t> – Representational State Transfer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Typically uses JSON, and is </a:t>
            </a:r>
            <a:r>
              <a:rPr lang="en-US" dirty="0">
                <a:solidFill>
                  <a:schemeClr val="accent3"/>
                </a:solidFill>
              </a:rPr>
              <a:t>stateless</a:t>
            </a:r>
            <a:r>
              <a:rPr lang="en-US" dirty="0">
                <a:solidFill>
                  <a:schemeClr val="bg1"/>
                </a:solidFill>
              </a:rPr>
              <a:t> = each request contains all needed info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Made up of: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Endpoint:</a:t>
            </a:r>
          </a:p>
          <a:p>
            <a:r>
              <a:rPr lang="en-US" sz="1200" dirty="0">
                <a:solidFill>
                  <a:schemeClr val="bg1"/>
                </a:solidFill>
              </a:rPr>
              <a:t>https://api.example.com/users/123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HTTP Method:</a:t>
            </a:r>
          </a:p>
          <a:p>
            <a:r>
              <a:rPr lang="en-US" sz="1200" dirty="0">
                <a:solidFill>
                  <a:schemeClr val="bg1"/>
                </a:solidFill>
              </a:rPr>
              <a:t>GET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Headers:</a:t>
            </a:r>
          </a:p>
          <a:p>
            <a:r>
              <a:rPr lang="en-US" sz="1200" dirty="0">
                <a:solidFill>
                  <a:schemeClr val="bg1"/>
                </a:solidFill>
              </a:rPr>
              <a:t>Authorization: Bearer &lt;token&gt;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Query parameters (optional):</a:t>
            </a:r>
          </a:p>
          <a:p>
            <a:r>
              <a:rPr lang="en-US" sz="1200" dirty="0">
                <a:solidFill>
                  <a:schemeClr val="bg1"/>
                </a:solidFill>
                <a:hlinkClick r:id="rId2"/>
              </a:rPr>
              <a:t>https://api.example.com/users?active=true&amp;limit=10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Request Body (optional):</a:t>
            </a:r>
          </a:p>
          <a:p>
            <a:r>
              <a:rPr lang="en-US" sz="1200" dirty="0">
                <a:solidFill>
                  <a:schemeClr val="bg1"/>
                </a:solidFill>
              </a:rPr>
              <a:t>{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"name": "Alice",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"email": "alice@example.com"</a:t>
            </a:r>
          </a:p>
          <a:p>
            <a:r>
              <a:rPr lang="en-US" sz="12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75DF1-CA42-BB18-C69C-81C43CCE1DDE}"/>
              </a:ext>
            </a:extLst>
          </p:cNvPr>
          <p:cNvSpPr txBox="1"/>
          <p:nvPr/>
        </p:nvSpPr>
        <p:spPr>
          <a:xfrm>
            <a:off x="4881716" y="1125792"/>
            <a:ext cx="38345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SOAP</a:t>
            </a:r>
            <a:r>
              <a:rPr lang="en-US" dirty="0">
                <a:solidFill>
                  <a:schemeClr val="bg1"/>
                </a:solidFill>
              </a:rPr>
              <a:t> – Simple Object Access Protocol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Uses XML only, and operates under a formal contract called a </a:t>
            </a:r>
            <a:r>
              <a:rPr lang="en-US" dirty="0">
                <a:solidFill>
                  <a:schemeClr val="accent3"/>
                </a:solidFill>
              </a:rPr>
              <a:t>WSDL file </a:t>
            </a:r>
            <a:r>
              <a:rPr lang="en-US" dirty="0">
                <a:solidFill>
                  <a:schemeClr val="bg1"/>
                </a:solidFill>
              </a:rPr>
              <a:t>(web service description language)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D422E-C464-87C5-FE2C-4CC1B816A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89511"/>
            <a:ext cx="4307694" cy="169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646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10DA-C631-321E-32D6-CC5C519D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BB09-909B-E31A-7F51-AC21E749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What is ASP.NET Core?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C88FD-45BA-213D-84F2-D030E2EB3654}"/>
              </a:ext>
            </a:extLst>
          </p:cNvPr>
          <p:cNvSpPr txBox="1"/>
          <p:nvPr/>
        </p:nvSpPr>
        <p:spPr>
          <a:xfrm>
            <a:off x="1075185" y="1431984"/>
            <a:ext cx="699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ASP.NET Core </a:t>
            </a:r>
            <a:r>
              <a:rPr lang="en-US" dirty="0">
                <a:solidFill>
                  <a:schemeClr val="bg1"/>
                </a:solidFill>
              </a:rPr>
              <a:t>is a cross-platform, high-performance, open-source framework for building modern, cloud-enabled, internet-connected apps.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D8B4C-D9D9-2893-6C24-A19A14EA0B7A}"/>
              </a:ext>
            </a:extLst>
          </p:cNvPr>
          <p:cNvSpPr txBox="1"/>
          <p:nvPr/>
        </p:nvSpPr>
        <p:spPr>
          <a:xfrm>
            <a:off x="2286000" y="2337956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ASP.NET Core, you can: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Build web apps and services, Azure IoT (Internet of Things) apps, and mobile backends.</a:t>
            </a:r>
          </a:p>
          <a:p>
            <a:r>
              <a:rPr lang="en-US" dirty="0">
                <a:solidFill>
                  <a:schemeClr val="bg1"/>
                </a:solidFill>
              </a:rPr>
              <a:t>- Use your favorite development tools on Windows, macOS, and Linux.</a:t>
            </a:r>
          </a:p>
          <a:p>
            <a:r>
              <a:rPr lang="en-US" dirty="0">
                <a:solidFill>
                  <a:schemeClr val="bg1"/>
                </a:solidFill>
              </a:rPr>
              <a:t>- Deploy to the cloud or on-premises.</a:t>
            </a:r>
          </a:p>
          <a:p>
            <a:r>
              <a:rPr lang="en-US" dirty="0">
                <a:solidFill>
                  <a:schemeClr val="bg1"/>
                </a:solidFill>
              </a:rPr>
              <a:t>- Run on .NET.</a:t>
            </a:r>
          </a:p>
        </p:txBody>
      </p:sp>
    </p:spTree>
    <p:extLst>
      <p:ext uri="{BB962C8B-B14F-4D97-AF65-F5344CB8AC3E}">
        <p14:creationId xmlns:p14="http://schemas.microsoft.com/office/powerpoint/2010/main" val="21104493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36A68-90AC-6072-F71C-3C9E8EFFF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6970-B1C2-7A98-5FB7-CAF9F3BD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ASP.NET Core vs ASP.NET 4.x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9912D-FE28-1807-E85C-AF75820D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331" y="1128687"/>
            <a:ext cx="5963337" cy="33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161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298A-DC07-926C-2817-795DA4D1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4E2D-BAC0-957D-A77A-09C81B9B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API Options in ASP.NET 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38BB4-3A8E-6727-7228-9DEF33A49776}"/>
              </a:ext>
            </a:extLst>
          </p:cNvPr>
          <p:cNvSpPr txBox="1"/>
          <p:nvPr/>
        </p:nvSpPr>
        <p:spPr>
          <a:xfrm>
            <a:off x="1679985" y="1284602"/>
            <a:ext cx="6993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There are 2 approaches: a </a:t>
            </a:r>
            <a:r>
              <a:rPr lang="en-US" dirty="0">
                <a:solidFill>
                  <a:schemeClr val="accent3"/>
                </a:solidFill>
              </a:rPr>
              <a:t>controller-based</a:t>
            </a:r>
            <a:r>
              <a:rPr lang="en-US" dirty="0">
                <a:solidFill>
                  <a:schemeClr val="bg1"/>
                </a:solidFill>
              </a:rPr>
              <a:t> approach and </a:t>
            </a:r>
            <a:r>
              <a:rPr lang="en-US" dirty="0">
                <a:solidFill>
                  <a:schemeClr val="accent3"/>
                </a:solidFill>
              </a:rPr>
              <a:t>Minimal APIs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97617-4D7C-9343-1A11-B04BB75DE74C}"/>
              </a:ext>
            </a:extLst>
          </p:cNvPr>
          <p:cNvSpPr txBox="1"/>
          <p:nvPr/>
        </p:nvSpPr>
        <p:spPr>
          <a:xfrm>
            <a:off x="590400" y="2080798"/>
            <a:ext cx="3484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Controllers</a:t>
            </a:r>
            <a:r>
              <a:rPr lang="en-US" dirty="0">
                <a:solidFill>
                  <a:schemeClr val="bg1"/>
                </a:solidFill>
              </a:rPr>
              <a:t> in an API project are classes that derive from </a:t>
            </a:r>
            <a:r>
              <a:rPr lang="en-US" dirty="0" err="1">
                <a:solidFill>
                  <a:schemeClr val="accent3"/>
                </a:solidFill>
              </a:rPr>
              <a:t>ControllerBase</a:t>
            </a:r>
            <a:endParaRPr lang="en-US" dirty="0">
              <a:solidFill>
                <a:schemeClr val="accent3"/>
              </a:solidFill>
            </a:endParaRPr>
          </a:p>
          <a:p>
            <a:pPr marL="460375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Classes that take dependencies via constructor injection or property injection</a:t>
            </a:r>
          </a:p>
          <a:p>
            <a:pPr marL="460375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Follows more of an Object-Oriented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462F4-A39B-C308-F7DC-704745F8DCAB}"/>
              </a:ext>
            </a:extLst>
          </p:cNvPr>
          <p:cNvSpPr txBox="1"/>
          <p:nvPr/>
        </p:nvSpPr>
        <p:spPr>
          <a:xfrm>
            <a:off x="4904400" y="2080798"/>
            <a:ext cx="3484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Minimal APIs </a:t>
            </a:r>
            <a:r>
              <a:rPr lang="en-US" dirty="0">
                <a:solidFill>
                  <a:schemeClr val="bg1"/>
                </a:solidFill>
              </a:rPr>
              <a:t>define endpoints with logical handlers in lambdas or methods</a:t>
            </a:r>
          </a:p>
          <a:p>
            <a:pPr marL="460375" indent="-460375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Less verbose, intended to include less of the files, features, and dependencies of ASP.NET Core</a:t>
            </a:r>
          </a:p>
        </p:txBody>
      </p:sp>
    </p:spTree>
    <p:extLst>
      <p:ext uri="{BB962C8B-B14F-4D97-AF65-F5344CB8AC3E}">
        <p14:creationId xmlns:p14="http://schemas.microsoft.com/office/powerpoint/2010/main" val="10887618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6FC1-DAC4-D058-9F98-04CD21B9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62C9-9243-A93B-94FB-F288E06B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Creating an ASP.NET Application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654965-6103-C43D-E29F-4ACE468013D4}"/>
              </a:ext>
            </a:extLst>
          </p:cNvPr>
          <p:cNvSpPr txBox="1"/>
          <p:nvPr/>
        </p:nvSpPr>
        <p:spPr>
          <a:xfrm>
            <a:off x="4299523" y="1402455"/>
            <a:ext cx="35461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ß"/>
            </a:pPr>
            <a:r>
              <a:rPr lang="en-US" dirty="0">
                <a:solidFill>
                  <a:schemeClr val="bg1"/>
                </a:solidFill>
              </a:rPr>
              <a:t>Create a web app with controllers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ß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ß"/>
            </a:pPr>
            <a:r>
              <a:rPr lang="en-US" dirty="0">
                <a:solidFill>
                  <a:schemeClr val="bg1"/>
                </a:solidFill>
              </a:rPr>
              <a:t>The rest of the items are class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ADAA6-A263-DD9B-A8E3-8416E32F3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236" y="1122413"/>
            <a:ext cx="1823361" cy="1537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F9D496-332B-B6AD-B6AA-60FC575D2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34" y="4016608"/>
            <a:ext cx="2715004" cy="352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49E7E-98D9-CE2C-062E-3E0A2BFA5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724" y="3482343"/>
            <a:ext cx="4183626" cy="1421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AFD532-FDC6-3AA6-468B-004437B6CC4F}"/>
              </a:ext>
            </a:extLst>
          </p:cNvPr>
          <p:cNvSpPr txBox="1"/>
          <p:nvPr/>
        </p:nvSpPr>
        <p:spPr>
          <a:xfrm>
            <a:off x="2841112" y="3030339"/>
            <a:ext cx="2831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add projects into the solution:</a:t>
            </a:r>
          </a:p>
        </p:txBody>
      </p:sp>
    </p:spTree>
    <p:extLst>
      <p:ext uri="{BB962C8B-B14F-4D97-AF65-F5344CB8AC3E}">
        <p14:creationId xmlns:p14="http://schemas.microsoft.com/office/powerpoint/2010/main" val="37382301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27C7-C989-3C6B-7DAB-3F7FF1C4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ASP.NET 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C03F3-5DCF-B191-AF3C-7F25FB0F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1" y="2179125"/>
            <a:ext cx="2993124" cy="2069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940FB8-CB15-E813-DEA1-493AE29DF142}"/>
              </a:ext>
            </a:extLst>
          </p:cNvPr>
          <p:cNvSpPr txBox="1"/>
          <p:nvPr/>
        </p:nvSpPr>
        <p:spPr>
          <a:xfrm>
            <a:off x="516194" y="1599023"/>
            <a:ext cx="352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can use the solution explorer to setup project dependencies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FBF2B-6814-0867-DDD9-5199DE0B4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84" y="1342103"/>
            <a:ext cx="3811607" cy="30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090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06BD-8544-E009-024F-965254DC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Nuget</a:t>
            </a:r>
            <a:r>
              <a:rPr lang="en-US" dirty="0"/>
              <a:t> Packages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60593-A499-3DFB-2E48-FE993D744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8" y="1315594"/>
            <a:ext cx="5548514" cy="3360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0C6F4-0CB3-8A0F-8F2A-3C898F090708}"/>
              </a:ext>
            </a:extLst>
          </p:cNvPr>
          <p:cNvSpPr txBox="1"/>
          <p:nvPr/>
        </p:nvSpPr>
        <p:spPr>
          <a:xfrm>
            <a:off x="5933767" y="2085813"/>
            <a:ext cx="3033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use the </a:t>
            </a:r>
            <a:r>
              <a:rPr lang="en-US" dirty="0" err="1">
                <a:solidFill>
                  <a:schemeClr val="bg1"/>
                </a:solidFill>
              </a:rPr>
              <a:t>nuget</a:t>
            </a:r>
            <a:r>
              <a:rPr lang="en-US" dirty="0">
                <a:solidFill>
                  <a:schemeClr val="bg1"/>
                </a:solidFill>
              </a:rPr>
              <a:t> gallery to install these</a:t>
            </a:r>
          </a:p>
        </p:txBody>
      </p:sp>
    </p:spTree>
    <p:extLst>
      <p:ext uri="{BB962C8B-B14F-4D97-AF65-F5344CB8AC3E}">
        <p14:creationId xmlns:p14="http://schemas.microsoft.com/office/powerpoint/2010/main" val="23816584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BAD-F10F-34AE-C040-7B88E4D7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Domain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5BA82-AC16-71DD-D939-5AA1202F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625" y="1140119"/>
            <a:ext cx="2872599" cy="3644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DA875-1187-BD89-CF3D-A633829B4949}"/>
              </a:ext>
            </a:extLst>
          </p:cNvPr>
          <p:cNvSpPr txBox="1"/>
          <p:nvPr/>
        </p:nvSpPr>
        <p:spPr>
          <a:xfrm>
            <a:off x="4960374" y="1376835"/>
            <a:ext cx="30922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our nullable reference types, we mark required. Why?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want them to be required when instantiating the class, but we also consider EF Core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EF Core will look at all properties and consider any that use a nullable reference type to not be required.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e.g.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public string? Description {get; set;}</a:t>
            </a:r>
          </a:p>
        </p:txBody>
      </p:sp>
    </p:spTree>
    <p:extLst>
      <p:ext uri="{BB962C8B-B14F-4D97-AF65-F5344CB8AC3E}">
        <p14:creationId xmlns:p14="http://schemas.microsoft.com/office/powerpoint/2010/main" val="40826692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78D9-F74B-22DE-9693-EF56F7E7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6201-DECF-5674-B22C-7818A645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Level I Challenge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0B444-A199-33A3-283D-6D3AE1DCD114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an API project.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77A3A-3410-7025-1475-C933DD75D179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the projects, install the necessary </a:t>
            </a:r>
            <a:r>
              <a:rPr lang="en-US" dirty="0" err="1">
                <a:solidFill>
                  <a:schemeClr val="bg1"/>
                </a:solidFill>
              </a:rPr>
              <a:t>nuget</a:t>
            </a:r>
            <a:r>
              <a:rPr lang="en-US" dirty="0">
                <a:solidFill>
                  <a:schemeClr val="bg1"/>
                </a:solidFill>
              </a:rPr>
              <a:t> packages, and create the Activities entity.</a:t>
            </a:r>
          </a:p>
        </p:txBody>
      </p:sp>
    </p:spTree>
    <p:extLst>
      <p:ext uri="{BB962C8B-B14F-4D97-AF65-F5344CB8AC3E}">
        <p14:creationId xmlns:p14="http://schemas.microsoft.com/office/powerpoint/2010/main" val="39979367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DCE4-6001-A81C-8638-12749AE4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the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1F680-94B7-96F7-8D63-42DE605E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7" y="4258456"/>
            <a:ext cx="6715432" cy="765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8E6FE8-4231-C180-3DD8-DD85DB6F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8" y="1404074"/>
            <a:ext cx="5397910" cy="2331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992C52-FC81-6881-F622-CFD21975284D}"/>
              </a:ext>
            </a:extLst>
          </p:cNvPr>
          <p:cNvSpPr txBox="1"/>
          <p:nvPr/>
        </p:nvSpPr>
        <p:spPr>
          <a:xfrm>
            <a:off x="2286000" y="1096297"/>
            <a:ext cx="4174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the </a:t>
            </a:r>
            <a:r>
              <a:rPr lang="en-US" dirty="0" err="1">
                <a:solidFill>
                  <a:schemeClr val="bg1"/>
                </a:solidFill>
              </a:rPr>
              <a:t>DbContext</a:t>
            </a:r>
            <a:r>
              <a:rPr lang="en-US" dirty="0">
                <a:solidFill>
                  <a:schemeClr val="bg1"/>
                </a:solidFill>
              </a:rPr>
              <a:t> within the persistence layer: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513BD-96B6-C616-A65B-A506C1187028}"/>
              </a:ext>
            </a:extLst>
          </p:cNvPr>
          <p:cNvSpPr txBox="1"/>
          <p:nvPr/>
        </p:nvSpPr>
        <p:spPr>
          <a:xfrm>
            <a:off x="2302832" y="3844207"/>
            <a:ext cx="4283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it as a service, and setup the connection string:</a:t>
            </a:r>
          </a:p>
        </p:txBody>
      </p:sp>
    </p:spTree>
    <p:extLst>
      <p:ext uri="{BB962C8B-B14F-4D97-AF65-F5344CB8AC3E}">
        <p14:creationId xmlns:p14="http://schemas.microsoft.com/office/powerpoint/2010/main" val="18789195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68C7-82CC-1804-DE40-CF85904D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01294"/>
            <a:ext cx="7736700" cy="572700"/>
          </a:xfrm>
        </p:spPr>
        <p:txBody>
          <a:bodyPr/>
          <a:lstStyle/>
          <a:p>
            <a:r>
              <a:rPr lang="en-US" dirty="0"/>
              <a:t>Docker Desktop Install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59E2D-B70E-E4BF-B0E1-DC180A36BBCE}"/>
              </a:ext>
            </a:extLst>
          </p:cNvPr>
          <p:cNvSpPr txBox="1"/>
          <p:nvPr/>
        </p:nvSpPr>
        <p:spPr>
          <a:xfrm>
            <a:off x="108077" y="907061"/>
            <a:ext cx="833227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Before install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Check/Enable virtualization in BIOS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Install WSL2 (</a:t>
            </a:r>
            <a:r>
              <a:rPr lang="en-US" dirty="0" err="1">
                <a:solidFill>
                  <a:schemeClr val="bg1"/>
                </a:solidFill>
                <a:latin typeface="+mj-lt"/>
              </a:rPr>
              <a:t>wsl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--install)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Reboot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Install Docker Desktop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Run installer 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as admin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Use default settings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After install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Ensure: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Docker Desktop starts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docker run hello-world works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If it fails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Check: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+mj-lt"/>
              </a:rPr>
              <a:t>wsl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-l -v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Docker Desktop running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user in docker-users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Try uninstalling docker desktop first via control panel and restarting if you still have issues. This is the nuclear option: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+mj-lt"/>
              </a:rPr>
              <a:t>Remove-Item -Path "C:\ProgramData\DockerDesktop" -Recurse -Force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D8E67-D87B-B378-A88F-17469AC6D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697" y="2816715"/>
            <a:ext cx="4698173" cy="89043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171A59-5ED7-420E-A09E-1E8B39FB9E99}"/>
              </a:ext>
            </a:extLst>
          </p:cNvPr>
          <p:cNvCxnSpPr>
            <a:cxnSpLocks/>
          </p:cNvCxnSpPr>
          <p:nvPr/>
        </p:nvCxnSpPr>
        <p:spPr>
          <a:xfrm flipV="1">
            <a:off x="2631057" y="3804249"/>
            <a:ext cx="2546255" cy="432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00FCD6-C540-C86C-451B-8AA2C8982368}"/>
              </a:ext>
            </a:extLst>
          </p:cNvPr>
          <p:cNvSpPr txBox="1"/>
          <p:nvPr/>
        </p:nvSpPr>
        <p:spPr>
          <a:xfrm>
            <a:off x="5650300" y="2508938"/>
            <a:ext cx="1838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 it’s PowerShell: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29CDF0-DD7B-9225-17FF-926C1D278B72}"/>
              </a:ext>
            </a:extLst>
          </p:cNvPr>
          <p:cNvSpPr txBox="1"/>
          <p:nvPr/>
        </p:nvSpPr>
        <p:spPr>
          <a:xfrm>
            <a:off x="4012014" y="993118"/>
            <a:ext cx="5033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3"/>
                </a:solidFill>
                <a:effectLst/>
                <a:latin typeface="Google Sans"/>
              </a:rPr>
              <a:t>Windows Subsystem for Linux (WSL) 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is </a:t>
            </a:r>
            <a:r>
              <a:rPr lang="en-US" dirty="0">
                <a:solidFill>
                  <a:schemeClr val="bg1"/>
                </a:solidFill>
              </a:rPr>
              <a:t>a Microsoft feature that allows users to run a native GNU/Linux environment—including command-line tools, utilities, and applications—directly on Windows 10/11 or Windows Server</a:t>
            </a:r>
          </a:p>
        </p:txBody>
      </p:sp>
    </p:spTree>
    <p:extLst>
      <p:ext uri="{BB962C8B-B14F-4D97-AF65-F5344CB8AC3E}">
        <p14:creationId xmlns:p14="http://schemas.microsoft.com/office/powerpoint/2010/main" val="10666873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EDA1-0506-7439-E301-D3B39514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Key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A8913-AC34-D1BC-0CB3-541B25B897FF}"/>
              </a:ext>
            </a:extLst>
          </p:cNvPr>
          <p:cNvSpPr txBox="1"/>
          <p:nvPr/>
        </p:nvSpPr>
        <p:spPr>
          <a:xfrm>
            <a:off x="953729" y="1233948"/>
            <a:ext cx="64450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Docker Hub = think of it as similar to 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but for Docker Images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Docker Images = are snapshots and instructions bundled together; we use these to create a docker container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Docker container = is a running instance of a docker image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4B372-77A3-AA75-7BA1-656C0BC24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803534"/>
            <a:ext cx="4213123" cy="2086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C060C6-CFF8-034C-6E1E-1BE2F5E32292}"/>
              </a:ext>
            </a:extLst>
          </p:cNvPr>
          <p:cNvSpPr txBox="1"/>
          <p:nvPr/>
        </p:nvSpPr>
        <p:spPr>
          <a:xfrm>
            <a:off x="4984954" y="3967315"/>
            <a:ext cx="3409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Tags = are different versions (branches) </a:t>
            </a:r>
          </a:p>
        </p:txBody>
      </p:sp>
    </p:spTree>
    <p:extLst>
      <p:ext uri="{BB962C8B-B14F-4D97-AF65-F5344CB8AC3E}">
        <p14:creationId xmlns:p14="http://schemas.microsoft.com/office/powerpoint/2010/main" val="11431756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8438-CF77-CB06-6932-1C82D52E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Creation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E039D-87BB-413D-81C6-4E5BDE45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68" y="1164870"/>
            <a:ext cx="7022663" cy="500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51667E-C3C8-EFE2-0CED-FD556A6AB09D}"/>
              </a:ext>
            </a:extLst>
          </p:cNvPr>
          <p:cNvSpPr txBox="1"/>
          <p:nvPr/>
        </p:nvSpPr>
        <p:spPr>
          <a:xfrm>
            <a:off x="3962697" y="799305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a terminal: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9811-C865-2EEE-5ADD-4DF33B1F3CDC}"/>
              </a:ext>
            </a:extLst>
          </p:cNvPr>
          <p:cNvSpPr txBox="1"/>
          <p:nvPr/>
        </p:nvSpPr>
        <p:spPr>
          <a:xfrm>
            <a:off x="1398529" y="1723142"/>
            <a:ext cx="6366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MSSQL_PID = license version of MSSQL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MS SQL uses port 1433 by default, here we are just setting the docker container port to match; ‘-p &lt;</a:t>
            </a:r>
            <a:r>
              <a:rPr lang="en-US" dirty="0" err="1">
                <a:solidFill>
                  <a:schemeClr val="bg1"/>
                </a:solidFill>
              </a:rPr>
              <a:t>host_port</a:t>
            </a:r>
            <a:r>
              <a:rPr lang="en-US" dirty="0">
                <a:solidFill>
                  <a:schemeClr val="bg1"/>
                </a:solidFill>
              </a:rPr>
              <a:t>&gt;:&lt;</a:t>
            </a:r>
            <a:r>
              <a:rPr lang="en-US" dirty="0" err="1">
                <a:solidFill>
                  <a:schemeClr val="bg1"/>
                </a:solidFill>
              </a:rPr>
              <a:t>container_port</a:t>
            </a:r>
            <a:r>
              <a:rPr lang="en-US" dirty="0">
                <a:solidFill>
                  <a:schemeClr val="bg1"/>
                </a:solidFill>
              </a:rPr>
              <a:t>&gt;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Traffic sent through port 1433 on host is forwarded to port 1433 inside the container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 err="1">
                <a:solidFill>
                  <a:schemeClr val="bg1"/>
                </a:solidFill>
                <a:hlinkClick r:id="rId3"/>
              </a:rPr>
              <a:t>DockerHub</a:t>
            </a:r>
            <a:r>
              <a:rPr lang="en-US" dirty="0">
                <a:solidFill>
                  <a:schemeClr val="bg1"/>
                </a:solidFill>
                <a:hlinkClick r:id="rId3"/>
              </a:rPr>
              <a:t> link for MS SQL Server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C7CD59-7923-B513-C7D4-6C1BF8DB9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551" y="3728388"/>
            <a:ext cx="5822046" cy="136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864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CDADD-CEEC-E973-9B3E-22DF9EBF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the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38778-A474-1E9F-C0F0-80DB63AD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96" y="1389766"/>
            <a:ext cx="2976239" cy="687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3F6F6-6EBA-63CF-FE39-8F8BDFBCD362}"/>
              </a:ext>
            </a:extLst>
          </p:cNvPr>
          <p:cNvSpPr txBox="1"/>
          <p:nvPr/>
        </p:nvSpPr>
        <p:spPr>
          <a:xfrm>
            <a:off x="3908323" y="1402630"/>
            <a:ext cx="4955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ß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The API layer contains these files; development is only used in development mode, the other file is used only after the project is built and in prod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74033-86C7-0A91-7C1F-52FED2DD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890" y="3147481"/>
            <a:ext cx="6376219" cy="1787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552997-D92D-EE0B-40DB-16D4FC0AA856}"/>
              </a:ext>
            </a:extLst>
          </p:cNvPr>
          <p:cNvSpPr txBox="1"/>
          <p:nvPr/>
        </p:nvSpPr>
        <p:spPr>
          <a:xfrm>
            <a:off x="1918025" y="2694430"/>
            <a:ext cx="5327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connection string includes details from our Docker command:</a:t>
            </a:r>
          </a:p>
        </p:txBody>
      </p:sp>
    </p:spTree>
    <p:extLst>
      <p:ext uri="{BB962C8B-B14F-4D97-AF65-F5344CB8AC3E}">
        <p14:creationId xmlns:p14="http://schemas.microsoft.com/office/powerpoint/2010/main" val="5561067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B08C-2943-943B-70C8-BE766C50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EF 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89480-E184-A46C-6B2B-554E514A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8" y="1578203"/>
            <a:ext cx="6938651" cy="369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68D493-C512-FABA-8CC0-6EE5480DD683}"/>
              </a:ext>
            </a:extLst>
          </p:cNvPr>
          <p:cNvSpPr txBox="1"/>
          <p:nvPr/>
        </p:nvSpPr>
        <p:spPr>
          <a:xfrm>
            <a:off x="2463847" y="1101213"/>
            <a:ext cx="4235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EF Core’s CLI tools are installed globally via </a:t>
            </a:r>
            <a:r>
              <a:rPr lang="en-US" dirty="0" err="1">
                <a:solidFill>
                  <a:schemeClr val="bg1"/>
                </a:solidFill>
              </a:rPr>
              <a:t>nuget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9E8C2-3A38-F40F-0A14-D24494D95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191" y="2222090"/>
            <a:ext cx="2995618" cy="238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1E80E7-08AC-42F8-C166-E71493600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93" y="2828091"/>
            <a:ext cx="2255441" cy="12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908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5C96-1970-95EF-87E4-7E819036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FD68-14BC-A89E-E2BC-D665736C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What is Entity Framework Core?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9574F-729B-D0A2-B303-9DD90A217A40}"/>
              </a:ext>
            </a:extLst>
          </p:cNvPr>
          <p:cNvSpPr txBox="1"/>
          <p:nvPr/>
        </p:nvSpPr>
        <p:spPr>
          <a:xfrm>
            <a:off x="1800000" y="1308910"/>
            <a:ext cx="5544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Entity Framework Core </a:t>
            </a:r>
            <a:r>
              <a:rPr lang="en-US" dirty="0">
                <a:solidFill>
                  <a:schemeClr val="bg1"/>
                </a:solidFill>
              </a:rPr>
              <a:t>is a lightweight, extensible, open source and cross-platform version of the popular Entity Framework data access technology.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EF Core is an </a:t>
            </a:r>
            <a:r>
              <a:rPr lang="en-US" dirty="0">
                <a:solidFill>
                  <a:schemeClr val="accent3"/>
                </a:solidFill>
              </a:rPr>
              <a:t>O/RM</a:t>
            </a:r>
            <a:r>
              <a:rPr lang="en-US" dirty="0">
                <a:solidFill>
                  <a:schemeClr val="bg1"/>
                </a:solidFill>
              </a:rPr>
              <a:t>, which: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Enables .NET developers to work with a database using .NET objects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Eliminates the need for most of the data-access code that typically needs to be written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This is the second incarnation. Entity Framework 6 is an O/RM for .NET Framework; no longer being actively developed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Supports LINQ Queries, change tracking, updates, and schema migrations.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It is convention based. The shape of our models help dictate the migrations pushed to our SQL server.</a:t>
            </a:r>
          </a:p>
        </p:txBody>
      </p:sp>
    </p:spTree>
    <p:extLst>
      <p:ext uri="{BB962C8B-B14F-4D97-AF65-F5344CB8AC3E}">
        <p14:creationId xmlns:p14="http://schemas.microsoft.com/office/powerpoint/2010/main" val="2176989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462E-A26F-D6AC-23F3-023E74E6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D1C4B-FDB4-1149-1EAC-047C40C9572D}"/>
              </a:ext>
            </a:extLst>
          </p:cNvPr>
          <p:cNvSpPr txBox="1"/>
          <p:nvPr/>
        </p:nvSpPr>
        <p:spPr>
          <a:xfrm>
            <a:off x="423171" y="1366685"/>
            <a:ext cx="37215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Code-first migration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take </a:t>
            </a:r>
            <a:r>
              <a:rPr lang="en-US" dirty="0" err="1">
                <a:solidFill>
                  <a:schemeClr val="bg1"/>
                </a:solidFill>
              </a:rPr>
              <a:t>c#</a:t>
            </a:r>
            <a:r>
              <a:rPr lang="en-US" dirty="0">
                <a:solidFill>
                  <a:schemeClr val="bg1"/>
                </a:solidFill>
              </a:rPr>
              <a:t> models and the shape of them is used to create a ‘migration’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migration is then pushed to the SQL server, and database tables, fields, constraints, etc. are all created for 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9E094-A40D-4BF7-2C8F-62070C3B3FFC}"/>
              </a:ext>
            </a:extLst>
          </p:cNvPr>
          <p:cNvSpPr txBox="1"/>
          <p:nvPr/>
        </p:nvSpPr>
        <p:spPr>
          <a:xfrm>
            <a:off x="4999320" y="1366685"/>
            <a:ext cx="3721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Database-first migration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take a database and its current schema and we create code from it</a:t>
            </a:r>
          </a:p>
        </p:txBody>
      </p:sp>
    </p:spTree>
    <p:extLst>
      <p:ext uri="{BB962C8B-B14F-4D97-AF65-F5344CB8AC3E}">
        <p14:creationId xmlns:p14="http://schemas.microsoft.com/office/powerpoint/2010/main" val="42404968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1AA3-80BB-ACCF-3FE3-C61F5531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Migration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3DFE9-D742-988D-AC9F-F86CD612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74" y="932000"/>
            <a:ext cx="3479730" cy="617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B7652-84CE-B8EF-813A-46A01CA9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55" y="1552668"/>
            <a:ext cx="6062858" cy="3590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1AEEA-A54D-B94C-7A3D-66FEDD078AD2}"/>
              </a:ext>
            </a:extLst>
          </p:cNvPr>
          <p:cNvSpPr txBox="1"/>
          <p:nvPr/>
        </p:nvSpPr>
        <p:spPr>
          <a:xfrm>
            <a:off x="3982065" y="1032387"/>
            <a:ext cx="2778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 Create an individual migration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D002C-E755-6ECE-C2FD-A43D563536D3}"/>
              </a:ext>
            </a:extLst>
          </p:cNvPr>
          <p:cNvSpPr txBox="1"/>
          <p:nvPr/>
        </p:nvSpPr>
        <p:spPr>
          <a:xfrm>
            <a:off x="167149" y="3194194"/>
            <a:ext cx="26842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Migration files are generated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They describe and hold a record of what changes have been made to the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db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94F546-FFD0-BF5E-93AF-0592A169B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471" y="4576249"/>
            <a:ext cx="2709074" cy="5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1776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2467-05E9-8E82-2F40-92D3F0F1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 migration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27B9A-E970-F15A-B7FA-2CECCB5B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77" y="963177"/>
            <a:ext cx="3333296" cy="481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9AD5D-FB2A-AE0B-E597-BC341FBC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787" y="1475763"/>
            <a:ext cx="5379848" cy="3597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CE1BFB-2DAF-673B-3EF1-2728C0B01369}"/>
              </a:ext>
            </a:extLst>
          </p:cNvPr>
          <p:cNvSpPr txBox="1"/>
          <p:nvPr/>
        </p:nvSpPr>
        <p:spPr>
          <a:xfrm>
            <a:off x="3770673" y="998509"/>
            <a:ext cx="1943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 Apply the migration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7556C-CD6D-9649-D62F-AE87FD5E92E8}"/>
              </a:ext>
            </a:extLst>
          </p:cNvPr>
          <p:cNvSpPr txBox="1"/>
          <p:nvPr/>
        </p:nvSpPr>
        <p:spPr>
          <a:xfrm>
            <a:off x="993060" y="2571750"/>
            <a:ext cx="18238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We can now see the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db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schema in our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vscode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extension 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8072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F630-4BD0-232E-1513-EDB9D7CF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7926"/>
            <a:ext cx="7736700" cy="572700"/>
          </a:xfrm>
        </p:spPr>
        <p:txBody>
          <a:bodyPr/>
          <a:lstStyle/>
          <a:p>
            <a:r>
              <a:rPr lang="en-US" dirty="0"/>
              <a:t>SQL Server Management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64EF3-5471-C1CE-E9EE-A303F421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39" y="1245462"/>
            <a:ext cx="5400007" cy="3657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71933-7888-F57F-3A69-A4DD83E05737}"/>
              </a:ext>
            </a:extLst>
          </p:cNvPr>
          <p:cNvSpPr txBox="1"/>
          <p:nvPr/>
        </p:nvSpPr>
        <p:spPr>
          <a:xfrm>
            <a:off x="309716" y="1784555"/>
            <a:ext cx="26301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And this would be the official GUI tool to view the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r>
              <a:rPr lang="en-US" dirty="0">
                <a:solidFill>
                  <a:schemeClr val="bg1"/>
                </a:solidFill>
              </a:rPr>
              <a:t> and interact with it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Most used by job roles where sole focus is work in the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86404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7843-4297-F705-9C00-E0EC3FA2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EF Core commands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B7A21-1C40-6282-6DA5-AC93B1270F88}"/>
              </a:ext>
            </a:extLst>
          </p:cNvPr>
          <p:cNvSpPr txBox="1"/>
          <p:nvPr/>
        </p:nvSpPr>
        <p:spPr>
          <a:xfrm>
            <a:off x="514062" y="957739"/>
            <a:ext cx="813502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dotnet </a:t>
            </a:r>
            <a:r>
              <a:rPr lang="en-US" dirty="0" err="1">
                <a:solidFill>
                  <a:schemeClr val="accent3"/>
                </a:solidFill>
              </a:rPr>
              <a:t>ef</a:t>
            </a:r>
            <a:r>
              <a:rPr lang="en-US" dirty="0">
                <a:solidFill>
                  <a:schemeClr val="accent3"/>
                </a:solidFill>
              </a:rPr>
              <a:t> migrations remove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use when you generate a migration but don’t want to apply it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migrations list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shows applied vs pending migrations 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database drop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useful for resetting local docker SQL server; dangerous</a:t>
            </a:r>
          </a:p>
          <a:p>
            <a:endParaRPr lang="en-US" dirty="0">
              <a:solidFill>
                <a:schemeClr val="accent3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dbcontext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info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view extra information about the connection 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migrations bundle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creates an executable that can run migrations without the SDK installed; this is for use with docker deployments typically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accent3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 migrations script –idempotent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produces SQL from migration history; idempotent flag makes it safe to run multiple times, used in CI/CD pipelines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  <a:sym typeface="Wingdings" panose="05000000000000000000" pitchFamily="2" charset="2"/>
              </a:rPr>
              <a:t>Note: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use each with the following flags to select your correct projects in a multi-project solution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e.g. </a:t>
            </a:r>
          </a:p>
          <a:p>
            <a:pPr algn="ctr"/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dotnet </a:t>
            </a:r>
            <a:r>
              <a:rPr lang="en-US" dirty="0" err="1">
                <a:solidFill>
                  <a:schemeClr val="bg1"/>
                </a:solidFill>
                <a:sym typeface="Wingdings" panose="05000000000000000000" pitchFamily="2" charset="2"/>
              </a:rPr>
              <a:t>ef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database drop –p Persistence –s API</a:t>
            </a: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63989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685C-AAFF-464E-9527-18EB7BEF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3BD6-53F2-237D-F01B-CF5C7FC8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Level I Challenge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298B2-9F9B-29AC-3B34-92C30FEABCD1}"/>
              </a:ext>
            </a:extLst>
          </p:cNvPr>
          <p:cNvSpPr txBox="1"/>
          <p:nvPr/>
        </p:nvSpPr>
        <p:spPr>
          <a:xfrm>
            <a:off x="779228" y="1327868"/>
            <a:ext cx="198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model and database context.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635FF-3D2C-EE57-655E-27F6254BE63C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10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the database context for Activities. Create the database, connect to it, install EF Core and push migrations</a:t>
            </a:r>
          </a:p>
        </p:txBody>
      </p:sp>
    </p:spTree>
    <p:extLst>
      <p:ext uri="{BB962C8B-B14F-4D97-AF65-F5344CB8AC3E}">
        <p14:creationId xmlns:p14="http://schemas.microsoft.com/office/powerpoint/2010/main" val="39671786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E9C6-AC3E-7E44-C6F7-8D15AF71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FCFE1-39AA-1B47-098E-679BBC219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049" y="1043132"/>
            <a:ext cx="5877901" cy="4026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B57EE9-BC4E-6C09-84D8-549B932C6ACB}"/>
              </a:ext>
            </a:extLst>
          </p:cNvPr>
          <p:cNvSpPr txBox="1"/>
          <p:nvPr/>
        </p:nvSpPr>
        <p:spPr>
          <a:xfrm>
            <a:off x="122903" y="1848465"/>
            <a:ext cx="15760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persistence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DbInitializer.cs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046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4767-0095-CF91-A066-86A484B3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CAA0E-1C93-DD79-397B-14D958A7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18" y="1852259"/>
            <a:ext cx="4594450" cy="2302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D820F-7A17-065E-87E5-250D9570A30E}"/>
              </a:ext>
            </a:extLst>
          </p:cNvPr>
          <p:cNvSpPr txBox="1"/>
          <p:nvPr/>
        </p:nvSpPr>
        <p:spPr>
          <a:xfrm>
            <a:off x="5127522" y="1772532"/>
            <a:ext cx="367726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create a scope that will be disposed of once the app starts running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MigrateAsync</a:t>
            </a:r>
            <a:r>
              <a:rPr lang="en-US" dirty="0">
                <a:solidFill>
                  <a:schemeClr val="bg1"/>
                </a:solidFill>
              </a:rPr>
              <a:t>() pushes pending migrations automatically to our DB (don’t use in prod)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call a custom class/method to seed data into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Logging errors with a logger provided from DI container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(will talk more about logging later)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B484F-A972-0148-F28E-620641899FFE}"/>
              </a:ext>
            </a:extLst>
          </p:cNvPr>
          <p:cNvSpPr txBox="1"/>
          <p:nvPr/>
        </p:nvSpPr>
        <p:spPr>
          <a:xfrm>
            <a:off x="383458" y="1544482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473849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BAD8-3590-3EB7-2308-AAC2447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Base Api Controller (for later)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9FBCB-8B51-DEF7-93E3-DF554AEE0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192" y="1479755"/>
            <a:ext cx="4345246" cy="26739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DE0DD-C9CC-48E1-B26A-958C0B03EDB4}"/>
              </a:ext>
            </a:extLst>
          </p:cNvPr>
          <p:cNvSpPr txBox="1"/>
          <p:nvPr/>
        </p:nvSpPr>
        <p:spPr>
          <a:xfrm>
            <a:off x="2428568" y="1171978"/>
            <a:ext cx="3913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BaseApiController.cs</a:t>
            </a:r>
            <a:r>
              <a:rPr lang="en-US" b="1" dirty="0">
                <a:solidFill>
                  <a:schemeClr val="bg1"/>
                </a:solidFill>
              </a:rPr>
              <a:t> (in controllers folder):</a:t>
            </a:r>
          </a:p>
        </p:txBody>
      </p:sp>
    </p:spTree>
    <p:extLst>
      <p:ext uri="{BB962C8B-B14F-4D97-AF65-F5344CB8AC3E}">
        <p14:creationId xmlns:p14="http://schemas.microsoft.com/office/powerpoint/2010/main" val="230008753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15FB-7E53-2291-FB2B-2606436D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custom controller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83263-2658-0799-0145-A1518B51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6" y="2006274"/>
            <a:ext cx="3897757" cy="1693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1E564-216B-DC7C-4441-CCCEAAC427BC}"/>
              </a:ext>
            </a:extLst>
          </p:cNvPr>
          <p:cNvSpPr txBox="1"/>
          <p:nvPr/>
        </p:nvSpPr>
        <p:spPr>
          <a:xfrm>
            <a:off x="344426" y="1619345"/>
            <a:ext cx="3140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inherit the our </a:t>
            </a:r>
            <a:r>
              <a:rPr lang="en-US" dirty="0" err="1">
                <a:solidFill>
                  <a:schemeClr val="bg1"/>
                </a:solidFill>
              </a:rPr>
              <a:t>BaseApiController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347E3-6830-F0D0-4A07-5D97BA7B95D4}"/>
              </a:ext>
            </a:extLst>
          </p:cNvPr>
          <p:cNvSpPr txBox="1"/>
          <p:nvPr/>
        </p:nvSpPr>
        <p:spPr>
          <a:xfrm>
            <a:off x="4541270" y="2298794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our first endpoint: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93A07-89F5-A666-AAB6-CD8D8378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14465"/>
            <a:ext cx="4354502" cy="2316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844DCA-2B8C-56B6-18E8-C5EE0D1A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75" y="1367283"/>
            <a:ext cx="3181727" cy="9315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2A74EE-2D2F-82E7-3182-AAD9A30FBFEF}"/>
              </a:ext>
            </a:extLst>
          </p:cNvPr>
          <p:cNvSpPr txBox="1"/>
          <p:nvPr/>
        </p:nvSpPr>
        <p:spPr>
          <a:xfrm>
            <a:off x="4581575" y="1037303"/>
            <a:ext cx="3130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Db access (we will change this later):</a:t>
            </a:r>
          </a:p>
        </p:txBody>
      </p:sp>
    </p:spTree>
    <p:extLst>
      <p:ext uri="{BB962C8B-B14F-4D97-AF65-F5344CB8AC3E}">
        <p14:creationId xmlns:p14="http://schemas.microsoft.com/office/powerpoint/2010/main" val="349912624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3247-0C54-10C6-A10A-16BF8E57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an Activity by 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B51B8-1E49-E260-CA25-8ADF41C83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87" y="1330736"/>
            <a:ext cx="5597776" cy="294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667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F2FD-2E8C-32CF-74AB-F049B753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Params vs Query Params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C7CF35-8A48-047F-EA9A-C6B61C44D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68465"/>
              </p:ext>
            </p:extLst>
          </p:nvPr>
        </p:nvGraphicFramePr>
        <p:xfrm>
          <a:off x="404290" y="1399233"/>
          <a:ext cx="8335419" cy="1172517"/>
        </p:xfrm>
        <a:graphic>
          <a:graphicData uri="http://schemas.openxmlformats.org/drawingml/2006/table">
            <a:tbl>
              <a:tblPr/>
              <a:tblGrid>
                <a:gridCol w="1652780">
                  <a:extLst>
                    <a:ext uri="{9D8B030D-6E8A-4147-A177-3AD203B41FA5}">
                      <a16:colId xmlns:a16="http://schemas.microsoft.com/office/drawing/2014/main" val="4002141901"/>
                    </a:ext>
                  </a:extLst>
                </a:gridCol>
                <a:gridCol w="3207837">
                  <a:extLst>
                    <a:ext uri="{9D8B030D-6E8A-4147-A177-3AD203B41FA5}">
                      <a16:colId xmlns:a16="http://schemas.microsoft.com/office/drawing/2014/main" val="1066153691"/>
                    </a:ext>
                  </a:extLst>
                </a:gridCol>
                <a:gridCol w="3474802">
                  <a:extLst>
                    <a:ext uri="{9D8B030D-6E8A-4147-A177-3AD203B41FA5}">
                      <a16:colId xmlns:a16="http://schemas.microsoft.com/office/drawing/2014/main" val="1766003089"/>
                    </a:ext>
                  </a:extLst>
                </a:gridCol>
              </a:tblGrid>
              <a:tr h="26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+mj-lt"/>
                        </a:rPr>
                        <a:t>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+mj-lt"/>
                        </a:rPr>
                        <a:t>Example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+mj-lt"/>
                        </a:rPr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624136"/>
                  </a:ext>
                </a:extLst>
              </a:tr>
              <a:tr h="45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+mj-lt"/>
                        </a:rPr>
                        <a:t>Route parameter</a:t>
                      </a:r>
                      <a:endParaRPr lang="en-US" sz="110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+mj-lt"/>
                        </a:rPr>
                        <a:t>/</a:t>
                      </a:r>
                      <a:r>
                        <a:rPr lang="en-US" sz="1100" dirty="0" err="1">
                          <a:latin typeface="+mj-lt"/>
                        </a:rPr>
                        <a:t>api</a:t>
                      </a:r>
                      <a:r>
                        <a:rPr lang="en-US" sz="1100" dirty="0">
                          <a:latin typeface="+mj-lt"/>
                        </a:rPr>
                        <a:t>/activities/123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+mj-lt"/>
                        </a:rPr>
                        <a:t>Resource identification (most REST APIs)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48668"/>
                  </a:ext>
                </a:extLst>
              </a:tr>
              <a:tr h="45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+mj-lt"/>
                        </a:rPr>
                        <a:t>Query parameter</a:t>
                      </a:r>
                      <a:endParaRPr lang="en-US" sz="11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latin typeface="+mj-lt"/>
                        </a:rPr>
                        <a:t>/</a:t>
                      </a:r>
                      <a:r>
                        <a:rPr lang="en-US" sz="1100" b="0" dirty="0" err="1">
                          <a:latin typeface="+mj-lt"/>
                        </a:rPr>
                        <a:t>api</a:t>
                      </a:r>
                      <a:r>
                        <a:rPr lang="en-US" sz="1100" b="0" dirty="0">
                          <a:latin typeface="+mj-lt"/>
                        </a:rPr>
                        <a:t>/</a:t>
                      </a:r>
                      <a:r>
                        <a:rPr lang="en-US" sz="1100" b="0" dirty="0" err="1">
                          <a:latin typeface="+mj-lt"/>
                        </a:rPr>
                        <a:t>activities?category</a:t>
                      </a:r>
                      <a:r>
                        <a:rPr lang="en-US" sz="1100" b="0" dirty="0">
                          <a:latin typeface="+mj-lt"/>
                        </a:rPr>
                        <a:t>=</a:t>
                      </a:r>
                      <a:r>
                        <a:rPr lang="en-US" sz="1100" b="0" dirty="0" err="1">
                          <a:latin typeface="+mj-lt"/>
                        </a:rPr>
                        <a:t>running&amp;limit</a:t>
                      </a:r>
                      <a:r>
                        <a:rPr lang="en-US" sz="1100" b="0" dirty="0">
                          <a:latin typeface="+mj-lt"/>
                        </a:rPr>
                        <a:t>=10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+mj-lt"/>
                        </a:rPr>
                        <a:t>Filtering, searching, optional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01421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AECBCE6-26FA-E7C5-7FF4-9FA8CE7FA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3" y="3158336"/>
            <a:ext cx="4929683" cy="567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E27FB9-23F4-1000-ACA2-911C7FA3F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9" y="4210786"/>
            <a:ext cx="4605853" cy="832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83CB79-ED5D-1BD1-4DCC-94A0D8D99E33}"/>
              </a:ext>
            </a:extLst>
          </p:cNvPr>
          <p:cNvSpPr txBox="1"/>
          <p:nvPr/>
        </p:nvSpPr>
        <p:spPr>
          <a:xfrm>
            <a:off x="317369" y="2757948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a single route param: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2F9F4-86B5-2701-3CCF-F43280ACF16B}"/>
              </a:ext>
            </a:extLst>
          </p:cNvPr>
          <p:cNvSpPr txBox="1"/>
          <p:nvPr/>
        </p:nvSpPr>
        <p:spPr>
          <a:xfrm>
            <a:off x="317369" y="3859160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using multiple route params: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A78A5-DB54-9D50-C12A-9954DE05E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502" y="3378762"/>
            <a:ext cx="3511129" cy="9169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61BBF8-8541-1A78-E70D-79A842692D66}"/>
              </a:ext>
            </a:extLst>
          </p:cNvPr>
          <p:cNvSpPr txBox="1"/>
          <p:nvPr/>
        </p:nvSpPr>
        <p:spPr>
          <a:xfrm>
            <a:off x="5315502" y="3038983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query params:</a:t>
            </a:r>
          </a:p>
        </p:txBody>
      </p:sp>
    </p:spTree>
    <p:extLst>
      <p:ext uri="{BB962C8B-B14F-4D97-AF65-F5344CB8AC3E}">
        <p14:creationId xmlns:p14="http://schemas.microsoft.com/office/powerpoint/2010/main" val="36672694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AFF4-13D8-67C1-47CE-C7E7B861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codes to return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D63E46-13C8-C952-D2F6-DEEB2665C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404967"/>
              </p:ext>
            </p:extLst>
          </p:nvPr>
        </p:nvGraphicFramePr>
        <p:xfrm>
          <a:off x="139084" y="1460090"/>
          <a:ext cx="8926258" cy="2042160"/>
        </p:xfrm>
        <a:graphic>
          <a:graphicData uri="http://schemas.openxmlformats.org/drawingml/2006/table">
            <a:tbl>
              <a:tblPr/>
              <a:tblGrid>
                <a:gridCol w="2550761">
                  <a:extLst>
                    <a:ext uri="{9D8B030D-6E8A-4147-A177-3AD203B41FA5}">
                      <a16:colId xmlns:a16="http://schemas.microsoft.com/office/drawing/2014/main" val="1330097865"/>
                    </a:ext>
                  </a:extLst>
                </a:gridCol>
                <a:gridCol w="1606791">
                  <a:extLst>
                    <a:ext uri="{9D8B030D-6E8A-4147-A177-3AD203B41FA5}">
                      <a16:colId xmlns:a16="http://schemas.microsoft.com/office/drawing/2014/main" val="205253379"/>
                    </a:ext>
                  </a:extLst>
                </a:gridCol>
                <a:gridCol w="4768706">
                  <a:extLst>
                    <a:ext uri="{9D8B030D-6E8A-4147-A177-3AD203B41FA5}">
                      <a16:colId xmlns:a16="http://schemas.microsoft.com/office/drawing/2014/main" val="4232161956"/>
                    </a:ext>
                  </a:extLst>
                </a:gridCol>
              </a:tblGrid>
              <a:tr h="225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3"/>
                          </a:solidFill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3"/>
                          </a:solidFill>
                        </a:rPr>
                        <a:t>Status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3"/>
                          </a:solidFill>
                        </a:rPr>
                        <a:t>Method to use in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24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success with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 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Ok(</a:t>
                      </a:r>
                      <a:r>
                        <a:rPr lang="en-US" dirty="0" err="1"/>
                        <a:t>ItemReturned</a:t>
                      </a:r>
                      <a:r>
                        <a:rPr lang="en-US" dirty="0"/>
                        <a:t>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180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Created new resource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 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</a:t>
                      </a:r>
                      <a:r>
                        <a:rPr lang="en-US" dirty="0" err="1"/>
                        <a:t>CreatedAtAction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nameof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GetById</a:t>
                      </a:r>
                      <a:r>
                        <a:rPr lang="en-US" dirty="0"/>
                        <a:t>), new { id = </a:t>
                      </a:r>
                      <a:r>
                        <a:rPr lang="en-US" dirty="0" err="1"/>
                        <a:t>activity.Id</a:t>
                      </a:r>
                      <a:r>
                        <a:rPr lang="en-US" dirty="0"/>
                        <a:t> }, activity);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95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Deleted / updated (no body)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204 NoContent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</a:t>
                      </a:r>
                      <a:r>
                        <a:rPr lang="en-US" dirty="0" err="1"/>
                        <a:t>NoContent</a:t>
                      </a:r>
                      <a:r>
                        <a:rPr lang="en-US" dirty="0"/>
                        <a:t>();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94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Invalid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400 BadRequest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</a:t>
                      </a:r>
                      <a:r>
                        <a:rPr lang="en-US" dirty="0" err="1"/>
                        <a:t>BadRequest</a:t>
                      </a:r>
                      <a:r>
                        <a:rPr lang="en-US" dirty="0"/>
                        <a:t>("Invalid data");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512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found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404 </a:t>
                      </a:r>
                      <a:r>
                        <a:rPr lang="en-US" dirty="0" err="1"/>
                        <a:t>NotFound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</a:t>
                      </a:r>
                      <a:r>
                        <a:rPr lang="en-US" dirty="0" err="1"/>
                        <a:t>NotFound</a:t>
                      </a:r>
                      <a:r>
                        <a:rPr lang="en-US" dirty="0"/>
                        <a:t>();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700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0100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995E-9840-3725-9AAE-7FF17E11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9C17-DCA0-814C-FB52-F44DC65A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Controller 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440B7-A832-F5F9-A2CD-59D2441C9222}"/>
              </a:ext>
            </a:extLst>
          </p:cNvPr>
          <p:cNvSpPr txBox="1"/>
          <p:nvPr/>
        </p:nvSpPr>
        <p:spPr>
          <a:xfrm>
            <a:off x="779228" y="1327868"/>
            <a:ext cx="198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controller class for Activities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89ABA-C4BA-6D88-2F46-BBCE8E03084C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10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an endpoint that returns all Activities and another that returns a single activity based on its Id. Test with </a:t>
            </a:r>
            <a:r>
              <a:rPr lang="en-US" dirty="0" err="1">
                <a:solidFill>
                  <a:schemeClr val="bg1"/>
                </a:solidFill>
              </a:rPr>
              <a:t>Thunderclient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9985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818F-79F0-E89A-EF73-1BD70793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02A6-D67B-CB18-7E09-3A781F3C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43244"/>
            <a:ext cx="7736700" cy="572700"/>
          </a:xfrm>
        </p:spPr>
        <p:txBody>
          <a:bodyPr/>
          <a:lstStyle/>
          <a:p>
            <a:r>
              <a:rPr lang="en-US" dirty="0"/>
              <a:t>Design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9ADE5-889E-B029-2475-85C1D8522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06" y="1471186"/>
            <a:ext cx="8499987" cy="3583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54D19-12FB-9E40-F6E6-CF7B13B67A8C}"/>
              </a:ext>
            </a:extLst>
          </p:cNvPr>
          <p:cNvSpPr txBox="1"/>
          <p:nvPr/>
        </p:nvSpPr>
        <p:spPr>
          <a:xfrm>
            <a:off x="1772263" y="674937"/>
            <a:ext cx="5599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In software engineering, a </a:t>
            </a:r>
            <a:r>
              <a:rPr lang="en-US" b="1" i="0" dirty="0">
                <a:solidFill>
                  <a:schemeClr val="accent3"/>
                </a:solidFill>
                <a:effectLst/>
                <a:latin typeface="Google Sans"/>
              </a:rPr>
              <a:t>design pattern</a:t>
            </a:r>
            <a:r>
              <a:rPr lang="en-US" b="0" i="0" dirty="0">
                <a:solidFill>
                  <a:schemeClr val="accent3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is a general, reusable, and conceptual template for solving commonly occurring</a:t>
            </a:r>
            <a:r>
              <a:rPr lang="en-US" dirty="0">
                <a:solidFill>
                  <a:srgbClr val="E6E8F0"/>
                </a:solidFill>
                <a:latin typeface="Google Sans"/>
              </a:rPr>
              <a:t> </a:t>
            </a: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design problems.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17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E7FA-4EBC-C065-9E23-DFB917C1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r>
              <a:rPr lang="en-US" dirty="0"/>
              <a:t> IS a repo layer and </a:t>
            </a:r>
            <a:r>
              <a:rPr lang="en-US" dirty="0" err="1"/>
              <a:t>UoW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E9E8FC-8946-A590-2180-04BACD20F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729" y="1641538"/>
            <a:ext cx="4658032" cy="2186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378D5-1F98-FA71-6905-9802CCD49A35}"/>
              </a:ext>
            </a:extLst>
          </p:cNvPr>
          <p:cNvSpPr txBox="1"/>
          <p:nvPr/>
        </p:nvSpPr>
        <p:spPr>
          <a:xfrm>
            <a:off x="530942" y="1719328"/>
            <a:ext cx="31856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Even though this is the case, some may still build a repo layer or </a:t>
            </a:r>
            <a:r>
              <a:rPr lang="en-US" dirty="0" err="1">
                <a:solidFill>
                  <a:schemeClr val="bg1"/>
                </a:solidFill>
              </a:rPr>
              <a:t>UoW</a:t>
            </a:r>
            <a:r>
              <a:rPr lang="en-US" dirty="0">
                <a:solidFill>
                  <a:schemeClr val="bg1"/>
                </a:solidFill>
              </a:rPr>
              <a:t> outside of the </a:t>
            </a:r>
            <a:r>
              <a:rPr lang="en-US" dirty="0" err="1">
                <a:solidFill>
                  <a:schemeClr val="bg1"/>
                </a:solidFill>
              </a:rPr>
              <a:t>DbContext</a:t>
            </a:r>
            <a:r>
              <a:rPr lang="en-US" dirty="0">
                <a:solidFill>
                  <a:schemeClr val="bg1"/>
                </a:solidFill>
              </a:rPr>
              <a:t> object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Easier mocks for unit tests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UoW</a:t>
            </a:r>
            <a:r>
              <a:rPr lang="en-US" dirty="0">
                <a:solidFill>
                  <a:schemeClr val="bg1"/>
                </a:solidFill>
              </a:rPr>
              <a:t> needed if you need to make updates to multiple repos that use a separate </a:t>
            </a:r>
            <a:r>
              <a:rPr lang="en-US" dirty="0" err="1">
                <a:solidFill>
                  <a:schemeClr val="bg1"/>
                </a:solidFill>
              </a:rPr>
              <a:t>DbContext</a:t>
            </a:r>
            <a:r>
              <a:rPr lang="en-US" dirty="0">
                <a:solidFill>
                  <a:schemeClr val="bg1"/>
                </a:solidFill>
              </a:rPr>
              <a:t> object (multiple connection strings)</a:t>
            </a:r>
          </a:p>
        </p:txBody>
      </p:sp>
    </p:spTree>
    <p:extLst>
      <p:ext uri="{BB962C8B-B14F-4D97-AF65-F5344CB8AC3E}">
        <p14:creationId xmlns:p14="http://schemas.microsoft.com/office/powerpoint/2010/main" val="23733001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8D99-1CBA-D376-8A02-99B3B91F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98745"/>
            <a:ext cx="7736700" cy="572700"/>
          </a:xfrm>
        </p:spPr>
        <p:txBody>
          <a:bodyPr/>
          <a:lstStyle/>
          <a:p>
            <a:r>
              <a:rPr lang="en-US" dirty="0"/>
              <a:t>SOLID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8E65E-6F8E-4FE4-19A8-08090CC91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24" y="789432"/>
            <a:ext cx="5203551" cy="40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095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EC2D-F219-FDF6-BAA2-7E8773F4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49" y="338101"/>
            <a:ext cx="8228699" cy="572700"/>
          </a:xfrm>
        </p:spPr>
        <p:txBody>
          <a:bodyPr/>
          <a:lstStyle/>
          <a:p>
            <a:r>
              <a:rPr lang="en-US" dirty="0"/>
              <a:t>Create a Service with Dependency Injection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E9E0C-AE50-5F40-82B7-0A5C0370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86" y="1765080"/>
            <a:ext cx="5850194" cy="1295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2ECF66-4FE3-2200-ACD7-764E7EAE9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85" y="4331702"/>
            <a:ext cx="7373379" cy="304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5369D-3B08-B6AF-146B-6278F6536035}"/>
              </a:ext>
            </a:extLst>
          </p:cNvPr>
          <p:cNvSpPr txBox="1"/>
          <p:nvPr/>
        </p:nvSpPr>
        <p:spPr>
          <a:xfrm>
            <a:off x="1590287" y="1184052"/>
            <a:ext cx="598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class expects abstractions, not concretions. (dependency inversion)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BB6A-118E-BF51-52E3-E51D6C0204B5}"/>
              </a:ext>
            </a:extLst>
          </p:cNvPr>
          <p:cNvSpPr txBox="1"/>
          <p:nvPr/>
        </p:nvSpPr>
        <p:spPr>
          <a:xfrm>
            <a:off x="1306153" y="3959448"/>
            <a:ext cx="6531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Interfaces and concretions are registered for our DI container (</a:t>
            </a:r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B67266-AD34-3B32-0FBE-33545F46F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96" y="1937003"/>
            <a:ext cx="1936096" cy="9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4485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729F-75EC-F0B8-A6B3-8CD426FC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repo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BD9BA-A0A7-8861-91C2-FEA387EE08B6}"/>
              </a:ext>
            </a:extLst>
          </p:cNvPr>
          <p:cNvSpPr txBox="1"/>
          <p:nvPr/>
        </p:nvSpPr>
        <p:spPr>
          <a:xfrm>
            <a:off x="2318735" y="1132673"/>
            <a:ext cx="4506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It’s just another layer of abstraction, similar to how we made the service layer with dependency injection: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2335E-0EC9-EE95-B707-C19C2248D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6" y="2005436"/>
            <a:ext cx="3760839" cy="2342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88A65-918C-CC1C-64F5-A9F5E0D75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897" y="2005436"/>
            <a:ext cx="3874551" cy="24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1905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8318-6A5B-B482-E7A5-ACBFB799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Factory Design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0746D-6EE5-F26B-91DF-EEA33C058A42}"/>
              </a:ext>
            </a:extLst>
          </p:cNvPr>
          <p:cNvSpPr txBox="1"/>
          <p:nvPr/>
        </p:nvSpPr>
        <p:spPr>
          <a:xfrm>
            <a:off x="1312163" y="1341814"/>
            <a:ext cx="65388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factory design pattern centralizes object creation logic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It allows us to create objects without exposing the exact class being instantiated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E2F0A-1799-159F-0B60-2232344BF758}"/>
              </a:ext>
            </a:extLst>
          </p:cNvPr>
          <p:cNvSpPr txBox="1"/>
          <p:nvPr/>
        </p:nvSpPr>
        <p:spPr>
          <a:xfrm>
            <a:off x="310552" y="2788248"/>
            <a:ext cx="457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public static class </a:t>
            </a:r>
            <a:r>
              <a:rPr lang="en-US" sz="1100" dirty="0" err="1">
                <a:solidFill>
                  <a:schemeClr val="bg1"/>
                </a:solidFill>
              </a:rPr>
              <a:t>NotificationFactory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public static </a:t>
            </a:r>
            <a:r>
              <a:rPr lang="en-US" sz="1100" dirty="0" err="1">
                <a:solidFill>
                  <a:schemeClr val="bg1"/>
                </a:solidFill>
              </a:rPr>
              <a:t>INotificationService</a:t>
            </a:r>
            <a:r>
              <a:rPr lang="en-US" sz="1100" dirty="0">
                <a:solidFill>
                  <a:schemeClr val="bg1"/>
                </a:solidFill>
              </a:rPr>
              <a:t> Create(string type)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return </a:t>
            </a:r>
            <a:r>
              <a:rPr lang="en-US" sz="1100" dirty="0" err="1">
                <a:solidFill>
                  <a:schemeClr val="bg1"/>
                </a:solidFill>
              </a:rPr>
              <a:t>type.ToLower</a:t>
            </a:r>
            <a:r>
              <a:rPr lang="en-US" sz="1100" dirty="0">
                <a:solidFill>
                  <a:schemeClr val="bg1"/>
                </a:solidFill>
              </a:rPr>
              <a:t>() switch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    "email" =&gt; new </a:t>
            </a:r>
            <a:r>
              <a:rPr lang="en-US" sz="1100" dirty="0" err="1">
                <a:solidFill>
                  <a:schemeClr val="bg1"/>
                </a:solidFill>
              </a:rPr>
              <a:t>EmailNotificationService</a:t>
            </a:r>
            <a:r>
              <a:rPr lang="en-US" sz="1100" dirty="0">
                <a:solidFill>
                  <a:schemeClr val="bg1"/>
                </a:solidFill>
              </a:rPr>
              <a:t>(),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    "</a:t>
            </a:r>
            <a:r>
              <a:rPr lang="en-US" sz="1100" dirty="0" err="1">
                <a:solidFill>
                  <a:schemeClr val="bg1"/>
                </a:solidFill>
              </a:rPr>
              <a:t>sms</a:t>
            </a:r>
            <a:r>
              <a:rPr lang="en-US" sz="1100" dirty="0">
                <a:solidFill>
                  <a:schemeClr val="bg1"/>
                </a:solidFill>
              </a:rPr>
              <a:t>" =&gt; new </a:t>
            </a:r>
            <a:r>
              <a:rPr lang="en-US" sz="1100" dirty="0" err="1">
                <a:solidFill>
                  <a:schemeClr val="bg1"/>
                </a:solidFill>
              </a:rPr>
              <a:t>SmsNotificationService</a:t>
            </a:r>
            <a:r>
              <a:rPr lang="en-US" sz="1100" dirty="0">
                <a:solidFill>
                  <a:schemeClr val="bg1"/>
                </a:solidFill>
              </a:rPr>
              <a:t>(),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    _ =&gt; throw new </a:t>
            </a:r>
            <a:r>
              <a:rPr lang="en-US" sz="1100" dirty="0" err="1">
                <a:solidFill>
                  <a:schemeClr val="bg1"/>
                </a:solidFill>
              </a:rPr>
              <a:t>ArgumentException</a:t>
            </a:r>
            <a:r>
              <a:rPr lang="en-US" sz="1100" dirty="0">
                <a:solidFill>
                  <a:schemeClr val="bg1"/>
                </a:solidFill>
              </a:rPr>
              <a:t>("Invalid type")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    };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BDFA1-0C4B-CA8A-8640-E8898CC3A601}"/>
              </a:ext>
            </a:extLst>
          </p:cNvPr>
          <p:cNvSpPr txBox="1"/>
          <p:nvPr/>
        </p:nvSpPr>
        <p:spPr>
          <a:xfrm>
            <a:off x="4261448" y="278824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</a:rPr>
              <a:t>services.AddScoped</a:t>
            </a:r>
            <a:r>
              <a:rPr lang="en-US" sz="1100" dirty="0">
                <a:solidFill>
                  <a:schemeClr val="bg1"/>
                </a:solidFill>
              </a:rPr>
              <a:t>&lt;</a:t>
            </a:r>
            <a:r>
              <a:rPr lang="en-US" sz="1100" dirty="0" err="1">
                <a:solidFill>
                  <a:schemeClr val="bg1"/>
                </a:solidFill>
              </a:rPr>
              <a:t>INotificationService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EmailNotificationService</a:t>
            </a:r>
            <a:r>
              <a:rPr lang="en-US" sz="1100" dirty="0">
                <a:solidFill>
                  <a:schemeClr val="bg1"/>
                </a:solidFill>
              </a:rPr>
              <a:t>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2ABBF-B38A-3D08-70DA-5611AD59B01E}"/>
              </a:ext>
            </a:extLst>
          </p:cNvPr>
          <p:cNvSpPr txBox="1"/>
          <p:nvPr/>
        </p:nvSpPr>
        <p:spPr>
          <a:xfrm>
            <a:off x="310552" y="2480471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6C00F-FD92-3946-E88F-187214563A1A}"/>
              </a:ext>
            </a:extLst>
          </p:cNvPr>
          <p:cNvSpPr txBox="1"/>
          <p:nvPr/>
        </p:nvSpPr>
        <p:spPr>
          <a:xfrm>
            <a:off x="4180937" y="2466521"/>
            <a:ext cx="4722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 the hood, </a:t>
            </a:r>
            <a:r>
              <a:rPr lang="en-US" dirty="0" err="1">
                <a:solidFill>
                  <a:schemeClr val="bg1"/>
                </a:solidFill>
              </a:rPr>
              <a:t>ASP.net’s</a:t>
            </a:r>
            <a:r>
              <a:rPr lang="en-US" dirty="0">
                <a:solidFill>
                  <a:schemeClr val="bg1"/>
                </a:solidFill>
              </a:rPr>
              <a:t> DI container acts as a factory:</a:t>
            </a:r>
          </a:p>
        </p:txBody>
      </p:sp>
    </p:spTree>
    <p:extLst>
      <p:ext uri="{BB962C8B-B14F-4D97-AF65-F5344CB8AC3E}">
        <p14:creationId xmlns:p14="http://schemas.microsoft.com/office/powerpoint/2010/main" val="403191893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F8E3-8738-CEF7-62A6-01F1FF79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Constructors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75FB4-7313-634E-AF44-56E23A188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91" y="3219992"/>
            <a:ext cx="4653420" cy="1371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890A27-A7F1-55C7-8360-6592E7894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6" y="1312922"/>
            <a:ext cx="3142430" cy="2517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A301-30EE-03DC-9A87-5CC23A7704A5}"/>
              </a:ext>
            </a:extLst>
          </p:cNvPr>
          <p:cNvSpPr txBox="1"/>
          <p:nvPr/>
        </p:nvSpPr>
        <p:spPr>
          <a:xfrm>
            <a:off x="3977162" y="1699221"/>
            <a:ext cx="46394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Instead of writing a constructor…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primary constructor’s params may be used throughout</a:t>
            </a:r>
          </a:p>
        </p:txBody>
      </p:sp>
    </p:spTree>
    <p:extLst>
      <p:ext uri="{BB962C8B-B14F-4D97-AF65-F5344CB8AC3E}">
        <p14:creationId xmlns:p14="http://schemas.microsoft.com/office/powerpoint/2010/main" val="13861655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488E-2FC2-8D4F-671F-207E7E4E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in ASP.net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43454-B5CC-C264-7396-F51CC00DB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67" y="1229647"/>
            <a:ext cx="4984363" cy="3292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DFAE30-4380-EE98-8246-2A81E778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6" y="1997937"/>
            <a:ext cx="3737649" cy="1865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F8521-1765-9A87-C58D-9601C70EE9BE}"/>
              </a:ext>
            </a:extLst>
          </p:cNvPr>
          <p:cNvSpPr txBox="1"/>
          <p:nvPr/>
        </p:nvSpPr>
        <p:spPr>
          <a:xfrm>
            <a:off x="52856" y="1690160"/>
            <a:ext cx="2848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 (before app is made):</a:t>
            </a:r>
          </a:p>
        </p:txBody>
      </p:sp>
    </p:spTree>
    <p:extLst>
      <p:ext uri="{BB962C8B-B14F-4D97-AF65-F5344CB8AC3E}">
        <p14:creationId xmlns:p14="http://schemas.microsoft.com/office/powerpoint/2010/main" val="209015108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5E0F-8930-2776-4F70-3BCF4276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82A60-104E-FE88-E637-61229AB6F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487" y="1936248"/>
            <a:ext cx="3516142" cy="1509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20BC86-69E8-35FD-A925-069A68D9B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82" y="1462194"/>
            <a:ext cx="4050980" cy="1365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96CFBC-4A50-D87D-B8D8-9BD286012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23" y="2998505"/>
            <a:ext cx="4661298" cy="16994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1295BC-E50D-66D9-994D-C42DB21E1B93}"/>
              </a:ext>
            </a:extLst>
          </p:cNvPr>
          <p:cNvSpPr txBox="1"/>
          <p:nvPr/>
        </p:nvSpPr>
        <p:spPr>
          <a:xfrm>
            <a:off x="548782" y="1126346"/>
            <a:ext cx="1898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ActivitiesController.cs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15619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F479-6155-8BA6-8C6E-DB1F96A0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3827C-C4AF-9B2C-EE0A-2C245315F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1521240"/>
            <a:ext cx="3904397" cy="1499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2235B3-F378-4A10-CAC0-5E059B5D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515" y="1828800"/>
            <a:ext cx="4646463" cy="347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340BB-3906-91B9-56C6-98694A5FB173}"/>
              </a:ext>
            </a:extLst>
          </p:cNvPr>
          <p:cNvSpPr txBox="1"/>
          <p:nvPr/>
        </p:nvSpPr>
        <p:spPr>
          <a:xfrm>
            <a:off x="3047340" y="973394"/>
            <a:ext cx="3068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a test project and add to </a:t>
            </a:r>
            <a:r>
              <a:rPr lang="en-US" dirty="0" err="1">
                <a:solidFill>
                  <a:schemeClr val="bg1"/>
                </a:solidFill>
              </a:rPr>
              <a:t>sln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9B82DF-09DB-B1C9-E7B0-5D5FE4A65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542" y="3278653"/>
            <a:ext cx="2056356" cy="1505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5A3241-17B0-CA40-E268-0788754D7C24}"/>
              </a:ext>
            </a:extLst>
          </p:cNvPr>
          <p:cNvSpPr txBox="1"/>
          <p:nvPr/>
        </p:nvSpPr>
        <p:spPr>
          <a:xfrm>
            <a:off x="2168508" y="3609533"/>
            <a:ext cx="3348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Moq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FluentAssertions</a:t>
            </a:r>
            <a:r>
              <a:rPr lang="en-US" dirty="0">
                <a:solidFill>
                  <a:schemeClr val="bg1"/>
                </a:solidFill>
              </a:rPr>
              <a:t> are popular packages that make testing easier, you can add them to our </a:t>
            </a:r>
            <a:r>
              <a:rPr lang="en-US" dirty="0" err="1">
                <a:solidFill>
                  <a:schemeClr val="bg1"/>
                </a:solidFill>
              </a:rPr>
              <a:t>test.csproj</a:t>
            </a:r>
            <a:r>
              <a:rPr lang="en-US" dirty="0">
                <a:solidFill>
                  <a:schemeClr val="bg1"/>
                </a:solidFill>
              </a:rPr>
              <a:t> via </a:t>
            </a:r>
            <a:r>
              <a:rPr lang="en-US" dirty="0" err="1">
                <a:solidFill>
                  <a:schemeClr val="bg1"/>
                </a:solidFill>
              </a:rPr>
              <a:t>nuget</a:t>
            </a:r>
            <a:r>
              <a:rPr lang="en-US" dirty="0">
                <a:solidFill>
                  <a:schemeClr val="bg1"/>
                </a:solidFill>
              </a:rPr>
              <a:t> gallery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50104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D851-7B52-D3F9-567D-B2FF783B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289D6-7305-6D0D-1C14-91BD04802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658" y="1026157"/>
            <a:ext cx="4817601" cy="3871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1F9DE4-4899-CEDA-4C51-86030BD1F591}"/>
              </a:ext>
            </a:extLst>
          </p:cNvPr>
          <p:cNvSpPr txBox="1"/>
          <p:nvPr/>
        </p:nvSpPr>
        <p:spPr>
          <a:xfrm>
            <a:off x="83572" y="1278194"/>
            <a:ext cx="371659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[Fact] – required to register a test method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Test method names follow convention of: “</a:t>
            </a:r>
            <a:r>
              <a:rPr lang="en-US" sz="1000" dirty="0" err="1">
                <a:solidFill>
                  <a:schemeClr val="bg1"/>
                </a:solidFill>
              </a:rPr>
              <a:t>MethodWeAreTesting_ThingWeAreChecking_condition</a:t>
            </a:r>
            <a:r>
              <a:rPr lang="en-US" sz="1000" dirty="0">
                <a:solidFill>
                  <a:schemeClr val="bg1"/>
                </a:solidFill>
              </a:rPr>
              <a:t>”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E.g. </a:t>
            </a:r>
            <a:r>
              <a:rPr lang="en-US" sz="1000" dirty="0" err="1">
                <a:solidFill>
                  <a:schemeClr val="bg1"/>
                </a:solidFill>
              </a:rPr>
              <a:t>GetActivityAsync_ReturnsActivity_WhenIdExists</a:t>
            </a:r>
            <a:r>
              <a:rPr lang="en-US" sz="1000" dirty="0">
                <a:solidFill>
                  <a:schemeClr val="bg1"/>
                </a:solidFill>
              </a:rPr>
              <a:t>()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sz="1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We use </a:t>
            </a:r>
            <a:r>
              <a:rPr lang="en-US" sz="1000" dirty="0" err="1">
                <a:solidFill>
                  <a:schemeClr val="bg1"/>
                </a:solidFill>
              </a:rPr>
              <a:t>Moq</a:t>
            </a:r>
            <a:r>
              <a:rPr lang="en-US" sz="1000" dirty="0">
                <a:solidFill>
                  <a:schemeClr val="bg1"/>
                </a:solidFill>
              </a:rPr>
              <a:t> to mock the repo layer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sz="1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Arrange, Act, Assert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Assertions – make claims about data/output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Verification – makes claims about behavior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sz="1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sz="1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Verify() method comes from </a:t>
            </a:r>
            <a:r>
              <a:rPr lang="en-US" sz="1000" dirty="0" err="1">
                <a:solidFill>
                  <a:schemeClr val="bg1"/>
                </a:solidFill>
              </a:rPr>
              <a:t>Moq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2957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DFE7-D57A-95DA-D737-4DD1E927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CB0-2AB9-5FC4-B365-463A543D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– Assert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F988B-65F9-3391-BAE8-588132AFBD4A}"/>
              </a:ext>
            </a:extLst>
          </p:cNvPr>
          <p:cNvSpPr txBox="1"/>
          <p:nvPr/>
        </p:nvSpPr>
        <p:spPr>
          <a:xfrm>
            <a:off x="120769" y="1029326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Equality: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Assert.Equal</a:t>
            </a:r>
            <a:r>
              <a:rPr lang="en-US" dirty="0">
                <a:solidFill>
                  <a:schemeClr val="bg1"/>
                </a:solidFill>
              </a:rPr>
              <a:t>(expected, actual);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Assert.NotEqual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notExpected</a:t>
            </a:r>
            <a:r>
              <a:rPr lang="en-US" dirty="0">
                <a:solidFill>
                  <a:schemeClr val="bg1"/>
                </a:solidFill>
              </a:rPr>
              <a:t>, actual);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Boolean: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Assert.True</a:t>
            </a:r>
            <a:r>
              <a:rPr lang="en-US" dirty="0">
                <a:solidFill>
                  <a:schemeClr val="bg1"/>
                </a:solidFill>
              </a:rPr>
              <a:t>(condition);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Assert.False</a:t>
            </a:r>
            <a:r>
              <a:rPr lang="en-US" dirty="0">
                <a:solidFill>
                  <a:schemeClr val="bg1"/>
                </a:solidFill>
              </a:rPr>
              <a:t>(condition);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Null: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Assert.Null</a:t>
            </a:r>
            <a:r>
              <a:rPr lang="en-US" dirty="0">
                <a:solidFill>
                  <a:schemeClr val="bg1"/>
                </a:solidFill>
              </a:rPr>
              <a:t>(object);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Assert.NotNull</a:t>
            </a:r>
            <a:r>
              <a:rPr lang="en-US" dirty="0">
                <a:solidFill>
                  <a:schemeClr val="bg1"/>
                </a:solidFill>
              </a:rPr>
              <a:t>(object);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Type: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Assert.IsType</a:t>
            </a:r>
            <a:r>
              <a:rPr lang="en-US" dirty="0">
                <a:solidFill>
                  <a:schemeClr val="bg1"/>
                </a:solidFill>
              </a:rPr>
              <a:t>&lt;T&gt;(object);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Assert.IsNotType</a:t>
            </a:r>
            <a:r>
              <a:rPr lang="en-US" dirty="0">
                <a:solidFill>
                  <a:schemeClr val="bg1"/>
                </a:solidFill>
              </a:rPr>
              <a:t>&lt;T&gt;(object);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Collection: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Assert.Contains</a:t>
            </a:r>
            <a:r>
              <a:rPr lang="en-US" dirty="0">
                <a:solidFill>
                  <a:schemeClr val="bg1"/>
                </a:solidFill>
              </a:rPr>
              <a:t>(item, collection);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Assert.DoesNotContain</a:t>
            </a:r>
            <a:r>
              <a:rPr lang="en-US" dirty="0">
                <a:solidFill>
                  <a:schemeClr val="bg1"/>
                </a:solidFill>
              </a:rPr>
              <a:t>(item, collection);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Assert.Empty</a:t>
            </a:r>
            <a:r>
              <a:rPr lang="en-US" dirty="0">
                <a:solidFill>
                  <a:schemeClr val="bg1"/>
                </a:solidFill>
              </a:rPr>
              <a:t>(collection);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Assert.NotEmpty</a:t>
            </a:r>
            <a:r>
              <a:rPr lang="en-US" dirty="0">
                <a:solidFill>
                  <a:schemeClr val="bg1"/>
                </a:solidFill>
              </a:rPr>
              <a:t>(collection);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86E0C-DB01-E531-252E-E3D6010921A3}"/>
              </a:ext>
            </a:extLst>
          </p:cNvPr>
          <p:cNvSpPr txBox="1"/>
          <p:nvPr/>
        </p:nvSpPr>
        <p:spPr>
          <a:xfrm>
            <a:off x="4248860" y="1266565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Exception: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Assert.Throws</a:t>
            </a:r>
            <a:r>
              <a:rPr lang="en-US" dirty="0">
                <a:solidFill>
                  <a:schemeClr val="bg1"/>
                </a:solidFill>
              </a:rPr>
              <a:t>&lt;</a:t>
            </a:r>
            <a:r>
              <a:rPr lang="en-US" dirty="0" err="1">
                <a:solidFill>
                  <a:schemeClr val="bg1"/>
                </a:solidFill>
              </a:rPr>
              <a:t>TException</a:t>
            </a:r>
            <a:r>
              <a:rPr lang="en-US" dirty="0">
                <a:solidFill>
                  <a:schemeClr val="bg1"/>
                </a:solidFill>
              </a:rPr>
              <a:t>&gt;(() =&gt; method());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Assert.DoesNotThrow</a:t>
            </a:r>
            <a:r>
              <a:rPr lang="en-US" dirty="0">
                <a:solidFill>
                  <a:schemeClr val="bg1"/>
                </a:solidFill>
              </a:rPr>
              <a:t>(() =&gt; method()); // not in </a:t>
            </a:r>
            <a:r>
              <a:rPr lang="en-US" dirty="0" err="1">
                <a:solidFill>
                  <a:schemeClr val="bg1"/>
                </a:solidFill>
              </a:rPr>
              <a:t>xUnit</a:t>
            </a:r>
            <a:r>
              <a:rPr lang="en-US" dirty="0">
                <a:solidFill>
                  <a:schemeClr val="bg1"/>
                </a:solidFill>
              </a:rPr>
              <a:t> (important!)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String: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Assert.StartsWith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expectedStart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actualString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Assert.EndsWith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expectedEnd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actualString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Assert.Matches</a:t>
            </a:r>
            <a:r>
              <a:rPr lang="en-US" dirty="0">
                <a:solidFill>
                  <a:schemeClr val="bg1"/>
                </a:solidFill>
              </a:rPr>
              <a:t>(pattern, </a:t>
            </a:r>
            <a:r>
              <a:rPr lang="en-US" dirty="0" err="1">
                <a:solidFill>
                  <a:schemeClr val="bg1"/>
                </a:solidFill>
              </a:rPr>
              <a:t>actualString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Range: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Assert.InRange</a:t>
            </a:r>
            <a:r>
              <a:rPr lang="en-US" dirty="0">
                <a:solidFill>
                  <a:schemeClr val="bg1"/>
                </a:solidFill>
              </a:rPr>
              <a:t>(value, low, high);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Assert.NotInRange</a:t>
            </a:r>
            <a:r>
              <a:rPr lang="en-US" dirty="0">
                <a:solidFill>
                  <a:schemeClr val="bg1"/>
                </a:solidFill>
              </a:rPr>
              <a:t>(value, low, high);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Reference: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Assert.Same</a:t>
            </a:r>
            <a:r>
              <a:rPr lang="en-US" dirty="0">
                <a:solidFill>
                  <a:schemeClr val="bg1"/>
                </a:solidFill>
              </a:rPr>
              <a:t>(expected, actual);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Assert.NotSame</a:t>
            </a:r>
            <a:r>
              <a:rPr lang="en-US" dirty="0">
                <a:solidFill>
                  <a:schemeClr val="bg1"/>
                </a:solidFill>
              </a:rPr>
              <a:t>(expected, actual);</a:t>
            </a:r>
          </a:p>
        </p:txBody>
      </p:sp>
    </p:spTree>
    <p:extLst>
      <p:ext uri="{BB962C8B-B14F-4D97-AF65-F5344CB8AC3E}">
        <p14:creationId xmlns:p14="http://schemas.microsoft.com/office/powerpoint/2010/main" val="218956505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104A80-905B-7602-E982-F9F83D83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77D1-ACEE-F709-8A10-A0DB0627D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Creating a Minimal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9A502-727A-B941-D27E-99B7005E5151}"/>
              </a:ext>
            </a:extLst>
          </p:cNvPr>
          <p:cNvSpPr txBox="1"/>
          <p:nvPr/>
        </p:nvSpPr>
        <p:spPr>
          <a:xfrm>
            <a:off x="5364000" y="1821374"/>
            <a:ext cx="36263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Program.cs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Our services are built into the app via Dependency Injection.</a:t>
            </a:r>
          </a:p>
          <a:p>
            <a:r>
              <a:rPr lang="en-US" dirty="0">
                <a:solidFill>
                  <a:schemeClr val="bg1"/>
                </a:solidFill>
              </a:rPr>
              <a:t>-  Endpoints are mapped to asynchronous anonymous functions.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69A2A-EA37-973C-5B70-008A0543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31" y="1232550"/>
            <a:ext cx="4920603" cy="26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8480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E902BD-C82C-4C0E-055F-072D4769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EAAA-4F89-AD66-6104-51FACEC1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223483"/>
            <a:ext cx="7736700" cy="572700"/>
          </a:xfrm>
        </p:spPr>
        <p:txBody>
          <a:bodyPr/>
          <a:lstStyle/>
          <a:p>
            <a:r>
              <a:rPr lang="en-US" dirty="0"/>
              <a:t>Testing Our Minimal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B7EC4-A81A-7BC2-2426-C95502557B7C}"/>
              </a:ext>
            </a:extLst>
          </p:cNvPr>
          <p:cNvSpPr txBox="1"/>
          <p:nvPr/>
        </p:nvSpPr>
        <p:spPr>
          <a:xfrm>
            <a:off x="4701602" y="2048530"/>
            <a:ext cx="36263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Program.cs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Swagger is a robust API testing toolkit</a:t>
            </a:r>
          </a:p>
          <a:p>
            <a:r>
              <a:rPr lang="en-US" dirty="0">
                <a:solidFill>
                  <a:schemeClr val="bg1"/>
                </a:solidFill>
              </a:rPr>
              <a:t>- GUI Provided</a:t>
            </a:r>
          </a:p>
          <a:p>
            <a:r>
              <a:rPr lang="en-US" dirty="0">
                <a:solidFill>
                  <a:schemeClr val="bg1"/>
                </a:solidFill>
              </a:rPr>
              <a:t>- Easily see HTTP status codes, response bodies, response headers, and more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EB67B-8D09-F84A-5A62-5074B72E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29" y="1882662"/>
            <a:ext cx="4061671" cy="2780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3BA90C-1B9F-A103-0919-55ABCE8F6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470" y="1161056"/>
            <a:ext cx="5449060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873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E90C42-E555-124B-B738-33A6EE7B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0A95-3FF2-5824-CD82-5BC14EC2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Level I Challenge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02BCE-6132-4DFE-7700-FC49D19A2FE5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Finish the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83560-863C-032A-C8D4-0CEB09FCEB6F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and test an API that can create cars, return a list of all cars, and return all cars of a certain year. </a:t>
            </a:r>
          </a:p>
        </p:txBody>
      </p:sp>
    </p:spTree>
    <p:extLst>
      <p:ext uri="{BB962C8B-B14F-4D97-AF65-F5344CB8AC3E}">
        <p14:creationId xmlns:p14="http://schemas.microsoft.com/office/powerpoint/2010/main" val="18819207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9ABCC7-3CF6-FD46-95A8-F0941C84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916C-F15F-7B55-E74F-42E98179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43244"/>
            <a:ext cx="7736700" cy="572700"/>
          </a:xfrm>
        </p:spPr>
        <p:txBody>
          <a:bodyPr/>
          <a:lstStyle/>
          <a:p>
            <a:r>
              <a:rPr lang="en-US" dirty="0"/>
              <a:t>Unit Of Work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87CFC-7CBC-39A2-FC89-29FD621D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07" y="2571750"/>
            <a:ext cx="6549582" cy="2347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5831E-26E3-8371-0374-3DA93C0A55F4}"/>
              </a:ext>
            </a:extLst>
          </p:cNvPr>
          <p:cNvSpPr txBox="1"/>
          <p:nvPr/>
        </p:nvSpPr>
        <p:spPr>
          <a:xfrm>
            <a:off x="1335916" y="755868"/>
            <a:ext cx="64721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Sometimes we may wish to have multiple </a:t>
            </a:r>
            <a:r>
              <a:rPr lang="en-US" dirty="0" err="1">
                <a:solidFill>
                  <a:schemeClr val="bg1"/>
                </a:solidFill>
              </a:rPr>
              <a:t>DbContexts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When we need to work with a distributed system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To organize access to our entity types </a:t>
            </a:r>
          </a:p>
          <a:p>
            <a:pPr marL="285750" lvl="1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i.e. the </a:t>
            </a:r>
            <a:r>
              <a:rPr lang="en-US" dirty="0" err="1">
                <a:solidFill>
                  <a:schemeClr val="bg1"/>
                </a:solidFill>
              </a:rPr>
              <a:t>AccountDbContext</a:t>
            </a:r>
            <a:r>
              <a:rPr lang="en-US" dirty="0">
                <a:solidFill>
                  <a:schemeClr val="bg1"/>
                </a:solidFill>
              </a:rPr>
              <a:t> includes the </a:t>
            </a:r>
            <a:r>
              <a:rPr lang="en-US" dirty="0" err="1">
                <a:solidFill>
                  <a:schemeClr val="bg1"/>
                </a:solidFill>
              </a:rPr>
              <a:t>DbSet</a:t>
            </a:r>
            <a:r>
              <a:rPr lang="en-US" dirty="0">
                <a:solidFill>
                  <a:schemeClr val="bg1"/>
                </a:solidFill>
              </a:rPr>
              <a:t> for Accounts (companies we do business with), but we may also want to include Contacts (employees at those companies)</a:t>
            </a:r>
          </a:p>
          <a:p>
            <a:pPr marL="285750" lvl="1" indent="-285750">
              <a:buClr>
                <a:schemeClr val="bg1"/>
              </a:buClr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i.e</a:t>
            </a:r>
            <a:r>
              <a:rPr lang="en-US" dirty="0">
                <a:solidFill>
                  <a:schemeClr val="bg1"/>
                </a:solidFill>
              </a:rPr>
              <a:t> the </a:t>
            </a:r>
            <a:r>
              <a:rPr lang="en-US" dirty="0" err="1">
                <a:solidFill>
                  <a:schemeClr val="bg1"/>
                </a:solidFill>
              </a:rPr>
              <a:t>SalesDbContext</a:t>
            </a:r>
            <a:r>
              <a:rPr lang="en-US" dirty="0">
                <a:solidFill>
                  <a:schemeClr val="bg1"/>
                </a:solidFill>
              </a:rPr>
              <a:t> includes the </a:t>
            </a:r>
            <a:r>
              <a:rPr lang="en-US" dirty="0" err="1">
                <a:solidFill>
                  <a:schemeClr val="bg1"/>
                </a:solidFill>
              </a:rPr>
              <a:t>DbSet</a:t>
            </a:r>
            <a:r>
              <a:rPr lang="en-US" dirty="0">
                <a:solidFill>
                  <a:schemeClr val="bg1"/>
                </a:solidFill>
              </a:rPr>
              <a:t> for Opportunities (potential sales with Accounts), but we may also want to include Invoices (individual sales)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35334-8536-E132-CDCC-07204B285183}"/>
              </a:ext>
            </a:extLst>
          </p:cNvPr>
          <p:cNvSpPr txBox="1"/>
          <p:nvPr/>
        </p:nvSpPr>
        <p:spPr>
          <a:xfrm>
            <a:off x="129437" y="3012897"/>
            <a:ext cx="12064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service layer: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This can fail for related records!</a:t>
            </a:r>
          </a:p>
        </p:txBody>
      </p:sp>
    </p:spTree>
    <p:extLst>
      <p:ext uri="{BB962C8B-B14F-4D97-AF65-F5344CB8AC3E}">
        <p14:creationId xmlns:p14="http://schemas.microsoft.com/office/powerpoint/2010/main" val="34192569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E78B6E-5536-78C9-0C94-469CEAB3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7598-972A-FEDF-456A-03355989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43244"/>
            <a:ext cx="7736700" cy="572700"/>
          </a:xfrm>
        </p:spPr>
        <p:txBody>
          <a:bodyPr/>
          <a:lstStyle/>
          <a:p>
            <a:r>
              <a:rPr lang="en-US" dirty="0"/>
              <a:t>Unit Of Work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BE2E1-EBDB-9791-43B8-50224B47B37B}"/>
              </a:ext>
            </a:extLst>
          </p:cNvPr>
          <p:cNvSpPr txBox="1"/>
          <p:nvPr/>
        </p:nvSpPr>
        <p:spPr>
          <a:xfrm>
            <a:off x="3613243" y="845388"/>
            <a:ext cx="1917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Without Unit Of Work: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CE20F-42DC-A5FB-0D01-B68BBF449282}"/>
              </a:ext>
            </a:extLst>
          </p:cNvPr>
          <p:cNvSpPr txBox="1"/>
          <p:nvPr/>
        </p:nvSpPr>
        <p:spPr>
          <a:xfrm>
            <a:off x="3737475" y="2417861"/>
            <a:ext cx="1669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With Unit Of Work: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FBBC1-34CF-4181-BB80-B2AD9B102CC6}"/>
              </a:ext>
            </a:extLst>
          </p:cNvPr>
          <p:cNvSpPr txBox="1"/>
          <p:nvPr/>
        </p:nvSpPr>
        <p:spPr>
          <a:xfrm>
            <a:off x="974785" y="1570008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Service Layer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BECAEE6-DDCD-2B3D-EF5C-3E5E78285623}"/>
              </a:ext>
            </a:extLst>
          </p:cNvPr>
          <p:cNvSpPr/>
          <p:nvPr/>
        </p:nvSpPr>
        <p:spPr>
          <a:xfrm>
            <a:off x="2518913" y="1570009"/>
            <a:ext cx="491705" cy="30777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E232D-0FBF-E10D-6A3E-A7A15B0BFB4A}"/>
              </a:ext>
            </a:extLst>
          </p:cNvPr>
          <p:cNvSpPr txBox="1"/>
          <p:nvPr/>
        </p:nvSpPr>
        <p:spPr>
          <a:xfrm>
            <a:off x="3917011" y="1417115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Account Repo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C5A52-A2F3-3709-AE65-596DBC71A70F}"/>
              </a:ext>
            </a:extLst>
          </p:cNvPr>
          <p:cNvSpPr txBox="1"/>
          <p:nvPr/>
        </p:nvSpPr>
        <p:spPr>
          <a:xfrm>
            <a:off x="3778351" y="1834953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Opportunity Repo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393233-1C47-2D74-218D-0950CC2810A0}"/>
              </a:ext>
            </a:extLst>
          </p:cNvPr>
          <p:cNvSpPr/>
          <p:nvPr/>
        </p:nvSpPr>
        <p:spPr>
          <a:xfrm>
            <a:off x="6085496" y="1532730"/>
            <a:ext cx="491705" cy="30777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5FEC8-972A-D6E9-10C3-2E47922C45E6}"/>
              </a:ext>
            </a:extLst>
          </p:cNvPr>
          <p:cNvSpPr txBox="1"/>
          <p:nvPr/>
        </p:nvSpPr>
        <p:spPr>
          <a:xfrm>
            <a:off x="7130376" y="1378841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AccountDbContext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57A4B-32C8-7102-80C0-D91375CF67F9}"/>
              </a:ext>
            </a:extLst>
          </p:cNvPr>
          <p:cNvSpPr txBox="1"/>
          <p:nvPr/>
        </p:nvSpPr>
        <p:spPr>
          <a:xfrm>
            <a:off x="7130376" y="1889790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SalesDbContext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EF3B2-6364-71E5-6529-EE93479BDEE0}"/>
              </a:ext>
            </a:extLst>
          </p:cNvPr>
          <p:cNvSpPr txBox="1"/>
          <p:nvPr/>
        </p:nvSpPr>
        <p:spPr>
          <a:xfrm>
            <a:off x="194828" y="3209311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Service Layer 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D7639D-569E-6B46-3487-CF4D31909F55}"/>
              </a:ext>
            </a:extLst>
          </p:cNvPr>
          <p:cNvSpPr/>
          <p:nvPr/>
        </p:nvSpPr>
        <p:spPr>
          <a:xfrm>
            <a:off x="3917011" y="3227269"/>
            <a:ext cx="491705" cy="30777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38D58F-5438-C7F9-ED6E-259078892589}"/>
              </a:ext>
            </a:extLst>
          </p:cNvPr>
          <p:cNvSpPr txBox="1"/>
          <p:nvPr/>
        </p:nvSpPr>
        <p:spPr>
          <a:xfrm>
            <a:off x="4596605" y="3062370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Account Repo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0DA005-247B-21BE-6F54-F6B012A51304}"/>
              </a:ext>
            </a:extLst>
          </p:cNvPr>
          <p:cNvSpPr txBox="1"/>
          <p:nvPr/>
        </p:nvSpPr>
        <p:spPr>
          <a:xfrm>
            <a:off x="4457945" y="3480208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Opportunity Repo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5B96D45-7FCD-8AD4-EE6E-4FED7BF60373}"/>
              </a:ext>
            </a:extLst>
          </p:cNvPr>
          <p:cNvSpPr/>
          <p:nvPr/>
        </p:nvSpPr>
        <p:spPr>
          <a:xfrm>
            <a:off x="6085496" y="3216259"/>
            <a:ext cx="491705" cy="30777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5144A-CFBA-312E-F7A3-9F018FC761DF}"/>
              </a:ext>
            </a:extLst>
          </p:cNvPr>
          <p:cNvSpPr txBox="1"/>
          <p:nvPr/>
        </p:nvSpPr>
        <p:spPr>
          <a:xfrm>
            <a:off x="7130376" y="3062370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AccountDbContext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92BD4-4557-ED4E-D0E9-69E2112FCFB5}"/>
              </a:ext>
            </a:extLst>
          </p:cNvPr>
          <p:cNvSpPr txBox="1"/>
          <p:nvPr/>
        </p:nvSpPr>
        <p:spPr>
          <a:xfrm>
            <a:off x="7130376" y="3573319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SalesDbContext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EF93D81-5C49-E93D-CF34-F1C97FD62671}"/>
              </a:ext>
            </a:extLst>
          </p:cNvPr>
          <p:cNvSpPr/>
          <p:nvPr/>
        </p:nvSpPr>
        <p:spPr>
          <a:xfrm>
            <a:off x="1461588" y="3216258"/>
            <a:ext cx="491705" cy="30777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F00FC1-4D8E-0F97-689C-E405DD2AD5FC}"/>
              </a:ext>
            </a:extLst>
          </p:cNvPr>
          <p:cNvSpPr txBox="1"/>
          <p:nvPr/>
        </p:nvSpPr>
        <p:spPr>
          <a:xfrm>
            <a:off x="2303995" y="3227269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Unit Of Work</a:t>
            </a:r>
          </a:p>
        </p:txBody>
      </p:sp>
    </p:spTree>
    <p:extLst>
      <p:ext uri="{BB962C8B-B14F-4D97-AF65-F5344CB8AC3E}">
        <p14:creationId xmlns:p14="http://schemas.microsoft.com/office/powerpoint/2010/main" val="331241957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F4CF10-A7F4-61C5-DF53-C1E96FEB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4BC8-6F15-8E4A-A90C-16821705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43244"/>
            <a:ext cx="7736700" cy="572700"/>
          </a:xfrm>
        </p:spPr>
        <p:txBody>
          <a:bodyPr/>
          <a:lstStyle/>
          <a:p>
            <a:r>
              <a:rPr lang="en-US" dirty="0"/>
              <a:t>Unit Of Work Pattern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99329-F6E1-7DD9-0EF1-2FB99A1E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50" y="1049607"/>
            <a:ext cx="3137304" cy="3044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D3D5E3-8375-46B8-BF98-F8B0112D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905" y="914401"/>
            <a:ext cx="4165722" cy="376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4452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39FBF3-EF5B-7E7E-1FB6-7FEBC4CC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A69E-FA76-BAB5-C85F-81E8B591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50" y="43244"/>
            <a:ext cx="7736700" cy="572700"/>
          </a:xfrm>
        </p:spPr>
        <p:txBody>
          <a:bodyPr/>
          <a:lstStyle/>
          <a:p>
            <a:r>
              <a:rPr lang="en-US" dirty="0"/>
              <a:t>Unit Of Work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B9994-8AD6-3AFB-CF93-05FB05BA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50" y="854015"/>
            <a:ext cx="4947587" cy="3893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5FA9BC-6281-E179-E2D5-B863B81F4186}"/>
              </a:ext>
            </a:extLst>
          </p:cNvPr>
          <p:cNvSpPr txBox="1"/>
          <p:nvPr/>
        </p:nvSpPr>
        <p:spPr>
          <a:xfrm>
            <a:off x="5926347" y="1954128"/>
            <a:ext cx="2803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 err="1">
                <a:solidFill>
                  <a:schemeClr val="bg1"/>
                </a:solidFill>
              </a:rPr>
              <a:t>TransactionScope</a:t>
            </a:r>
            <a:r>
              <a:rPr lang="en-US" dirty="0">
                <a:solidFill>
                  <a:schemeClr val="bg1"/>
                </a:solidFill>
              </a:rPr>
              <a:t> can encapsulate multiple, individual, transactions to multiple databases simultaneously.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a transaction makes a database connection, this is an unmanaged resource that we must make sure to dispose of.</a:t>
            </a:r>
          </a:p>
        </p:txBody>
      </p:sp>
    </p:spTree>
    <p:extLst>
      <p:ext uri="{BB962C8B-B14F-4D97-AF65-F5344CB8AC3E}">
        <p14:creationId xmlns:p14="http://schemas.microsoft.com/office/powerpoint/2010/main" val="7177418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111DC1-63F6-4411-D3C5-84478DFF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6A35-9D2F-AE3C-15F2-1FD2CF4D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Unit Of Work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76E68-06C8-6C38-0D8B-B54EFBDD8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85" y="3226458"/>
            <a:ext cx="6494629" cy="1831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5B898E-4DE7-5F70-881A-4A763C9C3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685" y="562265"/>
            <a:ext cx="3029775" cy="2596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90A7F6-0774-CF2D-DEFC-8DB7C32AC80F}"/>
              </a:ext>
            </a:extLst>
          </p:cNvPr>
          <p:cNvSpPr txBox="1"/>
          <p:nvPr/>
        </p:nvSpPr>
        <p:spPr>
          <a:xfrm>
            <a:off x="4789542" y="878699"/>
            <a:ext cx="31572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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Our service with business logic now takes in a unit of work instead of repositories.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uses dependency injection. So don’t forget to add an interface and concretion of your unit of work into the service builder.</a:t>
            </a:r>
          </a:p>
        </p:txBody>
      </p:sp>
    </p:spTree>
    <p:extLst>
      <p:ext uri="{BB962C8B-B14F-4D97-AF65-F5344CB8AC3E}">
        <p14:creationId xmlns:p14="http://schemas.microsoft.com/office/powerpoint/2010/main" val="61870565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F95482-7D5B-B61F-DD9D-2EF56303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A72F-A5DB-2097-C6C5-2748B852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versioning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FC640-AD13-6864-AEAF-1E1ED9CFE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69" y="616747"/>
            <a:ext cx="5268060" cy="209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462F67-5509-BA8F-8E68-60B8FD5D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8" y="853864"/>
            <a:ext cx="8135485" cy="1476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6FB701-D595-DC89-7D3F-EFC5623FB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0914" y="4055539"/>
            <a:ext cx="6830378" cy="943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5A8C43-AD06-2F58-E1E3-F7873AF29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915" y="2357983"/>
            <a:ext cx="6220693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1864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98065D-BC35-B95B-3278-DC5BC64D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AA13-9277-5E57-490C-17BB98F2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47B1B-5E78-5410-E91D-6D01A465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20" y="870098"/>
            <a:ext cx="6173061" cy="828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25759-350E-B6FE-1FD8-8AA447F9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535" y="1790591"/>
            <a:ext cx="5401429" cy="781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5245EF-B57C-E73C-2AF8-39B7E5CF1F51}"/>
              </a:ext>
            </a:extLst>
          </p:cNvPr>
          <p:cNvSpPr txBox="1"/>
          <p:nvPr/>
        </p:nvSpPr>
        <p:spPr>
          <a:xfrm>
            <a:off x="1423358" y="562321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domain so far: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1A746-2EDD-FC2F-E9C4-4CCB2F6971A1}"/>
              </a:ext>
            </a:extLst>
          </p:cNvPr>
          <p:cNvSpPr txBox="1"/>
          <p:nvPr/>
        </p:nvSpPr>
        <p:spPr>
          <a:xfrm>
            <a:off x="2587925" y="427340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Jonathan added this to service layer</a:t>
            </a:r>
            <a:b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dotnet add package 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Microsoft.Extensions.Configuration.Binder</a:t>
            </a:r>
            <a:br>
              <a:rPr lang="en-US" dirty="0"/>
            </a:b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3CA519-ED13-452C-B0A6-05B12275B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5217" y="736363"/>
            <a:ext cx="2750433" cy="2555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9C6AD1-03EF-EBC2-39ED-B85B424B7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374" y="2663452"/>
            <a:ext cx="4744112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8636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F56A47-CAC4-E8F5-4077-E9D8F0A0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CF83-C760-140A-CF45-FE06DBEC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1341D-0CB6-B4D8-997B-1C2761F8B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35" y="1922574"/>
            <a:ext cx="3833166" cy="3220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314614-D39A-2570-3A71-C1672F860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75" y="828665"/>
            <a:ext cx="4048690" cy="4163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0F03F-0651-6D12-B89B-62AC45699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63" y="120001"/>
            <a:ext cx="4235558" cy="176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9315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A80FBE-A632-5277-FDE5-1D251C1F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6606-BEEC-091F-089F-F6070750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 - Edit </a:t>
            </a:r>
            <a:r>
              <a:rPr lang="en-US" dirty="0" err="1"/>
              <a:t>db</a:t>
            </a:r>
            <a:r>
              <a:rPr lang="en-US" dirty="0"/>
              <a:t> contexts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6810D6-30FF-556F-6D15-69F7D458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90" y="855564"/>
            <a:ext cx="6532805" cy="40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6446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FB9F01-7FC5-41F3-2209-86E3555D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FC4F-8EDE-04F2-B263-C9680F320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B861D-F51D-924A-455E-88ABB8DAA295}"/>
              </a:ext>
            </a:extLst>
          </p:cNvPr>
          <p:cNvSpPr txBox="1"/>
          <p:nvPr/>
        </p:nvSpPr>
        <p:spPr>
          <a:xfrm>
            <a:off x="2883075" y="900000"/>
            <a:ext cx="3377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service and associated interface: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AE6F1-D876-A3A7-D100-C1720F45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11" y="1207777"/>
            <a:ext cx="6753082" cy="349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0932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EDC58E-A981-3375-21D1-EEB27825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E5CC-2828-27DD-26E1-63CF926C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D0F1F-244A-D830-27E4-780B7C7E5D18}"/>
              </a:ext>
            </a:extLst>
          </p:cNvPr>
          <p:cNvSpPr txBox="1"/>
          <p:nvPr/>
        </p:nvSpPr>
        <p:spPr>
          <a:xfrm>
            <a:off x="2883075" y="736874"/>
            <a:ext cx="3377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service and associated interface: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8D1D67-283D-6C9F-FBC7-587F1B7E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5" y="1343985"/>
            <a:ext cx="4665522" cy="25940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3433236-9255-CC62-6F17-F7EB475D1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58" y="1219260"/>
            <a:ext cx="4100692" cy="28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643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26142F-2E44-9348-78A9-92B20B95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CC1A-A59E-4149-491A-0EE873E7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Seed roles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87B2FD-F4F9-4C35-759B-94835B20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178" y="975300"/>
            <a:ext cx="4147643" cy="35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5237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3E55A8-9696-ADD0-1EE4-8FA93707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C25C-BE72-52AF-E580-40A18A7A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 – controller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C2F0F-3D14-21CB-61D1-4016DD3D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077" y="843065"/>
            <a:ext cx="6341843" cy="260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109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ABBC14-0FDE-5580-C6E6-019B5B2E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A7EE-9494-763B-3855-5DC1C9B6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 – controller setup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76CCF6-4A02-CF54-6117-7617CC058551}"/>
              </a:ext>
            </a:extLst>
          </p:cNvPr>
          <p:cNvSpPr txBox="1"/>
          <p:nvPr/>
        </p:nvSpPr>
        <p:spPr>
          <a:xfrm>
            <a:off x="0" y="562265"/>
            <a:ext cx="5796296" cy="439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Authorize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Roles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HttpPost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registeradmin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IActionResult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RegisterDto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ModelState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BadRequest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ModelState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ApplicationUser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userManager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CreateAsync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Succeeded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BadRequest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userManager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AddToRoleAsync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"Registration Successful"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lnSpc>
                <a:spcPts val="1425"/>
              </a:lnSpc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704D2-5DB8-31CA-14CC-FBF312EC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62" y="691200"/>
            <a:ext cx="4123938" cy="25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3071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E40D75-58F3-E255-CB8A-49E39CF4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7A27-05A6-C1BF-3A09-D4237831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B7729-FF63-2C92-E884-9599194C2763}"/>
              </a:ext>
            </a:extLst>
          </p:cNvPr>
          <p:cNvSpPr txBox="1"/>
          <p:nvPr/>
        </p:nvSpPr>
        <p:spPr>
          <a:xfrm>
            <a:off x="3012917" y="1039982"/>
            <a:ext cx="3118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Setup controller then edit </a:t>
            </a:r>
            <a:r>
              <a:rPr lang="en-US" dirty="0" err="1"/>
              <a:t>program.cs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A988F-331B-B2BA-8D48-D470713E1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38" y="1347759"/>
            <a:ext cx="6484721" cy="24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09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2C3254-02A7-F47F-74D2-D144D9C9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0D3D-74F8-A672-1B80-4E1E7995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identity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F6C04-E13D-5C85-758D-191D725F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0" y="562265"/>
            <a:ext cx="5630641" cy="4224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CC3DDD-88E8-AE51-67DA-0EE376BD7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62" y="3097234"/>
            <a:ext cx="180047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2835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085996-7545-1FA5-A1EB-EC6853B3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14CC-8796-6D53-F74D-A1B02748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CORS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CDCCC9-1F06-49A7-B9BD-B743BC3C6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9" y="562265"/>
            <a:ext cx="4375654" cy="4220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9C46E7-C6F5-4693-34DE-623AD60E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545" y="562265"/>
            <a:ext cx="4172052" cy="3005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BE4EEB-697F-C765-B6C0-B0F4206AD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38" y="3873900"/>
            <a:ext cx="118126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4003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78A4FA-A420-C5E6-57AB-F0532091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A8FA-AF7B-2140-E4CB-995DA135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Logger Middleware</a:t>
            </a:r>
          </a:p>
        </p:txBody>
      </p:sp>
    </p:spTree>
    <p:extLst>
      <p:ext uri="{BB962C8B-B14F-4D97-AF65-F5344CB8AC3E}">
        <p14:creationId xmlns:p14="http://schemas.microsoft.com/office/powerpoint/2010/main" val="241707603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E24616-597A-0DF3-D84D-CCA76B90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C4F2-FDFD-ECF1-0752-B5EBA9DE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211017800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828211-3394-CB65-C50B-1C4C9FD0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B4B5-2DC2-7ABF-5CD4-8DF2100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Caching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885E7-688A-35B3-FF69-E720E90C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646" y="946296"/>
            <a:ext cx="2029108" cy="314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837A5B-4B38-806A-0447-5207E2597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088" y="562265"/>
            <a:ext cx="4984667" cy="2500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24B8EF-45E1-3DD7-66D8-4366EC060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707" y="2456801"/>
            <a:ext cx="4984667" cy="25324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8969EE-24B1-FC77-B096-BACA1A669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13" y="4568185"/>
            <a:ext cx="318179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1684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884B3E-B266-4AA1-BBB2-834747B7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5EB5-AEF7-57D1-90E0-DED9DE41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Clean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6DFCAA-4D4A-5A1C-7FD8-05F0EE76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79" y="771409"/>
            <a:ext cx="5487239" cy="401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9031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F3D504-EE2A-AEED-5D91-E1D39364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C5C2-0E18-17A1-A2FA-040E5EBD5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CQRS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0E464-A224-8915-5CFC-3DD423E607E8}"/>
              </a:ext>
            </a:extLst>
          </p:cNvPr>
          <p:cNvSpPr txBox="1"/>
          <p:nvPr/>
        </p:nvSpPr>
        <p:spPr>
          <a:xfrm>
            <a:off x="1706400" y="1267200"/>
            <a:ext cx="17668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Command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Does something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Modifies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B1AB2-A993-1DF4-4460-CEAA72A56875}"/>
              </a:ext>
            </a:extLst>
          </p:cNvPr>
          <p:cNvSpPr txBox="1"/>
          <p:nvPr/>
        </p:nvSpPr>
        <p:spPr>
          <a:xfrm>
            <a:off x="4881600" y="1267200"/>
            <a:ext cx="2234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Query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Answers a question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Does not modify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A76C0-06AB-16E7-2E96-2FEC2D073127}"/>
              </a:ext>
            </a:extLst>
          </p:cNvPr>
          <p:cNvSpPr txBox="1"/>
          <p:nvPr/>
        </p:nvSpPr>
        <p:spPr>
          <a:xfrm>
            <a:off x="2351679" y="854444"/>
            <a:ext cx="4440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CQRS</a:t>
            </a:r>
            <a:r>
              <a:rPr lang="en-US" dirty="0">
                <a:solidFill>
                  <a:schemeClr val="bg1"/>
                </a:solidFill>
              </a:rPr>
              <a:t> = Command Query Responsibility Segregation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62DC4-E8E3-5600-EE0C-7DEE5E99E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74" y="2326286"/>
            <a:ext cx="5059848" cy="234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6207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2BA8A-3066-B3A6-6D44-E04139DA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7E3A-D904-F750-E88B-5D9556F9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Mediator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E674B-0B92-B8D5-8F21-74E1F428CBD7}"/>
              </a:ext>
            </a:extLst>
          </p:cNvPr>
          <p:cNvSpPr txBox="1"/>
          <p:nvPr/>
        </p:nvSpPr>
        <p:spPr>
          <a:xfrm>
            <a:off x="2488736" y="1402199"/>
            <a:ext cx="41665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API/Endpoints &gt; Controller &gt; Service &gt; Repo &gt; EF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2759D-9433-3B26-9AA8-510C4DBD944D}"/>
              </a:ext>
            </a:extLst>
          </p:cNvPr>
          <p:cNvSpPr txBox="1"/>
          <p:nvPr/>
        </p:nvSpPr>
        <p:spPr>
          <a:xfrm>
            <a:off x="4424620" y="2897083"/>
            <a:ext cx="18405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Query Handler &gt;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Command Handler 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36D19-C003-5AD8-622D-EAFCB274542D}"/>
              </a:ext>
            </a:extLst>
          </p:cNvPr>
          <p:cNvSpPr txBox="1"/>
          <p:nvPr/>
        </p:nvSpPr>
        <p:spPr>
          <a:xfrm>
            <a:off x="6265188" y="3034888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Repo/EF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782F6-BA5B-FC80-2435-26192299F712}"/>
              </a:ext>
            </a:extLst>
          </p:cNvPr>
          <p:cNvSpPr txBox="1"/>
          <p:nvPr/>
        </p:nvSpPr>
        <p:spPr>
          <a:xfrm>
            <a:off x="1070817" y="3112526"/>
            <a:ext cx="3353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API/Endpoints &gt; Controller &gt; Mediator &gt;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FD93A-105E-D375-E782-42F7D0498FB1}"/>
              </a:ext>
            </a:extLst>
          </p:cNvPr>
          <p:cNvSpPr txBox="1"/>
          <p:nvPr/>
        </p:nvSpPr>
        <p:spPr>
          <a:xfrm>
            <a:off x="4670152" y="2645178"/>
            <a:ext cx="1197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CQRS Handlers</a:t>
            </a:r>
          </a:p>
        </p:txBody>
      </p:sp>
    </p:spTree>
    <p:extLst>
      <p:ext uri="{BB962C8B-B14F-4D97-AF65-F5344CB8AC3E}">
        <p14:creationId xmlns:p14="http://schemas.microsoft.com/office/powerpoint/2010/main" val="399766641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E2C520-AC94-DECD-1C13-BF1E521B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F71E-CE4A-9922-3835-EC19AA6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Typescript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4AC19-BF63-7EEF-47CB-2CEA0D83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22" y="562265"/>
            <a:ext cx="6391378" cy="35710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C1043F-7764-0FBE-366F-EAFB997FA8C4}"/>
              </a:ext>
            </a:extLst>
          </p:cNvPr>
          <p:cNvSpPr txBox="1"/>
          <p:nvPr/>
        </p:nvSpPr>
        <p:spPr>
          <a:xfrm>
            <a:off x="7164000" y="2181600"/>
            <a:ext cx="138852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Transpile</a:t>
            </a:r>
            <a:r>
              <a:rPr lang="en-US" dirty="0"/>
              <a:t> with:</a:t>
            </a:r>
            <a:br>
              <a:rPr lang="en-US" dirty="0"/>
            </a:br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script.ts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will generate:</a:t>
            </a:r>
          </a:p>
          <a:p>
            <a:r>
              <a:rPr lang="en-US" dirty="0"/>
              <a:t>script.js</a:t>
            </a:r>
          </a:p>
        </p:txBody>
      </p:sp>
    </p:spTree>
    <p:extLst>
      <p:ext uri="{BB962C8B-B14F-4D97-AF65-F5344CB8AC3E}">
        <p14:creationId xmlns:p14="http://schemas.microsoft.com/office/powerpoint/2010/main" val="386778733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56734F-4B6C-CC94-F4C2-B1CD71E4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FD0A-52AA-B567-3742-ECD6822C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React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7AC57-D567-B14F-5B97-E0A89B12EDCD}"/>
              </a:ext>
            </a:extLst>
          </p:cNvPr>
          <p:cNvSpPr txBox="1"/>
          <p:nvPr/>
        </p:nvSpPr>
        <p:spPr>
          <a:xfrm>
            <a:off x="137276" y="562265"/>
            <a:ext cx="3874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 native – focused on native mobile apps </a:t>
            </a:r>
          </a:p>
          <a:p>
            <a:r>
              <a:rPr lang="en-US" dirty="0"/>
              <a:t>React – focused on web apps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035F6-0F7F-8392-35B0-5D5CD9BF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673" y="556870"/>
            <a:ext cx="5131945" cy="5340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4AE20C-0978-2461-9780-8F3CEFA25ECE}"/>
              </a:ext>
            </a:extLst>
          </p:cNvPr>
          <p:cNvSpPr txBox="1"/>
          <p:nvPr/>
        </p:nvSpPr>
        <p:spPr>
          <a:xfrm>
            <a:off x="7935015" y="1134966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r>
              <a:rPr lang="en-US" dirty="0" err="1"/>
              <a:t>Npm</a:t>
            </a:r>
            <a:r>
              <a:rPr lang="en-US" dirty="0"/>
              <a:t> run dev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3586D-4B0F-C499-F0BE-A47380CA1EDD}"/>
              </a:ext>
            </a:extLst>
          </p:cNvPr>
          <p:cNvSpPr txBox="1"/>
          <p:nvPr/>
        </p:nvSpPr>
        <p:spPr>
          <a:xfrm>
            <a:off x="847546" y="1752549"/>
            <a:ext cx="4576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Package to enable https during development:</a:t>
            </a:r>
            <a:br>
              <a:rPr lang="en-US" dirty="0"/>
            </a:br>
            <a:r>
              <a:rPr lang="en-US" dirty="0"/>
              <a:t>https://www.npmjs.com/package/vite-plugin-mkcert</a:t>
            </a:r>
          </a:p>
        </p:txBody>
      </p:sp>
    </p:spTree>
    <p:extLst>
      <p:ext uri="{BB962C8B-B14F-4D97-AF65-F5344CB8AC3E}">
        <p14:creationId xmlns:p14="http://schemas.microsoft.com/office/powerpoint/2010/main" val="385811823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DA2ADB-3045-00B3-3F95-4EB7628F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B72F-197F-B0B4-C9B7-5FECEF06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React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A4D7C-0705-B3EB-8C20-45E27DD48081}"/>
              </a:ext>
            </a:extLst>
          </p:cNvPr>
          <p:cNvSpPr txBox="1"/>
          <p:nvPr/>
        </p:nvSpPr>
        <p:spPr>
          <a:xfrm>
            <a:off x="137276" y="562265"/>
            <a:ext cx="3874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 native – focused on native mobile apps </a:t>
            </a:r>
          </a:p>
          <a:p>
            <a:r>
              <a:rPr lang="en-US" dirty="0"/>
              <a:t>React – focused on web apps</a:t>
            </a:r>
          </a:p>
        </p:txBody>
      </p:sp>
    </p:spTree>
    <p:extLst>
      <p:ext uri="{BB962C8B-B14F-4D97-AF65-F5344CB8AC3E}">
        <p14:creationId xmlns:p14="http://schemas.microsoft.com/office/powerpoint/2010/main" val="64079783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ABC7D6-79FD-07DC-82F1-6A545811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E2F6-552D-0D5C-929D-0FF56ED7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Azure/Docker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96F9C-2484-2F39-EF28-8AB033EC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638" y="764247"/>
            <a:ext cx="5620534" cy="211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1006F-D610-3A78-E81F-CFEC4506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03" y="2002773"/>
            <a:ext cx="2172003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114EF2-CC55-60C1-0C46-4F516C986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793" y="3108032"/>
            <a:ext cx="4791744" cy="704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BAB166-065E-290F-88F5-B95F96F16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829" y="3938403"/>
            <a:ext cx="5953956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247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E60AD5-36A4-B8FC-3597-39DB123D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B77F-9AA6-4549-B96E-EC82F4A4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49" y="-10435"/>
            <a:ext cx="7736700" cy="572700"/>
          </a:xfrm>
        </p:spPr>
        <p:txBody>
          <a:bodyPr/>
          <a:lstStyle/>
          <a:p>
            <a:r>
              <a:rPr lang="en-US" dirty="0"/>
              <a:t>Azure/Docker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A8CC2-5CCA-D275-A5E8-23DB09DA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1" y="650138"/>
            <a:ext cx="6254152" cy="34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1710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3;p40">
            <a:extLst>
              <a:ext uri="{FF2B5EF4-FFF2-40B4-BE49-F238E27FC236}">
                <a16:creationId xmlns:a16="http://schemas.microsoft.com/office/drawing/2014/main" id="{1EDE0B88-BABD-B977-D0AC-23BD3EF6DAB2}"/>
              </a:ext>
            </a:extLst>
          </p:cNvPr>
          <p:cNvSpPr/>
          <p:nvPr/>
        </p:nvSpPr>
        <p:spPr>
          <a:xfrm>
            <a:off x="4803725" y="2927775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0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Multi-Tenant Architecture</a:t>
            </a:r>
            <a:endParaRPr dirty="0"/>
          </a:p>
        </p:txBody>
      </p:sp>
      <p:sp>
        <p:nvSpPr>
          <p:cNvPr id="991" name="Google Shape;991;p40"/>
          <p:cNvSpPr/>
          <p:nvPr/>
        </p:nvSpPr>
        <p:spPr>
          <a:xfrm>
            <a:off x="713225" y="1146325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713325" y="2934150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4794524" y="1124800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904575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Salesforce customer orgs are in the cloud, so they share server space.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5486596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Limits are in place so that no one org can overuse resources and degrade the performance for everyone else.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6105525" y="3153625"/>
            <a:ext cx="21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Governor Limits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904575" y="1417075"/>
            <a:ext cx="2238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Servers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9" name="Google Shape;999;p40"/>
          <p:cNvSpPr txBox="1"/>
          <p:nvPr/>
        </p:nvSpPr>
        <p:spPr>
          <a:xfrm>
            <a:off x="904575" y="3153625"/>
            <a:ext cx="2343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Resources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0" name="Google Shape;1000;p40"/>
          <p:cNvSpPr txBox="1"/>
          <p:nvPr/>
        </p:nvSpPr>
        <p:spPr>
          <a:xfrm>
            <a:off x="904575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Because orgs share server space, they also share the physical hardware that keeps the server running. i.e. ram,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cpu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time,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ect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1" name="Google Shape;1001;p40"/>
          <p:cNvSpPr txBox="1"/>
          <p:nvPr/>
        </p:nvSpPr>
        <p:spPr>
          <a:xfrm>
            <a:off x="5705475" y="1417075"/>
            <a:ext cx="2524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Isolated Environment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2" name="Google Shape;1002;p40"/>
          <p:cNvSpPr txBox="1"/>
          <p:nvPr/>
        </p:nvSpPr>
        <p:spPr>
          <a:xfrm>
            <a:off x="5486576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org is an isolated environment from other orgs on the cloud.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03" name="Google Shape;1003;p40"/>
          <p:cNvGrpSpPr/>
          <p:nvPr/>
        </p:nvGrpSpPr>
        <p:grpSpPr>
          <a:xfrm>
            <a:off x="3834600" y="2118225"/>
            <a:ext cx="1474800" cy="1474800"/>
            <a:chOff x="3834600" y="2118225"/>
            <a:chExt cx="1474800" cy="1474800"/>
          </a:xfrm>
        </p:grpSpPr>
        <p:sp>
          <p:nvSpPr>
            <p:cNvPr id="1004" name="Google Shape;1004;p40"/>
            <p:cNvSpPr/>
            <p:nvPr/>
          </p:nvSpPr>
          <p:spPr>
            <a:xfrm>
              <a:off x="3834600" y="2118225"/>
              <a:ext cx="1474800" cy="147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932450" y="2216075"/>
              <a:ext cx="1279200" cy="127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4325516" y="2616789"/>
              <a:ext cx="492984" cy="491645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40" y="2048"/>
                  </a:cubicBezTo>
                  <a:lnTo>
                    <a:pt x="1386" y="2048"/>
                  </a:lnTo>
                  <a:lnTo>
                    <a:pt x="1386" y="2426"/>
                  </a:lnTo>
                  <a:cubicBezTo>
                    <a:pt x="1386" y="2993"/>
                    <a:pt x="1859" y="3434"/>
                    <a:pt x="2426" y="3434"/>
                  </a:cubicBezTo>
                  <a:lnTo>
                    <a:pt x="5577" y="3434"/>
                  </a:lnTo>
                  <a:lnTo>
                    <a:pt x="5577" y="4159"/>
                  </a:lnTo>
                  <a:lnTo>
                    <a:pt x="4537" y="4159"/>
                  </a:lnTo>
                  <a:cubicBezTo>
                    <a:pt x="3938" y="4159"/>
                    <a:pt x="3466" y="4632"/>
                    <a:pt x="3466" y="5167"/>
                  </a:cubicBezTo>
                  <a:lnTo>
                    <a:pt x="3466" y="6585"/>
                  </a:lnTo>
                  <a:cubicBezTo>
                    <a:pt x="3466" y="7183"/>
                    <a:pt x="3938" y="7625"/>
                    <a:pt x="4537" y="7625"/>
                  </a:cubicBezTo>
                  <a:lnTo>
                    <a:pt x="5577" y="7625"/>
                  </a:lnTo>
                  <a:lnTo>
                    <a:pt x="5577" y="8318"/>
                  </a:lnTo>
                  <a:lnTo>
                    <a:pt x="2426" y="8318"/>
                  </a:lnTo>
                  <a:cubicBezTo>
                    <a:pt x="1828" y="8318"/>
                    <a:pt x="1386" y="8790"/>
                    <a:pt x="1386" y="9357"/>
                  </a:cubicBezTo>
                  <a:lnTo>
                    <a:pt x="1386" y="9704"/>
                  </a:lnTo>
                  <a:lnTo>
                    <a:pt x="1040" y="9704"/>
                  </a:lnTo>
                  <a:cubicBezTo>
                    <a:pt x="441" y="9704"/>
                    <a:pt x="0" y="10176"/>
                    <a:pt x="0" y="10744"/>
                  </a:cubicBezTo>
                  <a:cubicBezTo>
                    <a:pt x="0" y="11311"/>
                    <a:pt x="473" y="11752"/>
                    <a:pt x="1040" y="11752"/>
                  </a:cubicBezTo>
                  <a:lnTo>
                    <a:pt x="2426" y="11752"/>
                  </a:lnTo>
                  <a:cubicBezTo>
                    <a:pt x="2993" y="11752"/>
                    <a:pt x="3434" y="11279"/>
                    <a:pt x="3434" y="10744"/>
                  </a:cubicBezTo>
                  <a:cubicBezTo>
                    <a:pt x="3434" y="10145"/>
                    <a:pt x="2962" y="9704"/>
                    <a:pt x="2426" y="9704"/>
                  </a:cubicBezTo>
                  <a:lnTo>
                    <a:pt x="2048" y="9704"/>
                  </a:lnTo>
                  <a:lnTo>
                    <a:pt x="2048" y="9357"/>
                  </a:lnTo>
                  <a:cubicBezTo>
                    <a:pt x="2048" y="9168"/>
                    <a:pt x="2206" y="9011"/>
                    <a:pt x="2426" y="9011"/>
                  </a:cubicBezTo>
                  <a:lnTo>
                    <a:pt x="5577" y="9011"/>
                  </a:lnTo>
                  <a:lnTo>
                    <a:pt x="5577" y="9704"/>
                  </a:lnTo>
                  <a:lnTo>
                    <a:pt x="5199" y="9704"/>
                  </a:lnTo>
                  <a:cubicBezTo>
                    <a:pt x="4631" y="9704"/>
                    <a:pt x="4190" y="10176"/>
                    <a:pt x="4190" y="10744"/>
                  </a:cubicBezTo>
                  <a:cubicBezTo>
                    <a:pt x="4190" y="11311"/>
                    <a:pt x="4663" y="11752"/>
                    <a:pt x="5199" y="11752"/>
                  </a:cubicBezTo>
                  <a:lnTo>
                    <a:pt x="6585" y="11752"/>
                  </a:lnTo>
                  <a:cubicBezTo>
                    <a:pt x="7183" y="11752"/>
                    <a:pt x="7593" y="11279"/>
                    <a:pt x="7593" y="10744"/>
                  </a:cubicBezTo>
                  <a:cubicBezTo>
                    <a:pt x="7593" y="10145"/>
                    <a:pt x="7120" y="9704"/>
                    <a:pt x="6585" y="9704"/>
                  </a:cubicBezTo>
                  <a:lnTo>
                    <a:pt x="6238" y="9704"/>
                  </a:lnTo>
                  <a:lnTo>
                    <a:pt x="6238" y="9011"/>
                  </a:lnTo>
                  <a:lnTo>
                    <a:pt x="9389" y="9011"/>
                  </a:lnTo>
                  <a:cubicBezTo>
                    <a:pt x="9578" y="9011"/>
                    <a:pt x="9735" y="9168"/>
                    <a:pt x="9735" y="9357"/>
                  </a:cubicBezTo>
                  <a:lnTo>
                    <a:pt x="9735" y="9704"/>
                  </a:lnTo>
                  <a:lnTo>
                    <a:pt x="9389" y="9704"/>
                  </a:lnTo>
                  <a:cubicBezTo>
                    <a:pt x="8790" y="9704"/>
                    <a:pt x="8349" y="10176"/>
                    <a:pt x="8349" y="10744"/>
                  </a:cubicBezTo>
                  <a:cubicBezTo>
                    <a:pt x="8349" y="11311"/>
                    <a:pt x="8822" y="11752"/>
                    <a:pt x="9389" y="11752"/>
                  </a:cubicBezTo>
                  <a:lnTo>
                    <a:pt x="10743" y="11752"/>
                  </a:lnTo>
                  <a:cubicBezTo>
                    <a:pt x="11342" y="11752"/>
                    <a:pt x="11783" y="11279"/>
                    <a:pt x="11783" y="10744"/>
                  </a:cubicBezTo>
                  <a:cubicBezTo>
                    <a:pt x="11783" y="10145"/>
                    <a:pt x="11311" y="9704"/>
                    <a:pt x="10743" y="9704"/>
                  </a:cubicBezTo>
                  <a:lnTo>
                    <a:pt x="10397" y="9704"/>
                  </a:lnTo>
                  <a:lnTo>
                    <a:pt x="10397" y="9357"/>
                  </a:lnTo>
                  <a:cubicBezTo>
                    <a:pt x="10397" y="8759"/>
                    <a:pt x="9924" y="8318"/>
                    <a:pt x="9389" y="8318"/>
                  </a:cubicBezTo>
                  <a:lnTo>
                    <a:pt x="6238" y="8318"/>
                  </a:lnTo>
                  <a:lnTo>
                    <a:pt x="6238" y="7625"/>
                  </a:lnTo>
                  <a:lnTo>
                    <a:pt x="7246" y="7625"/>
                  </a:lnTo>
                  <a:cubicBezTo>
                    <a:pt x="7845" y="7625"/>
                    <a:pt x="8318" y="7152"/>
                    <a:pt x="8318" y="6585"/>
                  </a:cubicBezTo>
                  <a:lnTo>
                    <a:pt x="8318" y="5167"/>
                  </a:lnTo>
                  <a:cubicBezTo>
                    <a:pt x="8318" y="4569"/>
                    <a:pt x="7845" y="4159"/>
                    <a:pt x="7246" y="4159"/>
                  </a:cubicBezTo>
                  <a:lnTo>
                    <a:pt x="6238" y="4159"/>
                  </a:lnTo>
                  <a:lnTo>
                    <a:pt x="6238" y="3434"/>
                  </a:lnTo>
                  <a:lnTo>
                    <a:pt x="9389" y="3434"/>
                  </a:lnTo>
                  <a:cubicBezTo>
                    <a:pt x="9956" y="3434"/>
                    <a:pt x="10397" y="2962"/>
                    <a:pt x="10397" y="2426"/>
                  </a:cubicBezTo>
                  <a:lnTo>
                    <a:pt x="10397" y="2048"/>
                  </a:lnTo>
                  <a:lnTo>
                    <a:pt x="10743" y="2048"/>
                  </a:lnTo>
                  <a:cubicBezTo>
                    <a:pt x="11342" y="2048"/>
                    <a:pt x="11783" y="1576"/>
                    <a:pt x="11783" y="1040"/>
                  </a:cubicBezTo>
                  <a:cubicBezTo>
                    <a:pt x="11783" y="441"/>
                    <a:pt x="11311" y="0"/>
                    <a:pt x="10743" y="0"/>
                  </a:cubicBezTo>
                  <a:lnTo>
                    <a:pt x="9389" y="0"/>
                  </a:lnTo>
                  <a:cubicBezTo>
                    <a:pt x="8790" y="0"/>
                    <a:pt x="8349" y="473"/>
                    <a:pt x="8349" y="1040"/>
                  </a:cubicBezTo>
                  <a:cubicBezTo>
                    <a:pt x="8349" y="1639"/>
                    <a:pt x="8822" y="2048"/>
                    <a:pt x="9389" y="2048"/>
                  </a:cubicBezTo>
                  <a:lnTo>
                    <a:pt x="9735" y="2048"/>
                  </a:lnTo>
                  <a:lnTo>
                    <a:pt x="9735" y="2426"/>
                  </a:lnTo>
                  <a:cubicBezTo>
                    <a:pt x="9735" y="2615"/>
                    <a:pt x="9578" y="2773"/>
                    <a:pt x="9389" y="2773"/>
                  </a:cubicBezTo>
                  <a:lnTo>
                    <a:pt x="6238" y="2773"/>
                  </a:lnTo>
                  <a:lnTo>
                    <a:pt x="6238" y="2048"/>
                  </a:lnTo>
                  <a:lnTo>
                    <a:pt x="6585" y="2048"/>
                  </a:lnTo>
                  <a:cubicBezTo>
                    <a:pt x="7183" y="2048"/>
                    <a:pt x="7593" y="1576"/>
                    <a:pt x="7593" y="1040"/>
                  </a:cubicBezTo>
                  <a:cubicBezTo>
                    <a:pt x="7593" y="441"/>
                    <a:pt x="7120" y="0"/>
                    <a:pt x="6585" y="0"/>
                  </a:cubicBezTo>
                  <a:lnTo>
                    <a:pt x="5199" y="0"/>
                  </a:lnTo>
                  <a:cubicBezTo>
                    <a:pt x="4631" y="0"/>
                    <a:pt x="4190" y="473"/>
                    <a:pt x="4190" y="1040"/>
                  </a:cubicBezTo>
                  <a:cubicBezTo>
                    <a:pt x="4190" y="1639"/>
                    <a:pt x="4663" y="2048"/>
                    <a:pt x="5199" y="2048"/>
                  </a:cubicBezTo>
                  <a:lnTo>
                    <a:pt x="5577" y="2048"/>
                  </a:lnTo>
                  <a:lnTo>
                    <a:pt x="5577" y="2773"/>
                  </a:lnTo>
                  <a:lnTo>
                    <a:pt x="2426" y="2773"/>
                  </a:lnTo>
                  <a:cubicBezTo>
                    <a:pt x="2206" y="2773"/>
                    <a:pt x="2048" y="2615"/>
                    <a:pt x="2048" y="2426"/>
                  </a:cubicBezTo>
                  <a:lnTo>
                    <a:pt x="2048" y="2048"/>
                  </a:lnTo>
                  <a:lnTo>
                    <a:pt x="2426" y="2048"/>
                  </a:lnTo>
                  <a:cubicBezTo>
                    <a:pt x="2993" y="2048"/>
                    <a:pt x="3434" y="1576"/>
                    <a:pt x="3434" y="1040"/>
                  </a:cubicBezTo>
                  <a:cubicBezTo>
                    <a:pt x="3434" y="441"/>
                    <a:pt x="2962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4;p33">
            <a:extLst>
              <a:ext uri="{FF2B5EF4-FFF2-40B4-BE49-F238E27FC236}">
                <a16:creationId xmlns:a16="http://schemas.microsoft.com/office/drawing/2014/main" id="{8828DA78-2ED5-71BC-7188-37D38010366C}"/>
              </a:ext>
            </a:extLst>
          </p:cNvPr>
          <p:cNvSpPr/>
          <p:nvPr/>
        </p:nvSpPr>
        <p:spPr>
          <a:xfrm>
            <a:off x="6027096" y="1204485"/>
            <a:ext cx="802800" cy="802800"/>
          </a:xfrm>
          <a:prstGeom prst="ellipse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</a:t>
            </a:r>
            <a:endParaRPr dirty="0"/>
          </a:p>
        </p:txBody>
      </p:sp>
      <p:sp>
        <p:nvSpPr>
          <p:cNvPr id="605" name="Google Shape;605;p33"/>
          <p:cNvSpPr txBox="1"/>
          <p:nvPr/>
        </p:nvSpPr>
        <p:spPr>
          <a:xfrm>
            <a:off x="1671054" y="3202950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Tables, field definitions, ect.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5577065" y="3273845"/>
            <a:ext cx="1665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Logic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634872" y="3276324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 elements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3535006" y="1128150"/>
            <a:ext cx="3107051" cy="1820950"/>
            <a:chOff x="2641232" y="1228513"/>
            <a:chExt cx="3107051" cy="1820950"/>
          </a:xfrm>
        </p:grpSpPr>
        <p:grpSp>
          <p:nvGrpSpPr>
            <p:cNvPr id="625" name="Google Shape;625;p33"/>
            <p:cNvGrpSpPr/>
            <p:nvPr/>
          </p:nvGrpSpPr>
          <p:grpSpPr>
            <a:xfrm>
              <a:off x="2641232" y="2672063"/>
              <a:ext cx="1930800" cy="377400"/>
              <a:chOff x="2641232" y="2672063"/>
              <a:chExt cx="1930800" cy="377400"/>
            </a:xfrm>
          </p:grpSpPr>
          <p:sp>
            <p:nvSpPr>
              <p:cNvPr id="626" name="Google Shape;626;p33"/>
              <p:cNvSpPr/>
              <p:nvPr/>
            </p:nvSpPr>
            <p:spPr>
              <a:xfrm rot="-5400000">
                <a:off x="3417932" y="1895363"/>
                <a:ext cx="377400" cy="19308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 txBox="1"/>
              <p:nvPr/>
            </p:nvSpPr>
            <p:spPr>
              <a:xfrm>
                <a:off x="2803232" y="2672063"/>
                <a:ext cx="1606800" cy="377400"/>
              </a:xfrm>
              <a:prstGeom prst="rect">
                <a:avLst/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View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sp>
          <p:nvSpPr>
            <p:cNvPr id="628" name="Google Shape;628;p33"/>
            <p:cNvSpPr/>
            <p:nvPr/>
          </p:nvSpPr>
          <p:spPr>
            <a:xfrm>
              <a:off x="3126332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9" name="Google Shape;629;p33"/>
            <p:cNvCxnSpPr>
              <a:stCxn id="628" idx="4"/>
              <a:endCxn id="627" idx="0"/>
            </p:cNvCxnSpPr>
            <p:nvPr/>
          </p:nvCxnSpPr>
          <p:spPr>
            <a:xfrm>
              <a:off x="3606632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0" name="Google Shape;630;p33"/>
            <p:cNvGrpSpPr/>
            <p:nvPr/>
          </p:nvGrpSpPr>
          <p:grpSpPr>
            <a:xfrm>
              <a:off x="3205232" y="1307413"/>
              <a:ext cx="2543051" cy="802800"/>
              <a:chOff x="3205232" y="1307413"/>
              <a:chExt cx="2543051" cy="802800"/>
            </a:xfrm>
          </p:grpSpPr>
          <p:sp>
            <p:nvSpPr>
              <p:cNvPr id="631" name="Google Shape;631;p33"/>
              <p:cNvSpPr/>
              <p:nvPr/>
            </p:nvSpPr>
            <p:spPr>
              <a:xfrm>
                <a:off x="3205232" y="1307413"/>
                <a:ext cx="802800" cy="80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32" name="Google Shape;632;p33"/>
              <p:cNvGrpSpPr/>
              <p:nvPr/>
            </p:nvGrpSpPr>
            <p:grpSpPr>
              <a:xfrm>
                <a:off x="5396343" y="1493481"/>
                <a:ext cx="351940" cy="379218"/>
                <a:chOff x="3335390" y="3948115"/>
                <a:chExt cx="297750" cy="320828"/>
              </a:xfrm>
            </p:grpSpPr>
            <p:sp>
              <p:nvSpPr>
                <p:cNvPr id="633" name="Google Shape;633;p33"/>
                <p:cNvSpPr/>
                <p:nvPr/>
              </p:nvSpPr>
              <p:spPr>
                <a:xfrm>
                  <a:off x="3436573" y="3948115"/>
                  <a:ext cx="86675" cy="8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3335390" y="4083043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3440927" y="4048380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33"/>
          <p:cNvGrpSpPr/>
          <p:nvPr/>
        </p:nvGrpSpPr>
        <p:grpSpPr>
          <a:xfrm>
            <a:off x="1604071" y="1128150"/>
            <a:ext cx="1930800" cy="1820950"/>
            <a:chOff x="710297" y="1228513"/>
            <a:chExt cx="1930800" cy="1820950"/>
          </a:xfrm>
        </p:grpSpPr>
        <p:grpSp>
          <p:nvGrpSpPr>
            <p:cNvPr id="637" name="Google Shape;637;p33"/>
            <p:cNvGrpSpPr/>
            <p:nvPr/>
          </p:nvGrpSpPr>
          <p:grpSpPr>
            <a:xfrm>
              <a:off x="710297" y="2672063"/>
              <a:ext cx="1930800" cy="377400"/>
              <a:chOff x="710297" y="2672063"/>
              <a:chExt cx="1930800" cy="377400"/>
            </a:xfrm>
          </p:grpSpPr>
          <p:sp>
            <p:nvSpPr>
              <p:cNvPr id="638" name="Google Shape;638;p33"/>
              <p:cNvSpPr/>
              <p:nvPr/>
            </p:nvSpPr>
            <p:spPr>
              <a:xfrm rot="-5400000">
                <a:off x="1486997" y="1895363"/>
                <a:ext cx="377400" cy="1930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 txBox="1"/>
              <p:nvPr/>
            </p:nvSpPr>
            <p:spPr>
              <a:xfrm>
                <a:off x="872297" y="2672063"/>
                <a:ext cx="1606800" cy="377400"/>
              </a:xfrm>
              <a:prstGeom prst="rect">
                <a:avLst/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Model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grpSp>
          <p:nvGrpSpPr>
            <p:cNvPr id="640" name="Google Shape;640;p33"/>
            <p:cNvGrpSpPr/>
            <p:nvPr/>
          </p:nvGrpSpPr>
          <p:grpSpPr>
            <a:xfrm>
              <a:off x="1195397" y="1228513"/>
              <a:ext cx="960600" cy="1443550"/>
              <a:chOff x="1195397" y="1228513"/>
              <a:chExt cx="960600" cy="1443550"/>
            </a:xfrm>
          </p:grpSpPr>
          <p:sp>
            <p:nvSpPr>
              <p:cNvPr id="641" name="Google Shape;641;p33"/>
              <p:cNvSpPr/>
              <p:nvPr/>
            </p:nvSpPr>
            <p:spPr>
              <a:xfrm>
                <a:off x="1195397" y="1228513"/>
                <a:ext cx="960600" cy="960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2" name="Google Shape;642;p33"/>
              <p:cNvCxnSpPr>
                <a:endCxn id="639" idx="0"/>
              </p:cNvCxnSpPr>
              <p:nvPr/>
            </p:nvCxnSpPr>
            <p:spPr>
              <a:xfrm>
                <a:off x="1675697" y="2189063"/>
                <a:ext cx="0" cy="483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43" name="Google Shape;643;p33"/>
              <p:cNvGrpSpPr/>
              <p:nvPr/>
            </p:nvGrpSpPr>
            <p:grpSpPr>
              <a:xfrm>
                <a:off x="1274297" y="1307413"/>
                <a:ext cx="802800" cy="802800"/>
                <a:chOff x="1274297" y="1307413"/>
                <a:chExt cx="802800" cy="802800"/>
              </a:xfrm>
            </p:grpSpPr>
            <p:sp>
              <p:nvSpPr>
                <p:cNvPr id="644" name="Google Shape;644;p33"/>
                <p:cNvSpPr/>
                <p:nvPr/>
              </p:nvSpPr>
              <p:spPr>
                <a:xfrm>
                  <a:off x="1274297" y="1307413"/>
                  <a:ext cx="802800" cy="802800"/>
                </a:xfrm>
                <a:prstGeom prst="ellipse">
                  <a:avLst/>
                </a:prstGeom>
                <a:solidFill>
                  <a:srgbClr val="7BD9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1453395" y="1498533"/>
                  <a:ext cx="444605" cy="420559"/>
                  <a:chOff x="-6338550" y="3272950"/>
                  <a:chExt cx="308775" cy="292075"/>
                </a:xfrm>
              </p:grpSpPr>
              <p:sp>
                <p:nvSpPr>
                  <p:cNvPr id="646" name="Google Shape;646;p33"/>
                  <p:cNvSpPr/>
                  <p:nvPr/>
                </p:nvSpPr>
                <p:spPr>
                  <a:xfrm>
                    <a:off x="-6338550" y="3272950"/>
                    <a:ext cx="308775" cy="11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1" h="4790" extrusionOk="0">
                        <a:moveTo>
                          <a:pt x="6144" y="2017"/>
                        </a:moveTo>
                        <a:cubicBezTo>
                          <a:pt x="6333" y="2017"/>
                          <a:pt x="6491" y="2206"/>
                          <a:pt x="6491" y="2395"/>
                        </a:cubicBezTo>
                        <a:cubicBezTo>
                          <a:pt x="6459" y="2584"/>
                          <a:pt x="6333" y="2742"/>
                          <a:pt x="6144" y="2742"/>
                        </a:cubicBezTo>
                        <a:cubicBezTo>
                          <a:pt x="5955" y="2742"/>
                          <a:pt x="5797" y="2584"/>
                          <a:pt x="5797" y="2395"/>
                        </a:cubicBezTo>
                        <a:cubicBezTo>
                          <a:pt x="5797" y="2206"/>
                          <a:pt x="5955" y="2017"/>
                          <a:pt x="6144" y="2017"/>
                        </a:cubicBezTo>
                        <a:close/>
                        <a:moveTo>
                          <a:pt x="6144" y="1"/>
                        </a:moveTo>
                        <a:cubicBezTo>
                          <a:pt x="4789" y="1"/>
                          <a:pt x="3750" y="1040"/>
                          <a:pt x="3750" y="2395"/>
                        </a:cubicBezTo>
                        <a:cubicBezTo>
                          <a:pt x="3750" y="2521"/>
                          <a:pt x="3750" y="2616"/>
                          <a:pt x="3781" y="2742"/>
                        </a:cubicBezTo>
                        <a:lnTo>
                          <a:pt x="1324" y="2742"/>
                        </a:lnTo>
                        <a:cubicBezTo>
                          <a:pt x="1" y="2742"/>
                          <a:pt x="1" y="4790"/>
                          <a:pt x="1324" y="4790"/>
                        </a:cubicBezTo>
                        <a:lnTo>
                          <a:pt x="10996" y="4790"/>
                        </a:lnTo>
                        <a:cubicBezTo>
                          <a:pt x="12351" y="4790"/>
                          <a:pt x="12351" y="2742"/>
                          <a:pt x="10996" y="2742"/>
                        </a:cubicBezTo>
                        <a:lnTo>
                          <a:pt x="8507" y="2742"/>
                        </a:lnTo>
                        <a:cubicBezTo>
                          <a:pt x="8507" y="2616"/>
                          <a:pt x="8538" y="2521"/>
                          <a:pt x="8538" y="2395"/>
                        </a:cubicBezTo>
                        <a:cubicBezTo>
                          <a:pt x="8538" y="1040"/>
                          <a:pt x="7467" y="1"/>
                          <a:pt x="61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33"/>
                  <p:cNvSpPr/>
                  <p:nvPr/>
                </p:nvSpPr>
                <p:spPr>
                  <a:xfrm>
                    <a:off x="-6228275" y="3479325"/>
                    <a:ext cx="86650" cy="8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6" h="3428" extrusionOk="0">
                        <a:moveTo>
                          <a:pt x="32" y="0"/>
                        </a:moveTo>
                        <a:lnTo>
                          <a:pt x="32" y="3088"/>
                        </a:lnTo>
                        <a:lnTo>
                          <a:pt x="0" y="3088"/>
                        </a:lnTo>
                        <a:cubicBezTo>
                          <a:pt x="0" y="3268"/>
                          <a:pt x="190" y="3428"/>
                          <a:pt x="380" y="3428"/>
                        </a:cubicBezTo>
                        <a:cubicBezTo>
                          <a:pt x="422" y="3428"/>
                          <a:pt x="464" y="3420"/>
                          <a:pt x="504" y="3403"/>
                        </a:cubicBezTo>
                        <a:lnTo>
                          <a:pt x="3277" y="2016"/>
                        </a:lnTo>
                        <a:cubicBezTo>
                          <a:pt x="3371" y="1985"/>
                          <a:pt x="3466" y="1859"/>
                          <a:pt x="3466" y="1701"/>
                        </a:cubicBezTo>
                        <a:lnTo>
                          <a:pt x="346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33"/>
                  <p:cNvSpPr/>
                  <p:nvPr/>
                </p:nvSpPr>
                <p:spPr>
                  <a:xfrm>
                    <a:off x="-6292075" y="3410800"/>
                    <a:ext cx="212675" cy="5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07" h="2017" extrusionOk="0">
                        <a:moveTo>
                          <a:pt x="0" y="0"/>
                        </a:moveTo>
                        <a:lnTo>
                          <a:pt x="2048" y="2016"/>
                        </a:lnTo>
                        <a:lnTo>
                          <a:pt x="6459" y="2016"/>
                        </a:lnTo>
                        <a:lnTo>
                          <a:pt x="850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49" name="Google Shape;649;p33"/>
          <p:cNvGrpSpPr/>
          <p:nvPr/>
        </p:nvGrpSpPr>
        <p:grpSpPr>
          <a:xfrm>
            <a:off x="4304642" y="1128150"/>
            <a:ext cx="2606999" cy="1443600"/>
            <a:chOff x="3410868" y="1228513"/>
            <a:chExt cx="2606999" cy="1443600"/>
          </a:xfrm>
        </p:grpSpPr>
        <p:sp>
          <p:nvSpPr>
            <p:cNvPr id="653" name="Google Shape;653;p33"/>
            <p:cNvSpPr/>
            <p:nvPr/>
          </p:nvSpPr>
          <p:spPr>
            <a:xfrm>
              <a:off x="5057267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4" name="Google Shape;654;p33"/>
            <p:cNvCxnSpPr>
              <a:cxnSpLocks/>
              <a:stCxn id="653" idx="4"/>
            </p:cNvCxnSpPr>
            <p:nvPr/>
          </p:nvCxnSpPr>
          <p:spPr>
            <a:xfrm>
              <a:off x="5537567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3410868" y="1522347"/>
              <a:ext cx="421942" cy="397034"/>
              <a:chOff x="-2922793" y="3966548"/>
              <a:chExt cx="293036" cy="275738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-2922793" y="3966548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-2921207" y="4052423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-2802281" y="413828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-2855056" y="4085511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638;p33">
            <a:extLst>
              <a:ext uri="{FF2B5EF4-FFF2-40B4-BE49-F238E27FC236}">
                <a16:creationId xmlns:a16="http://schemas.microsoft.com/office/drawing/2014/main" id="{39A7DF4A-0C7D-BEFD-DD79-88AFA751597A}"/>
              </a:ext>
            </a:extLst>
          </p:cNvPr>
          <p:cNvSpPr/>
          <p:nvPr/>
        </p:nvSpPr>
        <p:spPr>
          <a:xfrm rot="5400000">
            <a:off x="6242640" y="1788610"/>
            <a:ext cx="377400" cy="193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39;p33">
            <a:extLst>
              <a:ext uri="{FF2B5EF4-FFF2-40B4-BE49-F238E27FC236}">
                <a16:creationId xmlns:a16="http://schemas.microsoft.com/office/drawing/2014/main" id="{04CAB467-23D7-C92A-5609-7EFA9A5836B3}"/>
              </a:ext>
            </a:extLst>
          </p:cNvPr>
          <p:cNvSpPr txBox="1"/>
          <p:nvPr/>
        </p:nvSpPr>
        <p:spPr>
          <a:xfrm>
            <a:off x="5625096" y="2565310"/>
            <a:ext cx="1606800" cy="377400"/>
          </a:xfrm>
          <a:prstGeom prst="rect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800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>
            <a:off x="1255162" y="1194476"/>
            <a:ext cx="1973370" cy="866999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Objects, fields, relatioships</a:t>
            </a:r>
            <a:endParaRPr sz="16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5915469" y="1194475"/>
            <a:ext cx="1973370" cy="86699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APIs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MVC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3892632" y="1194475"/>
            <a:ext cx="1358736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1255162" y="3567496"/>
            <a:ext cx="1973370" cy="866997"/>
          </a:xfrm>
          <a:prstGeom prst="roundRect">
            <a:avLst>
              <a:gd name="adj" fmla="val 50000"/>
            </a:avLst>
          </a:prstGeom>
          <a:solidFill>
            <a:srgbClr val="2F9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Flows, approvals, validation rules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5907542" y="3567495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16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Apex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255162" y="2399375"/>
            <a:ext cx="1973370" cy="866998"/>
          </a:xfrm>
          <a:prstGeom prst="roundRect">
            <a:avLst>
              <a:gd name="adj" fmla="val 5000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Apps, Pages, Actions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5915469" y="2380986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FC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Visualforce, LWC, Aura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" name="Google Shape;717;p35">
            <a:extLst>
              <a:ext uri="{FF2B5EF4-FFF2-40B4-BE49-F238E27FC236}">
                <a16:creationId xmlns:a16="http://schemas.microsoft.com/office/drawing/2014/main" id="{A0EDD9AA-1033-FD0C-607F-B45D84AF37BA}"/>
              </a:ext>
            </a:extLst>
          </p:cNvPr>
          <p:cNvSpPr/>
          <p:nvPr/>
        </p:nvSpPr>
        <p:spPr>
          <a:xfrm>
            <a:off x="3892631" y="2438021"/>
            <a:ext cx="1358737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View</a:t>
            </a:r>
            <a:endParaRPr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Google Shape;717;p35">
            <a:extLst>
              <a:ext uri="{FF2B5EF4-FFF2-40B4-BE49-F238E27FC236}">
                <a16:creationId xmlns:a16="http://schemas.microsoft.com/office/drawing/2014/main" id="{7BFB89DF-241E-1989-A518-57B5172ECA8E}"/>
              </a:ext>
            </a:extLst>
          </p:cNvPr>
          <p:cNvSpPr/>
          <p:nvPr/>
        </p:nvSpPr>
        <p:spPr>
          <a:xfrm>
            <a:off x="3888668" y="3567495"/>
            <a:ext cx="1358738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713;p35">
            <a:extLst>
              <a:ext uri="{FF2B5EF4-FFF2-40B4-BE49-F238E27FC236}">
                <a16:creationId xmlns:a16="http://schemas.microsoft.com/office/drawing/2014/main" id="{61B6CB95-E806-0D30-B738-71F5A36E6F6D}"/>
              </a:ext>
            </a:extLst>
          </p:cNvPr>
          <p:cNvSpPr/>
          <p:nvPr/>
        </p:nvSpPr>
        <p:spPr>
          <a:xfrm>
            <a:off x="1591946" y="743842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713;p35">
            <a:extLst>
              <a:ext uri="{FF2B5EF4-FFF2-40B4-BE49-F238E27FC236}">
                <a16:creationId xmlns:a16="http://schemas.microsoft.com/office/drawing/2014/main" id="{C8C0EC38-C9AC-42FE-7346-AFCB6A25D5C6}"/>
              </a:ext>
            </a:extLst>
          </p:cNvPr>
          <p:cNvSpPr/>
          <p:nvPr/>
        </p:nvSpPr>
        <p:spPr>
          <a:xfrm>
            <a:off x="6244325" y="748049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5"/>
          <p:cNvSpPr/>
          <p:nvPr/>
        </p:nvSpPr>
        <p:spPr>
          <a:xfrm rot="10800000" flipH="1">
            <a:off x="5239167" y="1621025"/>
            <a:ext cx="3175800" cy="31110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9108" y="1347125"/>
            <a:ext cx="3175800" cy="30882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5"/>
          <p:cNvSpPr/>
          <p:nvPr/>
        </p:nvSpPr>
        <p:spPr>
          <a:xfrm>
            <a:off x="4562600" y="13471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2F9C80"/>
          </a:solidFill>
          <a:ln w="9525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4230564" y="12380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No-Code vs Pro-Code</a:t>
            </a:r>
            <a:endParaRPr dirty="0"/>
          </a:p>
        </p:txBody>
      </p:sp>
      <p:sp>
        <p:nvSpPr>
          <p:cNvPr id="1365" name="Google Shape;1365;p45"/>
          <p:cNvSpPr txBox="1"/>
          <p:nvPr/>
        </p:nvSpPr>
        <p:spPr>
          <a:xfrm flipH="1">
            <a:off x="5952652" y="2224559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Flexibility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6" name="Google Shape;1366;p45"/>
          <p:cNvSpPr txBox="1"/>
          <p:nvPr/>
        </p:nvSpPr>
        <p:spPr>
          <a:xfrm flipH="1">
            <a:off x="5483538" y="20528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7" name="Google Shape;1367;p45"/>
          <p:cNvSpPr txBox="1"/>
          <p:nvPr/>
        </p:nvSpPr>
        <p:spPr>
          <a:xfrm>
            <a:off x="5612850" y="1475675"/>
            <a:ext cx="25245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 flipH="1">
            <a:off x="5952652" y="3247047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Pixel perfect UI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0" name="Google Shape;1370;p45"/>
          <p:cNvSpPr txBox="1"/>
          <p:nvPr/>
        </p:nvSpPr>
        <p:spPr>
          <a:xfrm flipH="1">
            <a:off x="5483538" y="30260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 flipH="1">
            <a:off x="5952652" y="4108013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Integrations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3" name="Google Shape;1373;p45"/>
          <p:cNvSpPr txBox="1"/>
          <p:nvPr/>
        </p:nvSpPr>
        <p:spPr>
          <a:xfrm flipH="1">
            <a:off x="5483538" y="39550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4" name="Google Shape;1374;p45"/>
          <p:cNvSpPr/>
          <p:nvPr/>
        </p:nvSpPr>
        <p:spPr>
          <a:xfrm rot="10800000">
            <a:off x="720227" y="42505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7BD9C1"/>
          </a:solidFill>
          <a:ln w="9525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5"/>
          <p:cNvSpPr/>
          <p:nvPr/>
        </p:nvSpPr>
        <p:spPr>
          <a:xfrm flipH="1">
            <a:off x="4230577" y="41414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5"/>
          <p:cNvSpPr txBox="1"/>
          <p:nvPr/>
        </p:nvSpPr>
        <p:spPr>
          <a:xfrm>
            <a:off x="1431756" y="43790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5" name="Google Shape;1385;p45"/>
          <p:cNvSpPr txBox="1"/>
          <p:nvPr/>
        </p:nvSpPr>
        <p:spPr>
          <a:xfrm flipH="1">
            <a:off x="1431756" y="1828625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Faster than coding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6" name="Google Shape;1386;p45"/>
          <p:cNvSpPr txBox="1"/>
          <p:nvPr/>
        </p:nvSpPr>
        <p:spPr>
          <a:xfrm flipH="1">
            <a:off x="941088" y="15623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8" name="Google Shape;1388;p45"/>
          <p:cNvSpPr txBox="1"/>
          <p:nvPr/>
        </p:nvSpPr>
        <p:spPr>
          <a:xfrm flipH="1">
            <a:off x="1431756" y="2627387"/>
            <a:ext cx="1800454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Easy to maintain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 flipH="1">
            <a:off x="941088" y="25355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1" name="Google Shape;1391;p45"/>
          <p:cNvSpPr txBox="1"/>
          <p:nvPr/>
        </p:nvSpPr>
        <p:spPr>
          <a:xfrm flipH="1">
            <a:off x="1431756" y="3606838"/>
            <a:ext cx="1821951" cy="4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Automatic Updates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2" name="Google Shape;1392;p45"/>
          <p:cNvSpPr txBox="1"/>
          <p:nvPr/>
        </p:nvSpPr>
        <p:spPr>
          <a:xfrm flipH="1">
            <a:off x="941088" y="34645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77121</TotalTime>
  <Words>7047</Words>
  <Application>Microsoft Office PowerPoint</Application>
  <PresentationFormat>On-screen Show (16:9)</PresentationFormat>
  <Paragraphs>1161</Paragraphs>
  <Slides>158</Slides>
  <Notes>10</Notes>
  <HiddenSlides>35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6" baseType="lpstr">
      <vt:lpstr>Source Sans Pro</vt:lpstr>
      <vt:lpstr>Hammersmith One</vt:lpstr>
      <vt:lpstr>Arial</vt:lpstr>
      <vt:lpstr>Google Sans</vt:lpstr>
      <vt:lpstr>Consolas</vt:lpstr>
      <vt:lpstr>Cascadia Mono</vt:lpstr>
      <vt:lpstr>Wingdings</vt:lpstr>
      <vt:lpstr>Creative Sales Strategy by Slidesgo</vt:lpstr>
      <vt:lpstr>.NET Foundations</vt:lpstr>
      <vt:lpstr>Software Requirements</vt:lpstr>
      <vt:lpstr>Agenda</vt:lpstr>
      <vt:lpstr>Platform Overview</vt:lpstr>
      <vt:lpstr>What is .NET?</vt:lpstr>
      <vt:lpstr>If you are coming from Java…</vt:lpstr>
      <vt:lpstr>.NET versions and naming</vt:lpstr>
      <vt:lpstr>What is the .NET SDK?</vt:lpstr>
      <vt:lpstr>Dependency Management</vt:lpstr>
      <vt:lpstr>Common .NET SDK Commands</vt:lpstr>
      <vt:lpstr>.NET Overview Challenge 1</vt:lpstr>
      <vt:lpstr>Project Files</vt:lpstr>
      <vt:lpstr>C# Foundations</vt:lpstr>
      <vt:lpstr>What is C#?</vt:lpstr>
      <vt:lpstr>Program Structure</vt:lpstr>
      <vt:lpstr>The Main Method</vt:lpstr>
      <vt:lpstr>Built-In Primitive Data Types</vt:lpstr>
      <vt:lpstr>Var</vt:lpstr>
      <vt:lpstr>Type Conversion</vt:lpstr>
      <vt:lpstr>Arithmetic Operators</vt:lpstr>
      <vt:lpstr>Relational Operators</vt:lpstr>
      <vt:lpstr>Logical Operators</vt:lpstr>
      <vt:lpstr>Assignment Operators</vt:lpstr>
      <vt:lpstr>Increment/Decrement Operators</vt:lpstr>
      <vt:lpstr>Bitwise Operators</vt:lpstr>
      <vt:lpstr>Operator Precedence</vt:lpstr>
      <vt:lpstr>Operator Special Mentions</vt:lpstr>
      <vt:lpstr>Operator Special Mentions</vt:lpstr>
      <vt:lpstr>Comments</vt:lpstr>
      <vt:lpstr>Input/Output</vt:lpstr>
      <vt:lpstr>C# Foundations Challenge 1</vt:lpstr>
      <vt:lpstr>A Note on C# Under-the-hood behavior</vt:lpstr>
      <vt:lpstr>C#, Where memory is always** managed for you!!!</vt:lpstr>
      <vt:lpstr>Selection &amp; Iteration</vt:lpstr>
      <vt:lpstr>Selection &amp; Iteration</vt:lpstr>
      <vt:lpstr>Selection &amp; Iteration</vt:lpstr>
      <vt:lpstr>Dates</vt:lpstr>
      <vt:lpstr>Args</vt:lpstr>
      <vt:lpstr>C# Args and Dates Challenge</vt:lpstr>
      <vt:lpstr>Custom Types</vt:lpstr>
      <vt:lpstr>Classes</vt:lpstr>
      <vt:lpstr>Object instantiation</vt:lpstr>
      <vt:lpstr>Struct Example</vt:lpstr>
      <vt:lpstr>Formatting String Interpolations</vt:lpstr>
      <vt:lpstr>String Methods</vt:lpstr>
      <vt:lpstr>OOB Struct Example</vt:lpstr>
      <vt:lpstr>C# Foundations Challenge 2</vt:lpstr>
      <vt:lpstr>Collections</vt:lpstr>
      <vt:lpstr>Boxing/Unboxing</vt:lpstr>
      <vt:lpstr>Nuget Gallery</vt:lpstr>
      <vt:lpstr>C# Foundations Challenge 3</vt:lpstr>
      <vt:lpstr>Edit/delete list entry in console app</vt:lpstr>
      <vt:lpstr>C# Foundations Challenge 4</vt:lpstr>
      <vt:lpstr>Collections (continued)</vt:lpstr>
      <vt:lpstr>Iterating over Dictionaries</vt:lpstr>
      <vt:lpstr>Nested Collections</vt:lpstr>
      <vt:lpstr>C# Foundations Challenge 5</vt:lpstr>
      <vt:lpstr>OOP Concepts</vt:lpstr>
      <vt:lpstr>Inheritance</vt:lpstr>
      <vt:lpstr>Abstraction</vt:lpstr>
      <vt:lpstr>Polymorphism</vt:lpstr>
      <vt:lpstr>Encapsulation</vt:lpstr>
      <vt:lpstr>Access Modifiers</vt:lpstr>
      <vt:lpstr>C# Level I</vt:lpstr>
      <vt:lpstr>Partial Classes</vt:lpstr>
      <vt:lpstr>Sealed classes and methods</vt:lpstr>
      <vt:lpstr>Stacks &amp; Queues</vt:lpstr>
      <vt:lpstr>Linked Lists</vt:lpstr>
      <vt:lpstr>HashSets</vt:lpstr>
      <vt:lpstr>Enum</vt:lpstr>
      <vt:lpstr>Downcasting</vt:lpstr>
      <vt:lpstr>Serialization/Deserialization</vt:lpstr>
      <vt:lpstr>File I/O</vt:lpstr>
      <vt:lpstr>File I/O</vt:lpstr>
      <vt:lpstr>C# Level I Challenge 1</vt:lpstr>
      <vt:lpstr>IEnumerable</vt:lpstr>
      <vt:lpstr>LINQ</vt:lpstr>
      <vt:lpstr>LINQ</vt:lpstr>
      <vt:lpstr>C# Level I Challenge 2</vt:lpstr>
      <vt:lpstr>Exceptions</vt:lpstr>
      <vt:lpstr>What is an API?</vt:lpstr>
      <vt:lpstr>Types of APIs</vt:lpstr>
      <vt:lpstr>What is ASP.NET Core?</vt:lpstr>
      <vt:lpstr>ASP.NET Core vs ASP.NET 4.x</vt:lpstr>
      <vt:lpstr>API Options in ASP.NET Core</vt:lpstr>
      <vt:lpstr>Creating an ASP.NET Application</vt:lpstr>
      <vt:lpstr>Creating an ASP.NET Application</vt:lpstr>
      <vt:lpstr>Installing Nuget Packages</vt:lpstr>
      <vt:lpstr>Create a Domain</vt:lpstr>
      <vt:lpstr>C# Level I Challenge 3</vt:lpstr>
      <vt:lpstr>Connecting the Database</vt:lpstr>
      <vt:lpstr>Docker Desktop Install</vt:lpstr>
      <vt:lpstr>Docker Key Terms</vt:lpstr>
      <vt:lpstr>Database Creation</vt:lpstr>
      <vt:lpstr>Connecting the Database</vt:lpstr>
      <vt:lpstr>Install EF Core</vt:lpstr>
      <vt:lpstr>What is Entity Framework Core?</vt:lpstr>
      <vt:lpstr>Migrations</vt:lpstr>
      <vt:lpstr>Creating a Migration</vt:lpstr>
      <vt:lpstr>Apply a migration</vt:lpstr>
      <vt:lpstr>SQL Server Management Studio</vt:lpstr>
      <vt:lpstr>Other EF Core commands</vt:lpstr>
      <vt:lpstr>C# Level I Challenge 4</vt:lpstr>
      <vt:lpstr>Seeding Data</vt:lpstr>
      <vt:lpstr>Seeding Data</vt:lpstr>
      <vt:lpstr>Create Base Api Controller (for later)</vt:lpstr>
      <vt:lpstr>Create a custom controller</vt:lpstr>
      <vt:lpstr>Get an Activity by ID</vt:lpstr>
      <vt:lpstr>Route Params vs Query Params</vt:lpstr>
      <vt:lpstr>What codes to return</vt:lpstr>
      <vt:lpstr>C# Controller Challenge</vt:lpstr>
      <vt:lpstr>Design Patterns</vt:lpstr>
      <vt:lpstr>DbContext IS a repo layer and UoW</vt:lpstr>
      <vt:lpstr>SOLID</vt:lpstr>
      <vt:lpstr>Create a Service with Dependency Injection</vt:lpstr>
      <vt:lpstr>Create a repo layer</vt:lpstr>
      <vt:lpstr>The Factory Design Pattern</vt:lpstr>
      <vt:lpstr>Primary Constructors</vt:lpstr>
      <vt:lpstr>Logging in ASP.net</vt:lpstr>
      <vt:lpstr>Logging</vt:lpstr>
      <vt:lpstr>Unit Testing</vt:lpstr>
      <vt:lpstr>Unit Testing</vt:lpstr>
      <vt:lpstr>Unit Testing – Assert Types</vt:lpstr>
      <vt:lpstr>Creating a Minimal API</vt:lpstr>
      <vt:lpstr>Testing Our Minimal API</vt:lpstr>
      <vt:lpstr>C# Level I Challenge 5</vt:lpstr>
      <vt:lpstr>Unit Of Work Pattern</vt:lpstr>
      <vt:lpstr>Unit Of Work Pattern</vt:lpstr>
      <vt:lpstr>Unit Of Work Pattern</vt:lpstr>
      <vt:lpstr>Unit Of Work Pattern</vt:lpstr>
      <vt:lpstr>Unit Of Work Pattern</vt:lpstr>
      <vt:lpstr>versioning</vt:lpstr>
      <vt:lpstr>identity</vt:lpstr>
      <vt:lpstr>identity</vt:lpstr>
      <vt:lpstr>Identity - Edit db contexts</vt:lpstr>
      <vt:lpstr>identity</vt:lpstr>
      <vt:lpstr>identity</vt:lpstr>
      <vt:lpstr>Seed roles</vt:lpstr>
      <vt:lpstr>Identity – controller setup</vt:lpstr>
      <vt:lpstr>Identity – controller setup</vt:lpstr>
      <vt:lpstr>identity</vt:lpstr>
      <vt:lpstr>identity</vt:lpstr>
      <vt:lpstr>CORS</vt:lpstr>
      <vt:lpstr>Logger Middleware</vt:lpstr>
      <vt:lpstr>Filter</vt:lpstr>
      <vt:lpstr>Caching</vt:lpstr>
      <vt:lpstr>Clean Code</vt:lpstr>
      <vt:lpstr>CQRS</vt:lpstr>
      <vt:lpstr>Mediator Pattern</vt:lpstr>
      <vt:lpstr>Typescript</vt:lpstr>
      <vt:lpstr>React</vt:lpstr>
      <vt:lpstr>React</vt:lpstr>
      <vt:lpstr>Azure/Docker Setup</vt:lpstr>
      <vt:lpstr>Azure/Docker Setup</vt:lpstr>
      <vt:lpstr>Multi-Tenant Architecture</vt:lpstr>
      <vt:lpstr>MVC</vt:lpstr>
      <vt:lpstr>MVC</vt:lpstr>
      <vt:lpstr>No-Code vs Pro-Code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34</cp:revision>
  <dcterms:modified xsi:type="dcterms:W3CDTF">2026-04-29T21:48:52Z</dcterms:modified>
</cp:coreProperties>
</file>