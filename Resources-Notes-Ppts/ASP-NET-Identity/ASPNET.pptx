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40"/>
  </p:notesMasterIdLst>
  <p:sldIdLst>
    <p:sldId id="256" r:id="rId2"/>
    <p:sldId id="258" r:id="rId3"/>
    <p:sldId id="260" r:id="rId4"/>
    <p:sldId id="289" r:id="rId5"/>
    <p:sldId id="261" r:id="rId6"/>
    <p:sldId id="262" r:id="rId7"/>
    <p:sldId id="263" r:id="rId8"/>
    <p:sldId id="264" r:id="rId9"/>
    <p:sldId id="265" r:id="rId10"/>
    <p:sldId id="266" r:id="rId11"/>
    <p:sldId id="267" r:id="rId12"/>
    <p:sldId id="268" r:id="rId13"/>
    <p:sldId id="269" r:id="rId14"/>
    <p:sldId id="270" r:id="rId15"/>
    <p:sldId id="271" r:id="rId16"/>
    <p:sldId id="282" r:id="rId17"/>
    <p:sldId id="272" r:id="rId18"/>
    <p:sldId id="273" r:id="rId19"/>
    <p:sldId id="274" r:id="rId20"/>
    <p:sldId id="275" r:id="rId21"/>
    <p:sldId id="276" r:id="rId22"/>
    <p:sldId id="277" r:id="rId23"/>
    <p:sldId id="278" r:id="rId24"/>
    <p:sldId id="279" r:id="rId25"/>
    <p:sldId id="280" r:id="rId26"/>
    <p:sldId id="281" r:id="rId27"/>
    <p:sldId id="283" r:id="rId28"/>
    <p:sldId id="284" r:id="rId29"/>
    <p:sldId id="285" r:id="rId30"/>
    <p:sldId id="286" r:id="rId31"/>
    <p:sldId id="288" r:id="rId32"/>
    <p:sldId id="287" r:id="rId33"/>
    <p:sldId id="397" r:id="rId34"/>
    <p:sldId id="400" r:id="rId35"/>
    <p:sldId id="401" r:id="rId36"/>
    <p:sldId id="402" r:id="rId37"/>
    <p:sldId id="403" r:id="rId38"/>
    <p:sldId id="404" r:id="rId39"/>
  </p:sldIdLst>
  <p:sldSz cx="9144000" cy="5143500" type="screen16x9"/>
  <p:notesSz cx="6858000" cy="9144000"/>
  <p:embeddedFontLst>
    <p:embeddedFont>
      <p:font typeface="Hammersmith One" panose="02010703030501060504" pitchFamily="2" charset="0"/>
      <p:regular r:id="rId41"/>
    </p:embeddedFont>
    <p:embeddedFont>
      <p:font typeface="Source Sans Pro" panose="020B0503030403020204" pitchFamily="34"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9" autoAdjust="0"/>
    <p:restoredTop sz="96247" autoAdjust="0"/>
  </p:normalViewPr>
  <p:slideViewPr>
    <p:cSldViewPr snapToGrid="0">
      <p:cViewPr varScale="1">
        <p:scale>
          <a:sx n="180" d="100"/>
          <a:sy n="180" d="100"/>
        </p:scale>
        <p:origin x="168" y="3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13"/>
        <p:cNvGrpSpPr/>
        <p:nvPr/>
      </p:nvGrpSpPr>
      <p:grpSpPr>
        <a:xfrm>
          <a:off x="0" y="0"/>
          <a:ext cx="0" cy="0"/>
          <a:chOff x="0" y="0"/>
          <a:chExt cx="0" cy="0"/>
        </a:xfrm>
      </p:grpSpPr>
      <p:sp>
        <p:nvSpPr>
          <p:cNvPr id="114" name="Google Shape;114;p15"/>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0262713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 id="214748367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7" Type="http://schemas.openxmlformats.org/officeDocument/2006/relationships/image" Target="../media/image55.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3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6AD6F0-F803-C934-C704-97A1B3CC780D}"/>
              </a:ext>
            </a:extLst>
          </p:cNvPr>
          <p:cNvSpPr>
            <a:spLocks noGrp="1"/>
          </p:cNvSpPr>
          <p:nvPr>
            <p:ph type="body" idx="1"/>
          </p:nvPr>
        </p:nvSpPr>
        <p:spPr>
          <a:xfrm>
            <a:off x="936285" y="1104464"/>
            <a:ext cx="7271429" cy="3179400"/>
          </a:xfrm>
        </p:spPr>
        <p:txBody>
          <a:bodyPr/>
          <a:lstStyle/>
          <a:p>
            <a:r>
              <a:rPr lang="en-US" dirty="0"/>
              <a:t>The automatic process by ASP.NET core that maps user requests to controller endpoint parameters</a:t>
            </a:r>
          </a:p>
        </p:txBody>
      </p:sp>
      <p:sp>
        <p:nvSpPr>
          <p:cNvPr id="3" name="Title 2">
            <a:extLst>
              <a:ext uri="{FF2B5EF4-FFF2-40B4-BE49-F238E27FC236}">
                <a16:creationId xmlns:a16="http://schemas.microsoft.com/office/drawing/2014/main" id="{82D98C0B-C5CF-6D77-736F-B9CE882E15CB}"/>
              </a:ext>
            </a:extLst>
          </p:cNvPr>
          <p:cNvSpPr>
            <a:spLocks noGrp="1"/>
          </p:cNvSpPr>
          <p:nvPr>
            <p:ph type="title"/>
          </p:nvPr>
        </p:nvSpPr>
        <p:spPr/>
        <p:txBody>
          <a:bodyPr/>
          <a:lstStyle/>
          <a:p>
            <a:r>
              <a:rPr lang="en-US" dirty="0"/>
              <a:t>Model Binding</a:t>
            </a:r>
          </a:p>
        </p:txBody>
      </p:sp>
      <p:pic>
        <p:nvPicPr>
          <p:cNvPr id="5" name="Picture 4">
            <a:extLst>
              <a:ext uri="{FF2B5EF4-FFF2-40B4-BE49-F238E27FC236}">
                <a16:creationId xmlns:a16="http://schemas.microsoft.com/office/drawing/2014/main" id="{BABE08A6-90A1-F0EB-41C9-BE5E0442E0E9}"/>
              </a:ext>
            </a:extLst>
          </p:cNvPr>
          <p:cNvPicPr>
            <a:picLocks noChangeAspect="1"/>
          </p:cNvPicPr>
          <p:nvPr/>
        </p:nvPicPr>
        <p:blipFill>
          <a:blip r:embed="rId2"/>
          <a:stretch>
            <a:fillRect/>
          </a:stretch>
        </p:blipFill>
        <p:spPr>
          <a:xfrm>
            <a:off x="3587954" y="1726175"/>
            <a:ext cx="1968092" cy="2626253"/>
          </a:xfrm>
          <a:prstGeom prst="rect">
            <a:avLst/>
          </a:prstGeom>
        </p:spPr>
      </p:pic>
    </p:spTree>
    <p:extLst>
      <p:ext uri="{BB962C8B-B14F-4D97-AF65-F5344CB8AC3E}">
        <p14:creationId xmlns:p14="http://schemas.microsoft.com/office/powerpoint/2010/main" val="26549343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462213"/>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r>
              <a:rPr lang="en-US" dirty="0">
                <a:solidFill>
                  <a:schemeClr val="bg1"/>
                </a:solidFill>
              </a:rPr>
              <a:t>Run this to generate dev SSL cert:</a:t>
            </a:r>
          </a:p>
          <a:p>
            <a:r>
              <a:rPr lang="en-US" dirty="0">
                <a:solidFill>
                  <a:schemeClr val="bg1"/>
                </a:solidFill>
              </a:rPr>
              <a:t>dotnet dev-certs https --trust</a:t>
            </a: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AC4DDB-E9AA-B4F7-861B-87DD37ED0F4E}"/>
              </a:ext>
            </a:extLst>
          </p:cNvPr>
          <p:cNvSpPr>
            <a:spLocks noGrp="1"/>
          </p:cNvSpPr>
          <p:nvPr>
            <p:ph type="title"/>
          </p:nvPr>
        </p:nvSpPr>
        <p:spPr/>
        <p:txBody>
          <a:bodyPr/>
          <a:lstStyle/>
          <a:p>
            <a:r>
              <a:rPr lang="en-US" dirty="0"/>
              <a:t>Change Tracking</a:t>
            </a:r>
          </a:p>
        </p:txBody>
      </p:sp>
      <p:pic>
        <p:nvPicPr>
          <p:cNvPr id="5" name="Picture 4">
            <a:extLst>
              <a:ext uri="{FF2B5EF4-FFF2-40B4-BE49-F238E27FC236}">
                <a16:creationId xmlns:a16="http://schemas.microsoft.com/office/drawing/2014/main" id="{089F2091-7D6B-BFC6-1C60-2B23610CEE41}"/>
              </a:ext>
            </a:extLst>
          </p:cNvPr>
          <p:cNvPicPr>
            <a:picLocks noChangeAspect="1"/>
          </p:cNvPicPr>
          <p:nvPr/>
        </p:nvPicPr>
        <p:blipFill>
          <a:blip r:embed="rId2"/>
          <a:stretch>
            <a:fillRect/>
          </a:stretch>
        </p:blipFill>
        <p:spPr>
          <a:xfrm>
            <a:off x="1299754" y="2041772"/>
            <a:ext cx="6563641" cy="1590897"/>
          </a:xfrm>
          <a:prstGeom prst="rect">
            <a:avLst/>
          </a:prstGeom>
        </p:spPr>
      </p:pic>
      <p:sp>
        <p:nvSpPr>
          <p:cNvPr id="6" name="TextBox 5">
            <a:extLst>
              <a:ext uri="{FF2B5EF4-FFF2-40B4-BE49-F238E27FC236}">
                <a16:creationId xmlns:a16="http://schemas.microsoft.com/office/drawing/2014/main" id="{A35FFA25-6869-AC3B-774A-9A163E6192F4}"/>
              </a:ext>
            </a:extLst>
          </p:cNvPr>
          <p:cNvSpPr txBox="1"/>
          <p:nvPr/>
        </p:nvSpPr>
        <p:spPr>
          <a:xfrm>
            <a:off x="1280605" y="1733995"/>
            <a:ext cx="662361" cy="307777"/>
          </a:xfrm>
          <a:prstGeom prst="rect">
            <a:avLst/>
          </a:prstGeom>
          <a:noFill/>
        </p:spPr>
        <p:txBody>
          <a:bodyPr wrap="none" rtlCol="0">
            <a:spAutoFit/>
          </a:bodyPr>
          <a:lstStyle/>
          <a:p>
            <a:r>
              <a:rPr lang="en-US" dirty="0">
                <a:solidFill>
                  <a:schemeClr val="bg1"/>
                </a:solidFill>
              </a:rPr>
              <a:t>Repo:</a:t>
            </a:r>
          </a:p>
        </p:txBody>
      </p:sp>
    </p:spTree>
    <p:extLst>
      <p:ext uri="{BB962C8B-B14F-4D97-AF65-F5344CB8AC3E}">
        <p14:creationId xmlns:p14="http://schemas.microsoft.com/office/powerpoint/2010/main" val="240699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EEB698-1BAB-4F9D-FB97-9896A173E83E}"/>
              </a:ext>
            </a:extLst>
          </p:cNvPr>
          <p:cNvSpPr>
            <a:spLocks noGrp="1"/>
          </p:cNvSpPr>
          <p:nvPr>
            <p:ph type="title"/>
          </p:nvPr>
        </p:nvSpPr>
        <p:spPr/>
        <p:txBody>
          <a:bodyPr/>
          <a:lstStyle/>
          <a:p>
            <a:r>
              <a:rPr lang="en-US" dirty="0"/>
              <a:t>EF Core Data Annotations</a:t>
            </a:r>
          </a:p>
        </p:txBody>
      </p:sp>
      <p:pic>
        <p:nvPicPr>
          <p:cNvPr id="5" name="Picture 4">
            <a:extLst>
              <a:ext uri="{FF2B5EF4-FFF2-40B4-BE49-F238E27FC236}">
                <a16:creationId xmlns:a16="http://schemas.microsoft.com/office/drawing/2014/main" id="{C3A99C2D-B489-F44B-B6AE-6393CB29A60B}"/>
              </a:ext>
            </a:extLst>
          </p:cNvPr>
          <p:cNvPicPr>
            <a:picLocks noChangeAspect="1"/>
          </p:cNvPicPr>
          <p:nvPr/>
        </p:nvPicPr>
        <p:blipFill>
          <a:blip r:embed="rId2"/>
          <a:stretch>
            <a:fillRect/>
          </a:stretch>
        </p:blipFill>
        <p:spPr>
          <a:xfrm>
            <a:off x="1317275" y="1160205"/>
            <a:ext cx="2499809" cy="3486765"/>
          </a:xfrm>
          <a:prstGeom prst="rect">
            <a:avLst/>
          </a:prstGeom>
        </p:spPr>
      </p:pic>
      <p:sp>
        <p:nvSpPr>
          <p:cNvPr id="6" name="TextBox 5">
            <a:extLst>
              <a:ext uri="{FF2B5EF4-FFF2-40B4-BE49-F238E27FC236}">
                <a16:creationId xmlns:a16="http://schemas.microsoft.com/office/drawing/2014/main" id="{F386279D-AFA8-41E9-7A50-190DA057E526}"/>
              </a:ext>
            </a:extLst>
          </p:cNvPr>
          <p:cNvSpPr txBox="1"/>
          <p:nvPr/>
        </p:nvSpPr>
        <p:spPr>
          <a:xfrm>
            <a:off x="4055806" y="2010696"/>
            <a:ext cx="4114800" cy="1384995"/>
          </a:xfrm>
          <a:prstGeom prst="rect">
            <a:avLst/>
          </a:prstGeom>
          <a:noFill/>
        </p:spPr>
        <p:txBody>
          <a:bodyPr wrap="square" rtlCol="0">
            <a:spAutoFit/>
          </a:bodyPr>
          <a:lstStyle/>
          <a:p>
            <a:r>
              <a:rPr lang="en-US" dirty="0">
                <a:solidFill>
                  <a:schemeClr val="bg1"/>
                </a:solidFill>
              </a:rPr>
              <a:t>Data Annotations allow us to declaratively set conditions on fields that will apply during migrations</a:t>
            </a:r>
          </a:p>
          <a:p>
            <a:endParaRPr lang="en-US" dirty="0">
              <a:solidFill>
                <a:schemeClr val="bg1"/>
              </a:solidFill>
            </a:endParaRPr>
          </a:p>
          <a:p>
            <a:r>
              <a:rPr lang="en-US" dirty="0">
                <a:solidFill>
                  <a:schemeClr val="bg1"/>
                </a:solidFill>
              </a:rPr>
              <a:t>This is NOT a complete list of all annotations, only common ones</a:t>
            </a:r>
          </a:p>
        </p:txBody>
      </p:sp>
      <p:sp>
        <p:nvSpPr>
          <p:cNvPr id="7" name="TextBox 6">
            <a:extLst>
              <a:ext uri="{FF2B5EF4-FFF2-40B4-BE49-F238E27FC236}">
                <a16:creationId xmlns:a16="http://schemas.microsoft.com/office/drawing/2014/main" id="{89F16849-56BF-321F-F9E7-552A33AD68DA}"/>
              </a:ext>
            </a:extLst>
          </p:cNvPr>
          <p:cNvSpPr txBox="1"/>
          <p:nvPr/>
        </p:nvSpPr>
        <p:spPr>
          <a:xfrm>
            <a:off x="1229033" y="892214"/>
            <a:ext cx="721672" cy="307777"/>
          </a:xfrm>
          <a:prstGeom prst="rect">
            <a:avLst/>
          </a:prstGeom>
          <a:noFill/>
        </p:spPr>
        <p:txBody>
          <a:bodyPr wrap="none" rtlCol="0">
            <a:spAutoFit/>
          </a:bodyPr>
          <a:lstStyle/>
          <a:p>
            <a:r>
              <a:rPr lang="en-US" dirty="0">
                <a:solidFill>
                  <a:schemeClr val="bg1"/>
                </a:solidFill>
              </a:rPr>
              <a:t>Model:</a:t>
            </a:r>
          </a:p>
        </p:txBody>
      </p:sp>
    </p:spTree>
    <p:extLst>
      <p:ext uri="{BB962C8B-B14F-4D97-AF65-F5344CB8AC3E}">
        <p14:creationId xmlns:p14="http://schemas.microsoft.com/office/powerpoint/2010/main" val="38979799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77A5-0BB7-34E0-7058-AFEDA5588A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BD08787-2BC2-86AD-37C3-E215C6FF12C5}"/>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B14C66B3-2326-3182-DD63-6560847AD302}"/>
              </a:ext>
            </a:extLst>
          </p:cNvPr>
          <p:cNvPicPr>
            <a:picLocks noChangeAspect="1"/>
          </p:cNvPicPr>
          <p:nvPr/>
        </p:nvPicPr>
        <p:blipFill>
          <a:blip r:embed="rId2"/>
          <a:stretch>
            <a:fillRect/>
          </a:stretch>
        </p:blipFill>
        <p:spPr>
          <a:xfrm>
            <a:off x="1381185" y="1907456"/>
            <a:ext cx="2217421" cy="3092887"/>
          </a:xfrm>
          <a:prstGeom prst="rect">
            <a:avLst/>
          </a:prstGeom>
        </p:spPr>
      </p:pic>
      <p:pic>
        <p:nvPicPr>
          <p:cNvPr id="4" name="Picture 3">
            <a:extLst>
              <a:ext uri="{FF2B5EF4-FFF2-40B4-BE49-F238E27FC236}">
                <a16:creationId xmlns:a16="http://schemas.microsoft.com/office/drawing/2014/main" id="{DEDEA23C-1D4C-7DB2-2828-0F8C8FD40EBB}"/>
              </a:ext>
            </a:extLst>
          </p:cNvPr>
          <p:cNvPicPr>
            <a:picLocks noChangeAspect="1"/>
          </p:cNvPicPr>
          <p:nvPr/>
        </p:nvPicPr>
        <p:blipFill>
          <a:blip r:embed="rId3"/>
          <a:stretch>
            <a:fillRect/>
          </a:stretch>
        </p:blipFill>
        <p:spPr>
          <a:xfrm>
            <a:off x="4034243" y="1907456"/>
            <a:ext cx="3847676" cy="3056187"/>
          </a:xfrm>
          <a:prstGeom prst="rect">
            <a:avLst/>
          </a:prstGeom>
        </p:spPr>
      </p:pic>
      <p:sp>
        <p:nvSpPr>
          <p:cNvPr id="7" name="TextBox 6">
            <a:extLst>
              <a:ext uri="{FF2B5EF4-FFF2-40B4-BE49-F238E27FC236}">
                <a16:creationId xmlns:a16="http://schemas.microsoft.com/office/drawing/2014/main" id="{0AA9E76E-201D-3A66-E7F6-3E0CBE1FB397}"/>
              </a:ext>
            </a:extLst>
          </p:cNvPr>
          <p:cNvSpPr txBox="1"/>
          <p:nvPr/>
        </p:nvSpPr>
        <p:spPr>
          <a:xfrm>
            <a:off x="3589155" y="1465007"/>
            <a:ext cx="1984839" cy="307777"/>
          </a:xfrm>
          <a:prstGeom prst="rect">
            <a:avLst/>
          </a:prstGeom>
          <a:noFill/>
        </p:spPr>
        <p:txBody>
          <a:bodyPr wrap="none" rtlCol="0">
            <a:spAutoFit/>
          </a:bodyPr>
          <a:lstStyle/>
          <a:p>
            <a:r>
              <a:rPr lang="en-US" dirty="0">
                <a:solidFill>
                  <a:schemeClr val="bg1"/>
                </a:solidFill>
              </a:rPr>
              <a:t>1 to many relationship:</a:t>
            </a:r>
          </a:p>
        </p:txBody>
      </p:sp>
    </p:spTree>
    <p:extLst>
      <p:ext uri="{BB962C8B-B14F-4D97-AF65-F5344CB8AC3E}">
        <p14:creationId xmlns:p14="http://schemas.microsoft.com/office/powerpoint/2010/main" val="31501806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A042A-ADB4-E83C-9592-E50CBFBF8F7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D1B0D7-4D08-4965-85B2-8A3C492F559C}"/>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E164D611-34D1-1AD6-E56E-00A8EF336304}"/>
              </a:ext>
            </a:extLst>
          </p:cNvPr>
          <p:cNvPicPr>
            <a:picLocks noChangeAspect="1"/>
          </p:cNvPicPr>
          <p:nvPr/>
        </p:nvPicPr>
        <p:blipFill>
          <a:blip r:embed="rId2"/>
          <a:stretch>
            <a:fillRect/>
          </a:stretch>
        </p:blipFill>
        <p:spPr>
          <a:xfrm>
            <a:off x="506114" y="1995946"/>
            <a:ext cx="2217421" cy="3092887"/>
          </a:xfrm>
          <a:prstGeom prst="rect">
            <a:avLst/>
          </a:prstGeom>
        </p:spPr>
      </p:pic>
      <p:sp>
        <p:nvSpPr>
          <p:cNvPr id="7" name="TextBox 6">
            <a:extLst>
              <a:ext uri="{FF2B5EF4-FFF2-40B4-BE49-F238E27FC236}">
                <a16:creationId xmlns:a16="http://schemas.microsoft.com/office/drawing/2014/main" id="{C9AA51F4-CE01-4B37-EBDD-7D511D50D5A0}"/>
              </a:ext>
            </a:extLst>
          </p:cNvPr>
          <p:cNvSpPr txBox="1"/>
          <p:nvPr/>
        </p:nvSpPr>
        <p:spPr>
          <a:xfrm>
            <a:off x="1148204" y="1316977"/>
            <a:ext cx="6866742" cy="738664"/>
          </a:xfrm>
          <a:prstGeom prst="rect">
            <a:avLst/>
          </a:prstGeom>
          <a:noFill/>
        </p:spPr>
        <p:txBody>
          <a:bodyPr wrap="square" rtlCol="0">
            <a:spAutoFit/>
          </a:bodyPr>
          <a:lstStyle/>
          <a:p>
            <a:r>
              <a:rPr lang="en-US" dirty="0">
                <a:solidFill>
                  <a:schemeClr val="bg1"/>
                </a:solidFill>
              </a:rPr>
              <a:t>many to many relationship (with manual junction table – when inserting records you must create junction table record manually to link records; use when you have fields on the junction table itself outside of the IDs):</a:t>
            </a:r>
          </a:p>
        </p:txBody>
      </p:sp>
      <p:pic>
        <p:nvPicPr>
          <p:cNvPr id="6" name="Picture 5">
            <a:extLst>
              <a:ext uri="{FF2B5EF4-FFF2-40B4-BE49-F238E27FC236}">
                <a16:creationId xmlns:a16="http://schemas.microsoft.com/office/drawing/2014/main" id="{55E13BB0-2517-1559-A42D-FF3B67993181}"/>
              </a:ext>
            </a:extLst>
          </p:cNvPr>
          <p:cNvPicPr>
            <a:picLocks noChangeAspect="1"/>
          </p:cNvPicPr>
          <p:nvPr/>
        </p:nvPicPr>
        <p:blipFill>
          <a:blip r:embed="rId3"/>
          <a:stretch>
            <a:fillRect/>
          </a:stretch>
        </p:blipFill>
        <p:spPr>
          <a:xfrm>
            <a:off x="3038702" y="2142873"/>
            <a:ext cx="2521440" cy="1984226"/>
          </a:xfrm>
          <a:prstGeom prst="rect">
            <a:avLst/>
          </a:prstGeom>
        </p:spPr>
      </p:pic>
      <p:pic>
        <p:nvPicPr>
          <p:cNvPr id="9" name="Picture 8">
            <a:extLst>
              <a:ext uri="{FF2B5EF4-FFF2-40B4-BE49-F238E27FC236}">
                <a16:creationId xmlns:a16="http://schemas.microsoft.com/office/drawing/2014/main" id="{D970ACA4-7883-8A62-DFCA-29608FC3CD28}"/>
              </a:ext>
            </a:extLst>
          </p:cNvPr>
          <p:cNvPicPr>
            <a:picLocks noChangeAspect="1"/>
          </p:cNvPicPr>
          <p:nvPr/>
        </p:nvPicPr>
        <p:blipFill>
          <a:blip r:embed="rId4"/>
          <a:stretch>
            <a:fillRect/>
          </a:stretch>
        </p:blipFill>
        <p:spPr>
          <a:xfrm>
            <a:off x="5748285" y="2180195"/>
            <a:ext cx="2889601" cy="1597331"/>
          </a:xfrm>
          <a:prstGeom prst="rect">
            <a:avLst/>
          </a:prstGeom>
        </p:spPr>
      </p:pic>
      <p:sp>
        <p:nvSpPr>
          <p:cNvPr id="12" name="TextBox 11">
            <a:extLst>
              <a:ext uri="{FF2B5EF4-FFF2-40B4-BE49-F238E27FC236}">
                <a16:creationId xmlns:a16="http://schemas.microsoft.com/office/drawing/2014/main" id="{51A68E70-1C39-4C73-5728-4D98FC83AE21}"/>
              </a:ext>
            </a:extLst>
          </p:cNvPr>
          <p:cNvSpPr txBox="1"/>
          <p:nvPr/>
        </p:nvSpPr>
        <p:spPr>
          <a:xfrm>
            <a:off x="3668823" y="4122159"/>
            <a:ext cx="2473754" cy="307777"/>
          </a:xfrm>
          <a:prstGeom prst="rect">
            <a:avLst/>
          </a:prstGeom>
          <a:noFill/>
        </p:spPr>
        <p:txBody>
          <a:bodyPr wrap="none" rtlCol="0">
            <a:spAutoFit/>
          </a:bodyPr>
          <a:lstStyle/>
          <a:p>
            <a:r>
              <a:rPr lang="en-US" dirty="0">
                <a:solidFill>
                  <a:schemeClr val="bg1"/>
                </a:solidFill>
              </a:rPr>
              <a:t>Composite key via fluent </a:t>
            </a:r>
            <a:r>
              <a:rPr lang="en-US" dirty="0" err="1">
                <a:solidFill>
                  <a:schemeClr val="bg1"/>
                </a:solidFill>
              </a:rPr>
              <a:t>api</a:t>
            </a:r>
            <a:r>
              <a:rPr lang="en-US" dirty="0">
                <a:solidFill>
                  <a:schemeClr val="bg1"/>
                </a:solidFill>
              </a:rPr>
              <a:t>:</a:t>
            </a:r>
          </a:p>
        </p:txBody>
      </p:sp>
      <p:pic>
        <p:nvPicPr>
          <p:cNvPr id="14" name="Picture 13">
            <a:extLst>
              <a:ext uri="{FF2B5EF4-FFF2-40B4-BE49-F238E27FC236}">
                <a16:creationId xmlns:a16="http://schemas.microsoft.com/office/drawing/2014/main" id="{51F3004C-251B-C67D-B5D4-88949A523D57}"/>
              </a:ext>
            </a:extLst>
          </p:cNvPr>
          <p:cNvPicPr>
            <a:picLocks noChangeAspect="1"/>
          </p:cNvPicPr>
          <p:nvPr/>
        </p:nvPicPr>
        <p:blipFill>
          <a:blip r:embed="rId5"/>
          <a:stretch>
            <a:fillRect/>
          </a:stretch>
        </p:blipFill>
        <p:spPr>
          <a:xfrm>
            <a:off x="3784026" y="4424995"/>
            <a:ext cx="2358551" cy="718409"/>
          </a:xfrm>
          <a:prstGeom prst="rect">
            <a:avLst/>
          </a:prstGeom>
        </p:spPr>
      </p:pic>
    </p:spTree>
    <p:extLst>
      <p:ext uri="{BB962C8B-B14F-4D97-AF65-F5344CB8AC3E}">
        <p14:creationId xmlns:p14="http://schemas.microsoft.com/office/powerpoint/2010/main" val="22038736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4F62-0BA9-F0D4-D3CA-246E597A6B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C789D0D-C258-140F-C009-B6AC9392F500}"/>
              </a:ext>
            </a:extLst>
          </p:cNvPr>
          <p:cNvSpPr>
            <a:spLocks noGrp="1"/>
          </p:cNvSpPr>
          <p:nvPr>
            <p:ph type="title"/>
          </p:nvPr>
        </p:nvSpPr>
        <p:spPr/>
        <p:txBody>
          <a:bodyPr/>
          <a:lstStyle/>
          <a:p>
            <a:r>
              <a:rPr lang="en-US" dirty="0"/>
              <a:t>Data Annotations – Relationships &amp; Navigation Properties</a:t>
            </a:r>
          </a:p>
        </p:txBody>
      </p:sp>
      <p:sp>
        <p:nvSpPr>
          <p:cNvPr id="7" name="TextBox 6">
            <a:extLst>
              <a:ext uri="{FF2B5EF4-FFF2-40B4-BE49-F238E27FC236}">
                <a16:creationId xmlns:a16="http://schemas.microsoft.com/office/drawing/2014/main" id="{39051433-93DF-D864-2F05-3EAA68EE61C6}"/>
              </a:ext>
            </a:extLst>
          </p:cNvPr>
          <p:cNvSpPr txBox="1"/>
          <p:nvPr/>
        </p:nvSpPr>
        <p:spPr>
          <a:xfrm>
            <a:off x="2030854" y="1420762"/>
            <a:ext cx="5082291" cy="523220"/>
          </a:xfrm>
          <a:prstGeom prst="rect">
            <a:avLst/>
          </a:prstGeom>
          <a:noFill/>
        </p:spPr>
        <p:txBody>
          <a:bodyPr wrap="square" rtlCol="0">
            <a:spAutoFit/>
          </a:bodyPr>
          <a:lstStyle/>
          <a:p>
            <a:r>
              <a:rPr lang="en-US" dirty="0">
                <a:solidFill>
                  <a:schemeClr val="bg1"/>
                </a:solidFill>
              </a:rPr>
              <a:t>many to many relationship (with implicit junction table – no need to manually create junction table records):</a:t>
            </a:r>
          </a:p>
        </p:txBody>
      </p:sp>
      <p:pic>
        <p:nvPicPr>
          <p:cNvPr id="4" name="Picture 3">
            <a:extLst>
              <a:ext uri="{FF2B5EF4-FFF2-40B4-BE49-F238E27FC236}">
                <a16:creationId xmlns:a16="http://schemas.microsoft.com/office/drawing/2014/main" id="{6D5E5A83-3D2B-F670-4443-0F32B1EC264A}"/>
              </a:ext>
            </a:extLst>
          </p:cNvPr>
          <p:cNvPicPr>
            <a:picLocks noChangeAspect="1"/>
          </p:cNvPicPr>
          <p:nvPr/>
        </p:nvPicPr>
        <p:blipFill>
          <a:blip r:embed="rId2"/>
          <a:stretch>
            <a:fillRect/>
          </a:stretch>
        </p:blipFill>
        <p:spPr>
          <a:xfrm>
            <a:off x="644196" y="2254333"/>
            <a:ext cx="3391947" cy="2485269"/>
          </a:xfrm>
          <a:prstGeom prst="rect">
            <a:avLst/>
          </a:prstGeom>
        </p:spPr>
      </p:pic>
      <p:pic>
        <p:nvPicPr>
          <p:cNvPr id="10" name="Picture 9">
            <a:extLst>
              <a:ext uri="{FF2B5EF4-FFF2-40B4-BE49-F238E27FC236}">
                <a16:creationId xmlns:a16="http://schemas.microsoft.com/office/drawing/2014/main" id="{3A7E6DB9-8F0F-DF31-B8C7-ED6597882FC4}"/>
              </a:ext>
            </a:extLst>
          </p:cNvPr>
          <p:cNvPicPr>
            <a:picLocks noChangeAspect="1"/>
          </p:cNvPicPr>
          <p:nvPr/>
        </p:nvPicPr>
        <p:blipFill>
          <a:blip r:embed="rId3"/>
          <a:stretch>
            <a:fillRect/>
          </a:stretch>
        </p:blipFill>
        <p:spPr>
          <a:xfrm>
            <a:off x="4708500" y="2751505"/>
            <a:ext cx="3296110" cy="1238423"/>
          </a:xfrm>
          <a:prstGeom prst="rect">
            <a:avLst/>
          </a:prstGeom>
        </p:spPr>
      </p:pic>
    </p:spTree>
    <p:extLst>
      <p:ext uri="{BB962C8B-B14F-4D97-AF65-F5344CB8AC3E}">
        <p14:creationId xmlns:p14="http://schemas.microsoft.com/office/powerpoint/2010/main" val="1980797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F91F62-4C7F-FFF7-55FB-9EDCBD590503}"/>
              </a:ext>
            </a:extLst>
          </p:cNvPr>
          <p:cNvSpPr>
            <a:spLocks noGrp="1"/>
          </p:cNvSpPr>
          <p:nvPr>
            <p:ph type="title"/>
          </p:nvPr>
        </p:nvSpPr>
        <p:spPr/>
        <p:txBody>
          <a:bodyPr/>
          <a:lstStyle/>
          <a:p>
            <a:r>
              <a:rPr lang="en-US" dirty="0"/>
              <a:t>Fluent API</a:t>
            </a:r>
          </a:p>
        </p:txBody>
      </p:sp>
      <p:pic>
        <p:nvPicPr>
          <p:cNvPr id="5" name="Picture 4">
            <a:extLst>
              <a:ext uri="{FF2B5EF4-FFF2-40B4-BE49-F238E27FC236}">
                <a16:creationId xmlns:a16="http://schemas.microsoft.com/office/drawing/2014/main" id="{A85E707E-03A9-240E-816D-1128B4A3729A}"/>
              </a:ext>
            </a:extLst>
          </p:cNvPr>
          <p:cNvPicPr>
            <a:picLocks noChangeAspect="1"/>
          </p:cNvPicPr>
          <p:nvPr/>
        </p:nvPicPr>
        <p:blipFill>
          <a:blip r:embed="rId2"/>
          <a:stretch>
            <a:fillRect/>
          </a:stretch>
        </p:blipFill>
        <p:spPr>
          <a:xfrm>
            <a:off x="1597461" y="1037303"/>
            <a:ext cx="2151894" cy="3899719"/>
          </a:xfrm>
          <a:prstGeom prst="rect">
            <a:avLst/>
          </a:prstGeom>
        </p:spPr>
      </p:pic>
      <p:sp>
        <p:nvSpPr>
          <p:cNvPr id="6" name="TextBox 5">
            <a:extLst>
              <a:ext uri="{FF2B5EF4-FFF2-40B4-BE49-F238E27FC236}">
                <a16:creationId xmlns:a16="http://schemas.microsoft.com/office/drawing/2014/main" id="{5FC06954-B64C-FC39-E0EE-9CECA821BF04}"/>
              </a:ext>
            </a:extLst>
          </p:cNvPr>
          <p:cNvSpPr txBox="1"/>
          <p:nvPr/>
        </p:nvSpPr>
        <p:spPr>
          <a:xfrm>
            <a:off x="4031226" y="2207342"/>
            <a:ext cx="4267200" cy="1384995"/>
          </a:xfrm>
          <a:prstGeom prst="rect">
            <a:avLst/>
          </a:prstGeom>
          <a:noFill/>
        </p:spPr>
        <p:txBody>
          <a:bodyPr wrap="square" rtlCol="0">
            <a:spAutoFit/>
          </a:bodyPr>
          <a:lstStyle/>
          <a:p>
            <a:r>
              <a:rPr lang="en-US" dirty="0">
                <a:solidFill>
                  <a:schemeClr val="bg1"/>
                </a:solidFill>
              </a:rPr>
              <a:t>Fluent API is preferred over data annotations for fine-grain control and complex table relationships</a:t>
            </a:r>
          </a:p>
          <a:p>
            <a:endParaRPr lang="en-US" dirty="0">
              <a:solidFill>
                <a:schemeClr val="bg1"/>
              </a:solidFill>
            </a:endParaRPr>
          </a:p>
          <a:p>
            <a:r>
              <a:rPr lang="en-US" dirty="0">
                <a:solidFill>
                  <a:schemeClr val="bg1"/>
                </a:solidFill>
              </a:rPr>
              <a:t>This also keeps our Domain models ‘pure’ and thus creates a clean separation of concerns from domain between</a:t>
            </a:r>
            <a:r>
              <a:rPr lang="en-US" dirty="0">
                <a:solidFill>
                  <a:schemeClr val="bg1"/>
                </a:solidFill>
                <a:sym typeface="Wingdings" panose="05000000000000000000" pitchFamily="2" charset="2"/>
              </a:rPr>
              <a:t> persistence </a:t>
            </a:r>
            <a:endParaRPr lang="en-US" dirty="0">
              <a:solidFill>
                <a:schemeClr val="bg1"/>
              </a:solidFill>
            </a:endParaRPr>
          </a:p>
        </p:txBody>
      </p:sp>
    </p:spTree>
    <p:extLst>
      <p:ext uri="{BB962C8B-B14F-4D97-AF65-F5344CB8AC3E}">
        <p14:creationId xmlns:p14="http://schemas.microsoft.com/office/powerpoint/2010/main" val="3722538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B59F9-1799-6597-8BBD-E55D07F7650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C1123D-410F-A7D0-C3EB-B261040A5D39}"/>
              </a:ext>
            </a:extLst>
          </p:cNvPr>
          <p:cNvSpPr>
            <a:spLocks noGrp="1"/>
          </p:cNvSpPr>
          <p:nvPr>
            <p:ph type="title"/>
          </p:nvPr>
        </p:nvSpPr>
        <p:spPr/>
        <p:txBody>
          <a:bodyPr/>
          <a:lstStyle/>
          <a:p>
            <a:r>
              <a:rPr lang="en-US" dirty="0"/>
              <a:t>Fluent API – Other Common Methods</a:t>
            </a:r>
          </a:p>
        </p:txBody>
      </p:sp>
      <p:pic>
        <p:nvPicPr>
          <p:cNvPr id="4" name="Picture 3">
            <a:extLst>
              <a:ext uri="{FF2B5EF4-FFF2-40B4-BE49-F238E27FC236}">
                <a16:creationId xmlns:a16="http://schemas.microsoft.com/office/drawing/2014/main" id="{BC231B80-0781-C8BD-80BB-6CC0B04C974B}"/>
              </a:ext>
            </a:extLst>
          </p:cNvPr>
          <p:cNvPicPr>
            <a:picLocks noChangeAspect="1"/>
          </p:cNvPicPr>
          <p:nvPr/>
        </p:nvPicPr>
        <p:blipFill>
          <a:blip r:embed="rId2"/>
          <a:stretch>
            <a:fillRect/>
          </a:stretch>
        </p:blipFill>
        <p:spPr>
          <a:xfrm>
            <a:off x="1103923" y="1376729"/>
            <a:ext cx="2645308" cy="662920"/>
          </a:xfrm>
          <a:prstGeom prst="rect">
            <a:avLst/>
          </a:prstGeom>
        </p:spPr>
      </p:pic>
      <p:pic>
        <p:nvPicPr>
          <p:cNvPr id="8" name="Picture 7">
            <a:extLst>
              <a:ext uri="{FF2B5EF4-FFF2-40B4-BE49-F238E27FC236}">
                <a16:creationId xmlns:a16="http://schemas.microsoft.com/office/drawing/2014/main" id="{06C3EF01-4B87-B284-2E2B-04F8210056B9}"/>
              </a:ext>
            </a:extLst>
          </p:cNvPr>
          <p:cNvPicPr>
            <a:picLocks noChangeAspect="1"/>
          </p:cNvPicPr>
          <p:nvPr/>
        </p:nvPicPr>
        <p:blipFill>
          <a:blip r:embed="rId3"/>
          <a:stretch>
            <a:fillRect/>
          </a:stretch>
        </p:blipFill>
        <p:spPr>
          <a:xfrm>
            <a:off x="763776" y="2239118"/>
            <a:ext cx="3172268" cy="952633"/>
          </a:xfrm>
          <a:prstGeom prst="rect">
            <a:avLst/>
          </a:prstGeom>
        </p:spPr>
      </p:pic>
      <p:pic>
        <p:nvPicPr>
          <p:cNvPr id="10" name="Picture 9">
            <a:extLst>
              <a:ext uri="{FF2B5EF4-FFF2-40B4-BE49-F238E27FC236}">
                <a16:creationId xmlns:a16="http://schemas.microsoft.com/office/drawing/2014/main" id="{772D8AAA-C837-E99B-B462-03232272B4CD}"/>
              </a:ext>
            </a:extLst>
          </p:cNvPr>
          <p:cNvPicPr>
            <a:picLocks noChangeAspect="1"/>
          </p:cNvPicPr>
          <p:nvPr/>
        </p:nvPicPr>
        <p:blipFill>
          <a:blip r:embed="rId4"/>
          <a:stretch>
            <a:fillRect/>
          </a:stretch>
        </p:blipFill>
        <p:spPr>
          <a:xfrm>
            <a:off x="1103923" y="3346767"/>
            <a:ext cx="2421322" cy="1670034"/>
          </a:xfrm>
          <a:prstGeom prst="rect">
            <a:avLst/>
          </a:prstGeom>
        </p:spPr>
      </p:pic>
      <p:pic>
        <p:nvPicPr>
          <p:cNvPr id="12" name="Picture 11">
            <a:extLst>
              <a:ext uri="{FF2B5EF4-FFF2-40B4-BE49-F238E27FC236}">
                <a16:creationId xmlns:a16="http://schemas.microsoft.com/office/drawing/2014/main" id="{E5400599-A575-13F2-733E-DFBEA78E56F1}"/>
              </a:ext>
            </a:extLst>
          </p:cNvPr>
          <p:cNvPicPr>
            <a:picLocks noChangeAspect="1"/>
          </p:cNvPicPr>
          <p:nvPr/>
        </p:nvPicPr>
        <p:blipFill>
          <a:blip r:embed="rId5"/>
          <a:stretch>
            <a:fillRect/>
          </a:stretch>
        </p:blipFill>
        <p:spPr>
          <a:xfrm>
            <a:off x="4797079" y="1407328"/>
            <a:ext cx="3172268" cy="889673"/>
          </a:xfrm>
          <a:prstGeom prst="rect">
            <a:avLst/>
          </a:prstGeom>
        </p:spPr>
      </p:pic>
      <p:pic>
        <p:nvPicPr>
          <p:cNvPr id="14" name="Picture 13">
            <a:extLst>
              <a:ext uri="{FF2B5EF4-FFF2-40B4-BE49-F238E27FC236}">
                <a16:creationId xmlns:a16="http://schemas.microsoft.com/office/drawing/2014/main" id="{2AF5F033-634C-0500-93CA-868B2ED4DC78}"/>
              </a:ext>
            </a:extLst>
          </p:cNvPr>
          <p:cNvPicPr>
            <a:picLocks noChangeAspect="1"/>
          </p:cNvPicPr>
          <p:nvPr/>
        </p:nvPicPr>
        <p:blipFill>
          <a:blip r:embed="rId6"/>
          <a:stretch>
            <a:fillRect/>
          </a:stretch>
        </p:blipFill>
        <p:spPr>
          <a:xfrm>
            <a:off x="5009535" y="2571750"/>
            <a:ext cx="2537415" cy="676160"/>
          </a:xfrm>
          <a:prstGeom prst="rect">
            <a:avLst/>
          </a:prstGeom>
        </p:spPr>
      </p:pic>
      <p:pic>
        <p:nvPicPr>
          <p:cNvPr id="16" name="Picture 15">
            <a:extLst>
              <a:ext uri="{FF2B5EF4-FFF2-40B4-BE49-F238E27FC236}">
                <a16:creationId xmlns:a16="http://schemas.microsoft.com/office/drawing/2014/main" id="{67141DD3-00EB-3F7E-5313-16EBB97FA1F5}"/>
              </a:ext>
            </a:extLst>
          </p:cNvPr>
          <p:cNvPicPr>
            <a:picLocks noChangeAspect="1"/>
          </p:cNvPicPr>
          <p:nvPr/>
        </p:nvPicPr>
        <p:blipFill>
          <a:blip r:embed="rId7"/>
          <a:stretch>
            <a:fillRect/>
          </a:stretch>
        </p:blipFill>
        <p:spPr>
          <a:xfrm>
            <a:off x="4341478" y="3522659"/>
            <a:ext cx="3698599" cy="1208729"/>
          </a:xfrm>
          <a:prstGeom prst="rect">
            <a:avLst/>
          </a:prstGeom>
        </p:spPr>
      </p:pic>
    </p:spTree>
    <p:extLst>
      <p:ext uri="{BB962C8B-B14F-4D97-AF65-F5344CB8AC3E}">
        <p14:creationId xmlns:p14="http://schemas.microsoft.com/office/powerpoint/2010/main" val="1145951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956F-D8C1-79AD-7C7C-A57B363F4E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65D7488-7C21-C660-CD40-A6844D2EAA96}"/>
              </a:ext>
            </a:extLst>
          </p:cNvPr>
          <p:cNvSpPr>
            <a:spLocks noGrp="1"/>
          </p:cNvSpPr>
          <p:nvPr>
            <p:ph type="title"/>
          </p:nvPr>
        </p:nvSpPr>
        <p:spPr/>
        <p:txBody>
          <a:bodyPr/>
          <a:lstStyle/>
          <a:p>
            <a:r>
              <a:rPr lang="en-US" dirty="0"/>
              <a:t>Fluent API – Best Practice</a:t>
            </a:r>
          </a:p>
        </p:txBody>
      </p:sp>
      <p:pic>
        <p:nvPicPr>
          <p:cNvPr id="5" name="Picture 4">
            <a:extLst>
              <a:ext uri="{FF2B5EF4-FFF2-40B4-BE49-F238E27FC236}">
                <a16:creationId xmlns:a16="http://schemas.microsoft.com/office/drawing/2014/main" id="{FD4248B4-CDFF-3F47-0685-3F83F6D91A16}"/>
              </a:ext>
            </a:extLst>
          </p:cNvPr>
          <p:cNvPicPr>
            <a:picLocks noChangeAspect="1"/>
          </p:cNvPicPr>
          <p:nvPr/>
        </p:nvPicPr>
        <p:blipFill>
          <a:blip r:embed="rId2"/>
          <a:stretch>
            <a:fillRect/>
          </a:stretch>
        </p:blipFill>
        <p:spPr>
          <a:xfrm>
            <a:off x="585406" y="1715728"/>
            <a:ext cx="3538456" cy="3216377"/>
          </a:xfrm>
          <a:prstGeom prst="rect">
            <a:avLst/>
          </a:prstGeom>
        </p:spPr>
      </p:pic>
      <p:pic>
        <p:nvPicPr>
          <p:cNvPr id="7" name="Picture 6">
            <a:extLst>
              <a:ext uri="{FF2B5EF4-FFF2-40B4-BE49-F238E27FC236}">
                <a16:creationId xmlns:a16="http://schemas.microsoft.com/office/drawing/2014/main" id="{56CD031F-6EF1-FED8-F685-B863156BF31F}"/>
              </a:ext>
            </a:extLst>
          </p:cNvPr>
          <p:cNvPicPr>
            <a:picLocks noChangeAspect="1"/>
          </p:cNvPicPr>
          <p:nvPr/>
        </p:nvPicPr>
        <p:blipFill>
          <a:blip r:embed="rId3"/>
          <a:stretch>
            <a:fillRect/>
          </a:stretch>
        </p:blipFill>
        <p:spPr>
          <a:xfrm>
            <a:off x="4572000" y="1981722"/>
            <a:ext cx="3734648" cy="2229778"/>
          </a:xfrm>
          <a:prstGeom prst="rect">
            <a:avLst/>
          </a:prstGeom>
        </p:spPr>
      </p:pic>
      <p:sp>
        <p:nvSpPr>
          <p:cNvPr id="9" name="TextBox 8">
            <a:extLst>
              <a:ext uri="{FF2B5EF4-FFF2-40B4-BE49-F238E27FC236}">
                <a16:creationId xmlns:a16="http://schemas.microsoft.com/office/drawing/2014/main" id="{920FA7BE-2F31-3307-1F60-E739A56C94ED}"/>
              </a:ext>
            </a:extLst>
          </p:cNvPr>
          <p:cNvSpPr txBox="1"/>
          <p:nvPr/>
        </p:nvSpPr>
        <p:spPr>
          <a:xfrm>
            <a:off x="1774465" y="932000"/>
            <a:ext cx="5614219" cy="738664"/>
          </a:xfrm>
          <a:prstGeom prst="rect">
            <a:avLst/>
          </a:prstGeom>
          <a:noFill/>
        </p:spPr>
        <p:txBody>
          <a:bodyPr wrap="square" rtlCol="0">
            <a:spAutoFit/>
          </a:bodyPr>
          <a:lstStyle/>
          <a:p>
            <a:r>
              <a:rPr lang="en-US" dirty="0">
                <a:solidFill>
                  <a:schemeClr val="bg1"/>
                </a:solidFill>
              </a:rPr>
              <a:t>Throwing everything into the </a:t>
            </a:r>
            <a:r>
              <a:rPr lang="en-US" dirty="0" err="1">
                <a:solidFill>
                  <a:schemeClr val="bg1"/>
                </a:solidFill>
              </a:rPr>
              <a:t>DbContext</a:t>
            </a:r>
            <a:r>
              <a:rPr lang="en-US" dirty="0">
                <a:solidFill>
                  <a:schemeClr val="bg1"/>
                </a:solidFill>
              </a:rPr>
              <a:t> makes for a mess. Instead, we can create separate config classes in the persistence layer and add them to the </a:t>
            </a:r>
            <a:r>
              <a:rPr lang="en-US" dirty="0" err="1">
                <a:solidFill>
                  <a:schemeClr val="bg1"/>
                </a:solidFill>
              </a:rPr>
              <a:t>DbContext</a:t>
            </a:r>
            <a:r>
              <a:rPr lang="en-US" dirty="0">
                <a:solidFill>
                  <a:schemeClr val="bg1"/>
                </a:solidFill>
              </a:rPr>
              <a:t> with </a:t>
            </a:r>
            <a:r>
              <a:rPr lang="en-US" dirty="0" err="1">
                <a:solidFill>
                  <a:schemeClr val="bg1"/>
                </a:solidFill>
              </a:rPr>
              <a:t>ApplyConfigurationsFromAssemly</a:t>
            </a:r>
            <a:r>
              <a:rPr lang="en-US" dirty="0">
                <a:solidFill>
                  <a:schemeClr val="bg1"/>
                </a:solidFill>
              </a:rPr>
              <a:t>()</a:t>
            </a:r>
          </a:p>
        </p:txBody>
      </p:sp>
    </p:spTree>
    <p:extLst>
      <p:ext uri="{BB962C8B-B14F-4D97-AF65-F5344CB8AC3E}">
        <p14:creationId xmlns:p14="http://schemas.microsoft.com/office/powerpoint/2010/main" val="13821758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390B1C-38E9-2236-811E-5EE312D7319C}"/>
              </a:ext>
            </a:extLst>
          </p:cNvPr>
          <p:cNvSpPr>
            <a:spLocks noGrp="1"/>
          </p:cNvSpPr>
          <p:nvPr>
            <p:ph type="body" idx="1"/>
          </p:nvPr>
        </p:nvSpPr>
        <p:spPr/>
        <p:txBody>
          <a:bodyPr/>
          <a:lstStyle/>
          <a:p>
            <a:r>
              <a:rPr lang="en-US" dirty="0"/>
              <a:t>Caching is the process of storing frequently used data from queries temporarily </a:t>
            </a:r>
          </a:p>
          <a:p>
            <a:r>
              <a:rPr lang="en-US" dirty="0"/>
              <a:t>This allows user queries to get information from the cache instead of hitting the database </a:t>
            </a:r>
          </a:p>
          <a:p>
            <a:r>
              <a:rPr lang="en-US" dirty="0"/>
              <a:t>This improves request response times and efficiency </a:t>
            </a:r>
          </a:p>
          <a:p>
            <a:r>
              <a:rPr lang="en-US" dirty="0"/>
              <a:t>There are 3 main caching types:</a:t>
            </a:r>
          </a:p>
          <a:p>
            <a:pPr lvl="1"/>
            <a:r>
              <a:rPr lang="en-US" dirty="0"/>
              <a:t>In-Memory cache – stores data in API process memory</a:t>
            </a:r>
          </a:p>
          <a:p>
            <a:pPr lvl="1"/>
            <a:r>
              <a:rPr lang="en-US" dirty="0"/>
              <a:t>Distributed cache – shared cache across servers (not beginner friendly)</a:t>
            </a:r>
          </a:p>
          <a:p>
            <a:pPr lvl="1"/>
            <a:r>
              <a:rPr lang="en-US" dirty="0"/>
              <a:t>Response cache – caches the actual HTTP response </a:t>
            </a:r>
          </a:p>
        </p:txBody>
      </p:sp>
      <p:sp>
        <p:nvSpPr>
          <p:cNvPr id="3" name="Title 2">
            <a:extLst>
              <a:ext uri="{FF2B5EF4-FFF2-40B4-BE49-F238E27FC236}">
                <a16:creationId xmlns:a16="http://schemas.microsoft.com/office/drawing/2014/main" id="{CD9BD135-61F5-79F9-D8C2-3298535C47CB}"/>
              </a:ext>
            </a:extLst>
          </p:cNvPr>
          <p:cNvSpPr>
            <a:spLocks noGrp="1"/>
          </p:cNvSpPr>
          <p:nvPr>
            <p:ph type="title"/>
          </p:nvPr>
        </p:nvSpPr>
        <p:spPr/>
        <p:txBody>
          <a:bodyPr/>
          <a:lstStyle/>
          <a:p>
            <a:r>
              <a:rPr lang="en-US" dirty="0"/>
              <a:t>Caching</a:t>
            </a:r>
          </a:p>
        </p:txBody>
      </p:sp>
    </p:spTree>
    <p:extLst>
      <p:ext uri="{BB962C8B-B14F-4D97-AF65-F5344CB8AC3E}">
        <p14:creationId xmlns:p14="http://schemas.microsoft.com/office/powerpoint/2010/main" val="27425884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2648D-0EB4-1AAC-2CEC-AF54D55BAD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506812-370F-E4E8-B5B2-3263608B0C42}"/>
              </a:ext>
            </a:extLst>
          </p:cNvPr>
          <p:cNvSpPr>
            <a:spLocks noGrp="1"/>
          </p:cNvSpPr>
          <p:nvPr>
            <p:ph type="title"/>
          </p:nvPr>
        </p:nvSpPr>
        <p:spPr/>
        <p:txBody>
          <a:bodyPr/>
          <a:lstStyle/>
          <a:p>
            <a:r>
              <a:rPr lang="en-US" dirty="0"/>
              <a:t>In-Memory Caching</a:t>
            </a:r>
          </a:p>
        </p:txBody>
      </p:sp>
      <p:pic>
        <p:nvPicPr>
          <p:cNvPr id="7" name="Picture 6">
            <a:extLst>
              <a:ext uri="{FF2B5EF4-FFF2-40B4-BE49-F238E27FC236}">
                <a16:creationId xmlns:a16="http://schemas.microsoft.com/office/drawing/2014/main" id="{1297E386-8B23-0060-EF0B-10EC87038864}"/>
              </a:ext>
            </a:extLst>
          </p:cNvPr>
          <p:cNvPicPr>
            <a:picLocks noChangeAspect="1"/>
          </p:cNvPicPr>
          <p:nvPr/>
        </p:nvPicPr>
        <p:blipFill>
          <a:blip r:embed="rId2"/>
          <a:stretch>
            <a:fillRect/>
          </a:stretch>
        </p:blipFill>
        <p:spPr>
          <a:xfrm>
            <a:off x="422837" y="1720912"/>
            <a:ext cx="3677163" cy="590632"/>
          </a:xfrm>
          <a:prstGeom prst="rect">
            <a:avLst/>
          </a:prstGeom>
        </p:spPr>
      </p:pic>
      <p:pic>
        <p:nvPicPr>
          <p:cNvPr id="9" name="Picture 8">
            <a:extLst>
              <a:ext uri="{FF2B5EF4-FFF2-40B4-BE49-F238E27FC236}">
                <a16:creationId xmlns:a16="http://schemas.microsoft.com/office/drawing/2014/main" id="{328A8A50-5BAB-1C3F-C59D-1322567D557C}"/>
              </a:ext>
            </a:extLst>
          </p:cNvPr>
          <p:cNvPicPr>
            <a:picLocks noChangeAspect="1"/>
          </p:cNvPicPr>
          <p:nvPr/>
        </p:nvPicPr>
        <p:blipFill>
          <a:blip r:embed="rId3"/>
          <a:stretch>
            <a:fillRect/>
          </a:stretch>
        </p:blipFill>
        <p:spPr>
          <a:xfrm>
            <a:off x="396433" y="2820014"/>
            <a:ext cx="3729970" cy="1391307"/>
          </a:xfrm>
          <a:prstGeom prst="rect">
            <a:avLst/>
          </a:prstGeom>
        </p:spPr>
      </p:pic>
      <p:pic>
        <p:nvPicPr>
          <p:cNvPr id="13" name="Picture 12">
            <a:extLst>
              <a:ext uri="{FF2B5EF4-FFF2-40B4-BE49-F238E27FC236}">
                <a16:creationId xmlns:a16="http://schemas.microsoft.com/office/drawing/2014/main" id="{163923F1-209F-3E92-EC50-EEB6DD566AFD}"/>
              </a:ext>
            </a:extLst>
          </p:cNvPr>
          <p:cNvPicPr>
            <a:picLocks noChangeAspect="1"/>
          </p:cNvPicPr>
          <p:nvPr/>
        </p:nvPicPr>
        <p:blipFill>
          <a:blip r:embed="rId4"/>
          <a:stretch>
            <a:fillRect/>
          </a:stretch>
        </p:blipFill>
        <p:spPr>
          <a:xfrm>
            <a:off x="4511809" y="1170038"/>
            <a:ext cx="3792705" cy="3299952"/>
          </a:xfrm>
          <a:prstGeom prst="rect">
            <a:avLst/>
          </a:prstGeom>
        </p:spPr>
      </p:pic>
      <p:pic>
        <p:nvPicPr>
          <p:cNvPr id="15" name="Picture 14">
            <a:extLst>
              <a:ext uri="{FF2B5EF4-FFF2-40B4-BE49-F238E27FC236}">
                <a16:creationId xmlns:a16="http://schemas.microsoft.com/office/drawing/2014/main" id="{2509CFCD-5F6B-8764-404A-829A93AE4753}"/>
              </a:ext>
            </a:extLst>
          </p:cNvPr>
          <p:cNvPicPr>
            <a:picLocks noChangeAspect="1"/>
          </p:cNvPicPr>
          <p:nvPr/>
        </p:nvPicPr>
        <p:blipFill>
          <a:blip r:embed="rId5"/>
          <a:stretch>
            <a:fillRect/>
          </a:stretch>
        </p:blipFill>
        <p:spPr>
          <a:xfrm>
            <a:off x="3434413" y="4839765"/>
            <a:ext cx="2275174" cy="237240"/>
          </a:xfrm>
          <a:prstGeom prst="rect">
            <a:avLst/>
          </a:prstGeom>
        </p:spPr>
      </p:pic>
      <p:sp>
        <p:nvSpPr>
          <p:cNvPr id="16" name="TextBox 15">
            <a:extLst>
              <a:ext uri="{FF2B5EF4-FFF2-40B4-BE49-F238E27FC236}">
                <a16:creationId xmlns:a16="http://schemas.microsoft.com/office/drawing/2014/main" id="{839A74EB-741E-29FB-6D85-7E06AFA5DBB7}"/>
              </a:ext>
            </a:extLst>
          </p:cNvPr>
          <p:cNvSpPr txBox="1"/>
          <p:nvPr/>
        </p:nvSpPr>
        <p:spPr>
          <a:xfrm>
            <a:off x="2511179" y="4554139"/>
            <a:ext cx="4121641" cy="307777"/>
          </a:xfrm>
          <a:prstGeom prst="rect">
            <a:avLst/>
          </a:prstGeom>
          <a:noFill/>
        </p:spPr>
        <p:txBody>
          <a:bodyPr wrap="none" rtlCol="0">
            <a:spAutoFit/>
          </a:bodyPr>
          <a:lstStyle/>
          <a:p>
            <a:r>
              <a:rPr lang="en-US" dirty="0">
                <a:solidFill>
                  <a:schemeClr val="bg1"/>
                </a:solidFill>
              </a:rPr>
              <a:t>You can also restart the timer for repeat requests:</a:t>
            </a:r>
          </a:p>
        </p:txBody>
      </p:sp>
      <p:sp>
        <p:nvSpPr>
          <p:cNvPr id="17" name="TextBox 16">
            <a:extLst>
              <a:ext uri="{FF2B5EF4-FFF2-40B4-BE49-F238E27FC236}">
                <a16:creationId xmlns:a16="http://schemas.microsoft.com/office/drawing/2014/main" id="{1555FFD9-CCF0-3335-507A-6FF1FFFDD379}"/>
              </a:ext>
            </a:extLst>
          </p:cNvPr>
          <p:cNvSpPr txBox="1"/>
          <p:nvPr/>
        </p:nvSpPr>
        <p:spPr>
          <a:xfrm>
            <a:off x="4511809" y="897131"/>
            <a:ext cx="1269899" cy="307777"/>
          </a:xfrm>
          <a:prstGeom prst="rect">
            <a:avLst/>
          </a:prstGeom>
          <a:noFill/>
        </p:spPr>
        <p:txBody>
          <a:bodyPr wrap="none" rtlCol="0">
            <a:spAutoFit/>
          </a:bodyPr>
          <a:lstStyle/>
          <a:p>
            <a:r>
              <a:rPr lang="en-US" dirty="0">
                <a:solidFill>
                  <a:schemeClr val="bg1"/>
                </a:solidFill>
              </a:rPr>
              <a:t>Service layer:</a:t>
            </a:r>
          </a:p>
        </p:txBody>
      </p:sp>
      <p:sp>
        <p:nvSpPr>
          <p:cNvPr id="18" name="TextBox 17">
            <a:extLst>
              <a:ext uri="{FF2B5EF4-FFF2-40B4-BE49-F238E27FC236}">
                <a16:creationId xmlns:a16="http://schemas.microsoft.com/office/drawing/2014/main" id="{D1BD79C5-61F1-8CC9-CE1C-419382E0C944}"/>
              </a:ext>
            </a:extLst>
          </p:cNvPr>
          <p:cNvSpPr txBox="1"/>
          <p:nvPr/>
        </p:nvSpPr>
        <p:spPr>
          <a:xfrm>
            <a:off x="475667" y="1359247"/>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9" name="TextBox 18">
            <a:extLst>
              <a:ext uri="{FF2B5EF4-FFF2-40B4-BE49-F238E27FC236}">
                <a16:creationId xmlns:a16="http://schemas.microsoft.com/office/drawing/2014/main" id="{F562BC3E-4297-1EE0-31CC-62957DD461D4}"/>
              </a:ext>
            </a:extLst>
          </p:cNvPr>
          <p:cNvSpPr txBox="1"/>
          <p:nvPr/>
        </p:nvSpPr>
        <p:spPr>
          <a:xfrm>
            <a:off x="313435" y="2477196"/>
            <a:ext cx="1269899" cy="307777"/>
          </a:xfrm>
          <a:prstGeom prst="rect">
            <a:avLst/>
          </a:prstGeom>
          <a:noFill/>
        </p:spPr>
        <p:txBody>
          <a:bodyPr wrap="none" rtlCol="0">
            <a:spAutoFit/>
          </a:bodyPr>
          <a:lstStyle/>
          <a:p>
            <a:r>
              <a:rPr lang="en-US" dirty="0">
                <a:solidFill>
                  <a:schemeClr val="bg1"/>
                </a:solidFill>
              </a:rPr>
              <a:t>Service layer:</a:t>
            </a:r>
          </a:p>
        </p:txBody>
      </p:sp>
    </p:spTree>
    <p:extLst>
      <p:ext uri="{BB962C8B-B14F-4D97-AF65-F5344CB8AC3E}">
        <p14:creationId xmlns:p14="http://schemas.microsoft.com/office/powerpoint/2010/main" val="38309390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39E8DF-95FF-C605-F7F8-CE72BE7FC85A}"/>
              </a:ext>
            </a:extLst>
          </p:cNvPr>
          <p:cNvSpPr>
            <a:spLocks noGrp="1"/>
          </p:cNvSpPr>
          <p:nvPr>
            <p:ph type="title"/>
          </p:nvPr>
        </p:nvSpPr>
        <p:spPr/>
        <p:txBody>
          <a:bodyPr/>
          <a:lstStyle/>
          <a:p>
            <a:r>
              <a:rPr lang="en-US" dirty="0"/>
              <a:t>Cache Invalidation</a:t>
            </a:r>
          </a:p>
        </p:txBody>
      </p:sp>
      <p:pic>
        <p:nvPicPr>
          <p:cNvPr id="5" name="Picture 4">
            <a:extLst>
              <a:ext uri="{FF2B5EF4-FFF2-40B4-BE49-F238E27FC236}">
                <a16:creationId xmlns:a16="http://schemas.microsoft.com/office/drawing/2014/main" id="{97781062-85E7-E02D-FA47-6C4C4A23EFAA}"/>
              </a:ext>
            </a:extLst>
          </p:cNvPr>
          <p:cNvPicPr>
            <a:picLocks noChangeAspect="1"/>
          </p:cNvPicPr>
          <p:nvPr/>
        </p:nvPicPr>
        <p:blipFill>
          <a:blip r:embed="rId2"/>
          <a:stretch>
            <a:fillRect/>
          </a:stretch>
        </p:blipFill>
        <p:spPr>
          <a:xfrm>
            <a:off x="1927315" y="1786559"/>
            <a:ext cx="5289369" cy="1483123"/>
          </a:xfrm>
          <a:prstGeom prst="rect">
            <a:avLst/>
          </a:prstGeom>
        </p:spPr>
      </p:pic>
      <p:sp>
        <p:nvSpPr>
          <p:cNvPr id="6" name="TextBox 5">
            <a:extLst>
              <a:ext uri="{FF2B5EF4-FFF2-40B4-BE49-F238E27FC236}">
                <a16:creationId xmlns:a16="http://schemas.microsoft.com/office/drawing/2014/main" id="{D3561AEC-DBE2-F95B-9808-DC91FC10B728}"/>
              </a:ext>
            </a:extLst>
          </p:cNvPr>
          <p:cNvSpPr txBox="1"/>
          <p:nvPr/>
        </p:nvSpPr>
        <p:spPr>
          <a:xfrm>
            <a:off x="1953333" y="1128192"/>
            <a:ext cx="5237331" cy="307777"/>
          </a:xfrm>
          <a:prstGeom prst="rect">
            <a:avLst/>
          </a:prstGeom>
          <a:noFill/>
        </p:spPr>
        <p:txBody>
          <a:bodyPr wrap="none" rtlCol="0">
            <a:spAutoFit/>
          </a:bodyPr>
          <a:lstStyle/>
          <a:p>
            <a:r>
              <a:rPr lang="en-US" dirty="0">
                <a:solidFill>
                  <a:schemeClr val="bg1"/>
                </a:solidFill>
              </a:rPr>
              <a:t>Guard against stale cache data when updating/creating/deleting:</a:t>
            </a:r>
          </a:p>
        </p:txBody>
      </p:sp>
      <p:pic>
        <p:nvPicPr>
          <p:cNvPr id="8" name="Picture 7">
            <a:extLst>
              <a:ext uri="{FF2B5EF4-FFF2-40B4-BE49-F238E27FC236}">
                <a16:creationId xmlns:a16="http://schemas.microsoft.com/office/drawing/2014/main" id="{D87EFC0E-7811-EB35-1B1A-B6071DBC3F88}"/>
              </a:ext>
            </a:extLst>
          </p:cNvPr>
          <p:cNvPicPr>
            <a:picLocks noChangeAspect="1"/>
          </p:cNvPicPr>
          <p:nvPr/>
        </p:nvPicPr>
        <p:blipFill>
          <a:blip r:embed="rId3"/>
          <a:stretch>
            <a:fillRect/>
          </a:stretch>
        </p:blipFill>
        <p:spPr>
          <a:xfrm>
            <a:off x="2756335" y="4015308"/>
            <a:ext cx="3631325" cy="1042815"/>
          </a:xfrm>
          <a:prstGeom prst="rect">
            <a:avLst/>
          </a:prstGeom>
        </p:spPr>
      </p:pic>
      <p:sp>
        <p:nvSpPr>
          <p:cNvPr id="9" name="TextBox 8">
            <a:extLst>
              <a:ext uri="{FF2B5EF4-FFF2-40B4-BE49-F238E27FC236}">
                <a16:creationId xmlns:a16="http://schemas.microsoft.com/office/drawing/2014/main" id="{591EB862-2A8C-B908-ACD6-B58BBD146C10}"/>
              </a:ext>
            </a:extLst>
          </p:cNvPr>
          <p:cNvSpPr txBox="1"/>
          <p:nvPr/>
        </p:nvSpPr>
        <p:spPr>
          <a:xfrm>
            <a:off x="3201229" y="3367548"/>
            <a:ext cx="2760692" cy="307777"/>
          </a:xfrm>
          <a:prstGeom prst="rect">
            <a:avLst/>
          </a:prstGeom>
          <a:noFill/>
        </p:spPr>
        <p:txBody>
          <a:bodyPr wrap="none" rtlCol="0">
            <a:spAutoFit/>
          </a:bodyPr>
          <a:lstStyle/>
          <a:p>
            <a:r>
              <a:rPr lang="en-US" dirty="0">
                <a:solidFill>
                  <a:schemeClr val="bg1"/>
                </a:solidFill>
              </a:rPr>
              <a:t>Stop change tracking altogether:</a:t>
            </a:r>
          </a:p>
        </p:txBody>
      </p:sp>
      <p:sp>
        <p:nvSpPr>
          <p:cNvPr id="10" name="TextBox 9">
            <a:extLst>
              <a:ext uri="{FF2B5EF4-FFF2-40B4-BE49-F238E27FC236}">
                <a16:creationId xmlns:a16="http://schemas.microsoft.com/office/drawing/2014/main" id="{7A72D919-7319-8C49-ABA3-AC66E60356F3}"/>
              </a:ext>
            </a:extLst>
          </p:cNvPr>
          <p:cNvSpPr txBox="1"/>
          <p:nvPr/>
        </p:nvSpPr>
        <p:spPr>
          <a:xfrm>
            <a:off x="1842351" y="1494514"/>
            <a:ext cx="1269899" cy="307777"/>
          </a:xfrm>
          <a:prstGeom prst="rect">
            <a:avLst/>
          </a:prstGeom>
          <a:noFill/>
        </p:spPr>
        <p:txBody>
          <a:bodyPr wrap="none" rtlCol="0">
            <a:spAutoFit/>
          </a:bodyPr>
          <a:lstStyle/>
          <a:p>
            <a:r>
              <a:rPr lang="en-US" dirty="0">
                <a:solidFill>
                  <a:schemeClr val="bg1"/>
                </a:solidFill>
              </a:rPr>
              <a:t>Service layer:</a:t>
            </a:r>
          </a:p>
        </p:txBody>
      </p:sp>
      <p:sp>
        <p:nvSpPr>
          <p:cNvPr id="11" name="TextBox 10">
            <a:extLst>
              <a:ext uri="{FF2B5EF4-FFF2-40B4-BE49-F238E27FC236}">
                <a16:creationId xmlns:a16="http://schemas.microsoft.com/office/drawing/2014/main" id="{FE007A23-3CB9-41D0-21F9-BCCCFE76E8F0}"/>
              </a:ext>
            </a:extLst>
          </p:cNvPr>
          <p:cNvSpPr txBox="1"/>
          <p:nvPr/>
        </p:nvSpPr>
        <p:spPr>
          <a:xfrm>
            <a:off x="2702673" y="3707531"/>
            <a:ext cx="1099981" cy="307777"/>
          </a:xfrm>
          <a:prstGeom prst="rect">
            <a:avLst/>
          </a:prstGeom>
          <a:noFill/>
        </p:spPr>
        <p:txBody>
          <a:bodyPr wrap="none" rtlCol="0">
            <a:spAutoFit/>
          </a:bodyPr>
          <a:lstStyle/>
          <a:p>
            <a:r>
              <a:rPr lang="en-US" dirty="0">
                <a:solidFill>
                  <a:schemeClr val="bg1"/>
                </a:solidFill>
              </a:rPr>
              <a:t>Repo layer:</a:t>
            </a:r>
          </a:p>
        </p:txBody>
      </p:sp>
    </p:spTree>
    <p:extLst>
      <p:ext uri="{BB962C8B-B14F-4D97-AF65-F5344CB8AC3E}">
        <p14:creationId xmlns:p14="http://schemas.microsoft.com/office/powerpoint/2010/main" val="9136021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4079E4-2119-BB2E-9B7B-E4E229019E33}"/>
              </a:ext>
            </a:extLst>
          </p:cNvPr>
          <p:cNvSpPr>
            <a:spLocks noGrp="1"/>
          </p:cNvSpPr>
          <p:nvPr>
            <p:ph type="title"/>
          </p:nvPr>
        </p:nvSpPr>
        <p:spPr/>
        <p:txBody>
          <a:bodyPr/>
          <a:lstStyle/>
          <a:p>
            <a:r>
              <a:rPr lang="en-US" dirty="0"/>
              <a:t>Response Caching</a:t>
            </a:r>
          </a:p>
        </p:txBody>
      </p:sp>
      <p:pic>
        <p:nvPicPr>
          <p:cNvPr id="5" name="Picture 4">
            <a:extLst>
              <a:ext uri="{FF2B5EF4-FFF2-40B4-BE49-F238E27FC236}">
                <a16:creationId xmlns:a16="http://schemas.microsoft.com/office/drawing/2014/main" id="{D13579B1-5707-A4D2-D189-19236FA8734C}"/>
              </a:ext>
            </a:extLst>
          </p:cNvPr>
          <p:cNvPicPr>
            <a:picLocks noChangeAspect="1"/>
          </p:cNvPicPr>
          <p:nvPr/>
        </p:nvPicPr>
        <p:blipFill>
          <a:blip r:embed="rId2"/>
          <a:stretch>
            <a:fillRect/>
          </a:stretch>
        </p:blipFill>
        <p:spPr>
          <a:xfrm>
            <a:off x="2542940" y="1533486"/>
            <a:ext cx="4077269" cy="552527"/>
          </a:xfrm>
          <a:prstGeom prst="rect">
            <a:avLst/>
          </a:prstGeom>
        </p:spPr>
      </p:pic>
      <p:pic>
        <p:nvPicPr>
          <p:cNvPr id="7" name="Picture 6">
            <a:extLst>
              <a:ext uri="{FF2B5EF4-FFF2-40B4-BE49-F238E27FC236}">
                <a16:creationId xmlns:a16="http://schemas.microsoft.com/office/drawing/2014/main" id="{5D33C3FF-773A-DD70-2CC3-39169DE3A0F4}"/>
              </a:ext>
            </a:extLst>
          </p:cNvPr>
          <p:cNvPicPr>
            <a:picLocks noChangeAspect="1"/>
          </p:cNvPicPr>
          <p:nvPr/>
        </p:nvPicPr>
        <p:blipFill>
          <a:blip r:embed="rId3"/>
          <a:stretch>
            <a:fillRect/>
          </a:stretch>
        </p:blipFill>
        <p:spPr>
          <a:xfrm>
            <a:off x="3209734" y="2467797"/>
            <a:ext cx="2724530" cy="809738"/>
          </a:xfrm>
          <a:prstGeom prst="rect">
            <a:avLst/>
          </a:prstGeom>
        </p:spPr>
      </p:pic>
      <p:pic>
        <p:nvPicPr>
          <p:cNvPr id="9" name="Picture 8">
            <a:extLst>
              <a:ext uri="{FF2B5EF4-FFF2-40B4-BE49-F238E27FC236}">
                <a16:creationId xmlns:a16="http://schemas.microsoft.com/office/drawing/2014/main" id="{2E0F9337-A512-73D2-E5D6-457049675F4D}"/>
              </a:ext>
            </a:extLst>
          </p:cNvPr>
          <p:cNvPicPr>
            <a:picLocks noChangeAspect="1"/>
          </p:cNvPicPr>
          <p:nvPr/>
        </p:nvPicPr>
        <p:blipFill>
          <a:blip r:embed="rId4"/>
          <a:stretch>
            <a:fillRect/>
          </a:stretch>
        </p:blipFill>
        <p:spPr>
          <a:xfrm>
            <a:off x="1169828" y="3659320"/>
            <a:ext cx="6804343" cy="1124880"/>
          </a:xfrm>
          <a:prstGeom prst="rect">
            <a:avLst/>
          </a:prstGeom>
        </p:spPr>
      </p:pic>
      <p:sp>
        <p:nvSpPr>
          <p:cNvPr id="10" name="TextBox 9">
            <a:extLst>
              <a:ext uri="{FF2B5EF4-FFF2-40B4-BE49-F238E27FC236}">
                <a16:creationId xmlns:a16="http://schemas.microsoft.com/office/drawing/2014/main" id="{45A60374-C512-77DA-F5AD-C28E8164438A}"/>
              </a:ext>
            </a:extLst>
          </p:cNvPr>
          <p:cNvSpPr txBox="1"/>
          <p:nvPr/>
        </p:nvSpPr>
        <p:spPr>
          <a:xfrm>
            <a:off x="2542940" y="1219478"/>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1" name="TextBox 10">
            <a:extLst>
              <a:ext uri="{FF2B5EF4-FFF2-40B4-BE49-F238E27FC236}">
                <a16:creationId xmlns:a16="http://schemas.microsoft.com/office/drawing/2014/main" id="{A5EEBCA1-D3F0-F9FC-C11E-043AD89A1BD0}"/>
              </a:ext>
            </a:extLst>
          </p:cNvPr>
          <p:cNvSpPr txBox="1"/>
          <p:nvPr/>
        </p:nvSpPr>
        <p:spPr>
          <a:xfrm>
            <a:off x="3209734" y="2160020"/>
            <a:ext cx="24304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 (order matters!):</a:t>
            </a:r>
          </a:p>
        </p:txBody>
      </p:sp>
      <p:sp>
        <p:nvSpPr>
          <p:cNvPr id="12" name="TextBox 11">
            <a:extLst>
              <a:ext uri="{FF2B5EF4-FFF2-40B4-BE49-F238E27FC236}">
                <a16:creationId xmlns:a16="http://schemas.microsoft.com/office/drawing/2014/main" id="{FFE87823-44D8-A887-1793-DD29442950AA}"/>
              </a:ext>
            </a:extLst>
          </p:cNvPr>
          <p:cNvSpPr txBox="1"/>
          <p:nvPr/>
        </p:nvSpPr>
        <p:spPr>
          <a:xfrm>
            <a:off x="1141282" y="3351543"/>
            <a:ext cx="3764172" cy="307777"/>
          </a:xfrm>
          <a:prstGeom prst="rect">
            <a:avLst/>
          </a:prstGeom>
          <a:noFill/>
        </p:spPr>
        <p:txBody>
          <a:bodyPr wrap="none" rtlCol="0">
            <a:spAutoFit/>
          </a:bodyPr>
          <a:lstStyle/>
          <a:p>
            <a:r>
              <a:rPr lang="en-US" dirty="0">
                <a:solidFill>
                  <a:schemeClr val="bg1"/>
                </a:solidFill>
              </a:rPr>
              <a:t>Controller (response cached for 60 seconds):</a:t>
            </a:r>
          </a:p>
        </p:txBody>
      </p:sp>
    </p:spTree>
    <p:extLst>
      <p:ext uri="{BB962C8B-B14F-4D97-AF65-F5344CB8AC3E}">
        <p14:creationId xmlns:p14="http://schemas.microsoft.com/office/powerpoint/2010/main" val="12952466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422C78-55D8-7643-8334-D2A546A5DF12}"/>
              </a:ext>
            </a:extLst>
          </p:cNvPr>
          <p:cNvSpPr>
            <a:spLocks noGrp="1"/>
          </p:cNvSpPr>
          <p:nvPr>
            <p:ph type="title"/>
          </p:nvPr>
        </p:nvSpPr>
        <p:spPr/>
        <p:txBody>
          <a:bodyPr/>
          <a:lstStyle/>
          <a:p>
            <a:r>
              <a:rPr lang="en-US" dirty="0"/>
              <a:t>Response Cache vs Memory Cache</a:t>
            </a:r>
          </a:p>
        </p:txBody>
      </p:sp>
      <p:graphicFrame>
        <p:nvGraphicFramePr>
          <p:cNvPr id="4" name="Table 3">
            <a:extLst>
              <a:ext uri="{FF2B5EF4-FFF2-40B4-BE49-F238E27FC236}">
                <a16:creationId xmlns:a16="http://schemas.microsoft.com/office/drawing/2014/main" id="{EF9FD91A-6F07-E088-A7B5-2C1AF0CE15D4}"/>
              </a:ext>
            </a:extLst>
          </p:cNvPr>
          <p:cNvGraphicFramePr>
            <a:graphicFrameLocks noGrp="1"/>
          </p:cNvGraphicFramePr>
          <p:nvPr>
            <p:extLst>
              <p:ext uri="{D42A27DB-BD31-4B8C-83A1-F6EECF244321}">
                <p14:modId xmlns:p14="http://schemas.microsoft.com/office/powerpoint/2010/main" val="613441201"/>
              </p:ext>
            </p:extLst>
          </p:nvPr>
        </p:nvGraphicFramePr>
        <p:xfrm>
          <a:off x="320724" y="1965940"/>
          <a:ext cx="8521701" cy="1524000"/>
        </p:xfrm>
        <a:graphic>
          <a:graphicData uri="http://schemas.openxmlformats.org/drawingml/2006/table">
            <a:tbl>
              <a:tblPr/>
              <a:tblGrid>
                <a:gridCol w="2840567">
                  <a:extLst>
                    <a:ext uri="{9D8B030D-6E8A-4147-A177-3AD203B41FA5}">
                      <a16:colId xmlns:a16="http://schemas.microsoft.com/office/drawing/2014/main" val="1501269818"/>
                    </a:ext>
                  </a:extLst>
                </a:gridCol>
                <a:gridCol w="2840567">
                  <a:extLst>
                    <a:ext uri="{9D8B030D-6E8A-4147-A177-3AD203B41FA5}">
                      <a16:colId xmlns:a16="http://schemas.microsoft.com/office/drawing/2014/main" val="4274574750"/>
                    </a:ext>
                  </a:extLst>
                </a:gridCol>
                <a:gridCol w="2840567">
                  <a:extLst>
                    <a:ext uri="{9D8B030D-6E8A-4147-A177-3AD203B41FA5}">
                      <a16:colId xmlns:a16="http://schemas.microsoft.com/office/drawing/2014/main" val="499104711"/>
                    </a:ext>
                  </a:extLst>
                </a:gridCol>
              </a:tblGrid>
              <a:tr h="304800">
                <a:tc>
                  <a:txBody>
                    <a:bodyPr/>
                    <a:lstStyle/>
                    <a:p>
                      <a:pPr>
                        <a:buNone/>
                      </a:pPr>
                      <a:r>
                        <a:rPr lang="en-US" sz="1400"/>
                        <a:t>Feature</a:t>
                      </a:r>
                    </a:p>
                  </a:txBody>
                  <a:tcPr anchor="ctr">
                    <a:lnL>
                      <a:noFill/>
                    </a:lnL>
                    <a:lnR>
                      <a:noFill/>
                    </a:lnR>
                    <a:lnT>
                      <a:noFill/>
                    </a:lnT>
                    <a:lnB>
                      <a:noFill/>
                    </a:lnB>
                    <a:noFill/>
                  </a:tcPr>
                </a:tc>
                <a:tc>
                  <a:txBody>
                    <a:bodyPr/>
                    <a:lstStyle/>
                    <a:p>
                      <a:pPr>
                        <a:buNone/>
                      </a:pPr>
                      <a:r>
                        <a:rPr lang="en-US" sz="1400"/>
                        <a:t>IMemoryCache</a:t>
                      </a:r>
                    </a:p>
                  </a:txBody>
                  <a:tcPr anchor="ctr">
                    <a:lnL>
                      <a:noFill/>
                    </a:lnL>
                    <a:lnR>
                      <a:noFill/>
                    </a:lnR>
                    <a:lnT>
                      <a:noFill/>
                    </a:lnT>
                    <a:lnB>
                      <a:noFill/>
                    </a:lnB>
                    <a:noFill/>
                  </a:tcPr>
                </a:tc>
                <a:tc>
                  <a:txBody>
                    <a:bodyPr/>
                    <a:lstStyle/>
                    <a:p>
                      <a:pPr>
                        <a:buNone/>
                      </a:pPr>
                      <a:r>
                        <a:rPr lang="en-US" sz="1400"/>
                        <a:t>Response Cache</a:t>
                      </a:r>
                    </a:p>
                  </a:txBody>
                  <a:tcPr anchor="ctr">
                    <a:lnL>
                      <a:noFill/>
                    </a:lnL>
                    <a:lnR>
                      <a:noFill/>
                    </a:lnR>
                    <a:lnT>
                      <a:noFill/>
                    </a:lnT>
                    <a:lnB>
                      <a:noFill/>
                    </a:lnB>
                    <a:noFill/>
                  </a:tcPr>
                </a:tc>
                <a:extLst>
                  <a:ext uri="{0D108BD9-81ED-4DB2-BD59-A6C34878D82A}">
                    <a16:rowId xmlns:a16="http://schemas.microsoft.com/office/drawing/2014/main" val="2530862434"/>
                  </a:ext>
                </a:extLst>
              </a:tr>
              <a:tr h="304800">
                <a:tc>
                  <a:txBody>
                    <a:bodyPr/>
                    <a:lstStyle/>
                    <a:p>
                      <a:pPr>
                        <a:buNone/>
                      </a:pPr>
                      <a:r>
                        <a:rPr lang="en-US" sz="1400"/>
                        <a:t>Stores objects</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extLst>
                  <a:ext uri="{0D108BD9-81ED-4DB2-BD59-A6C34878D82A}">
                    <a16:rowId xmlns:a16="http://schemas.microsoft.com/office/drawing/2014/main" val="2755264362"/>
                  </a:ext>
                </a:extLst>
              </a:tr>
              <a:tr h="304800">
                <a:tc>
                  <a:txBody>
                    <a:bodyPr/>
                    <a:lstStyle/>
                    <a:p>
                      <a:pPr>
                        <a:buNone/>
                      </a:pPr>
                      <a:r>
                        <a:rPr lang="en-US" sz="1400"/>
                        <a:t>Stores HTTP responses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extLst>
                  <a:ext uri="{0D108BD9-81ED-4DB2-BD59-A6C34878D82A}">
                    <a16:rowId xmlns:a16="http://schemas.microsoft.com/office/drawing/2014/main" val="4107545865"/>
                  </a:ext>
                </a:extLst>
              </a:tr>
              <a:tr h="304800">
                <a:tc>
                  <a:txBody>
                    <a:bodyPr/>
                    <a:lstStyle/>
                    <a:p>
                      <a:pPr>
                        <a:buNone/>
                      </a:pPr>
                      <a:r>
                        <a:rPr lang="en-US" sz="1400"/>
                        <a:t>Flexible</a:t>
                      </a:r>
                    </a:p>
                  </a:txBody>
                  <a:tcPr anchor="ctr">
                    <a:lnL>
                      <a:noFill/>
                    </a:lnL>
                    <a:lnR>
                      <a:noFill/>
                    </a:lnR>
                    <a:lnT>
                      <a:noFill/>
                    </a:lnT>
                    <a:lnB>
                      <a:noFill/>
                    </a:lnB>
                    <a:noFill/>
                  </a:tcPr>
                </a:tc>
                <a:tc>
                  <a:txBody>
                    <a:bodyPr/>
                    <a:lstStyle/>
                    <a:p>
                      <a:pPr>
                        <a:buNone/>
                      </a:pPr>
                      <a:r>
                        <a:rPr lang="en-US" sz="1400"/>
                        <a:t>Very</a:t>
                      </a:r>
                    </a:p>
                  </a:txBody>
                  <a:tcPr anchor="ctr">
                    <a:lnL>
                      <a:noFill/>
                    </a:lnL>
                    <a:lnR>
                      <a:noFill/>
                    </a:lnR>
                    <a:lnT>
                      <a:noFill/>
                    </a:lnT>
                    <a:lnB>
                      <a:noFill/>
                    </a:lnB>
                    <a:noFill/>
                  </a:tcPr>
                </a:tc>
                <a:tc>
                  <a:txBody>
                    <a:bodyPr/>
                    <a:lstStyle/>
                    <a:p>
                      <a:pPr>
                        <a:buNone/>
                      </a:pPr>
                      <a:r>
                        <a:rPr lang="en-US" sz="1400"/>
                        <a:t>Limited</a:t>
                      </a:r>
                    </a:p>
                  </a:txBody>
                  <a:tcPr anchor="ctr">
                    <a:lnL>
                      <a:noFill/>
                    </a:lnL>
                    <a:lnR>
                      <a:noFill/>
                    </a:lnR>
                    <a:lnT>
                      <a:noFill/>
                    </a:lnT>
                    <a:lnB>
                      <a:noFill/>
                    </a:lnB>
                    <a:noFill/>
                  </a:tcPr>
                </a:tc>
                <a:extLst>
                  <a:ext uri="{0D108BD9-81ED-4DB2-BD59-A6C34878D82A}">
                    <a16:rowId xmlns:a16="http://schemas.microsoft.com/office/drawing/2014/main" val="234724570"/>
                  </a:ext>
                </a:extLst>
              </a:tr>
              <a:tr h="304800">
                <a:tc>
                  <a:txBody>
                    <a:bodyPr/>
                    <a:lstStyle/>
                    <a:p>
                      <a:pPr>
                        <a:buNone/>
                      </a:pPr>
                      <a:r>
                        <a:rPr lang="en-US" sz="1400"/>
                        <a:t>Best for</a:t>
                      </a:r>
                    </a:p>
                  </a:txBody>
                  <a:tcPr anchor="ctr">
                    <a:lnL>
                      <a:noFill/>
                    </a:lnL>
                    <a:lnR>
                      <a:noFill/>
                    </a:lnR>
                    <a:lnT>
                      <a:noFill/>
                    </a:lnT>
                    <a:lnB>
                      <a:noFill/>
                    </a:lnB>
                    <a:noFill/>
                  </a:tcPr>
                </a:tc>
                <a:tc>
                  <a:txBody>
                    <a:bodyPr/>
                    <a:lstStyle/>
                    <a:p>
                      <a:pPr>
                        <a:buNone/>
                      </a:pPr>
                      <a:r>
                        <a:rPr lang="en-US" sz="1400"/>
                        <a:t>Business logic</a:t>
                      </a:r>
                    </a:p>
                  </a:txBody>
                  <a:tcPr anchor="ctr">
                    <a:lnL>
                      <a:noFill/>
                    </a:lnL>
                    <a:lnR>
                      <a:noFill/>
                    </a:lnR>
                    <a:lnT>
                      <a:noFill/>
                    </a:lnT>
                    <a:lnB>
                      <a:noFill/>
                    </a:lnB>
                    <a:noFill/>
                  </a:tcPr>
                </a:tc>
                <a:tc>
                  <a:txBody>
                    <a:bodyPr/>
                    <a:lstStyle/>
                    <a:p>
                      <a:pPr>
                        <a:buNone/>
                      </a:pPr>
                      <a:r>
                        <a:rPr lang="en-US" sz="1400" dirty="0"/>
                        <a:t>Public GET endpoints</a:t>
                      </a:r>
                    </a:p>
                  </a:txBody>
                  <a:tcPr anchor="ctr">
                    <a:lnL>
                      <a:noFill/>
                    </a:lnL>
                    <a:lnR>
                      <a:noFill/>
                    </a:lnR>
                    <a:lnT>
                      <a:noFill/>
                    </a:lnT>
                    <a:lnB>
                      <a:noFill/>
                    </a:lnB>
                    <a:noFill/>
                  </a:tcPr>
                </a:tc>
                <a:extLst>
                  <a:ext uri="{0D108BD9-81ED-4DB2-BD59-A6C34878D82A}">
                    <a16:rowId xmlns:a16="http://schemas.microsoft.com/office/drawing/2014/main" val="2954175756"/>
                  </a:ext>
                </a:extLst>
              </a:tr>
            </a:tbl>
          </a:graphicData>
        </a:graphic>
      </p:graphicFrame>
    </p:spTree>
    <p:extLst>
      <p:ext uri="{BB962C8B-B14F-4D97-AF65-F5344CB8AC3E}">
        <p14:creationId xmlns:p14="http://schemas.microsoft.com/office/powerpoint/2010/main" val="18030699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E0A82E-2DD1-0FFB-B8FB-C039A89AB91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13958F68-DECA-8236-B363-DB8B4EFFB5EB}"/>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C1F5807B-870E-19E7-3822-D8FF49370939}"/>
              </a:ext>
            </a:extLst>
          </p:cNvPr>
          <p:cNvPicPr>
            <a:picLocks noChangeAspect="1"/>
          </p:cNvPicPr>
          <p:nvPr/>
        </p:nvPicPr>
        <p:blipFill>
          <a:blip r:embed="rId3"/>
          <a:stretch>
            <a:fillRect/>
          </a:stretch>
        </p:blipFill>
        <p:spPr>
          <a:xfrm>
            <a:off x="649872" y="2890864"/>
            <a:ext cx="3581900" cy="1810003"/>
          </a:xfrm>
          <a:prstGeom prst="rect">
            <a:avLst/>
          </a:prstGeom>
        </p:spPr>
      </p:pic>
      <p:pic>
        <p:nvPicPr>
          <p:cNvPr id="9" name="Picture 8">
            <a:extLst>
              <a:ext uri="{FF2B5EF4-FFF2-40B4-BE49-F238E27FC236}">
                <a16:creationId xmlns:a16="http://schemas.microsoft.com/office/drawing/2014/main" id="{FA7A7A47-659F-EF55-9643-BFCF61828E6D}"/>
              </a:ext>
            </a:extLst>
          </p:cNvPr>
          <p:cNvPicPr>
            <a:picLocks noChangeAspect="1"/>
          </p:cNvPicPr>
          <p:nvPr/>
        </p:nvPicPr>
        <p:blipFill>
          <a:blip r:embed="rId4"/>
          <a:stretch>
            <a:fillRect/>
          </a:stretch>
        </p:blipFill>
        <p:spPr>
          <a:xfrm>
            <a:off x="4813574" y="2369665"/>
            <a:ext cx="3410426" cy="885949"/>
          </a:xfrm>
          <a:prstGeom prst="rect">
            <a:avLst/>
          </a:prstGeom>
        </p:spPr>
      </p:pic>
      <p:sp>
        <p:nvSpPr>
          <p:cNvPr id="10" name="TextBox 9">
            <a:extLst>
              <a:ext uri="{FF2B5EF4-FFF2-40B4-BE49-F238E27FC236}">
                <a16:creationId xmlns:a16="http://schemas.microsoft.com/office/drawing/2014/main" id="{ACA2F560-9181-D063-5957-36F80B381A82}"/>
              </a:ext>
            </a:extLst>
          </p:cNvPr>
          <p:cNvSpPr txBox="1"/>
          <p:nvPr/>
        </p:nvSpPr>
        <p:spPr>
          <a:xfrm>
            <a:off x="4813574" y="1996763"/>
            <a:ext cx="3345788" cy="307777"/>
          </a:xfrm>
          <a:prstGeom prst="rect">
            <a:avLst/>
          </a:prstGeom>
          <a:noFill/>
        </p:spPr>
        <p:txBody>
          <a:bodyPr wrap="none" rtlCol="0">
            <a:spAutoFit/>
          </a:bodyPr>
          <a:lstStyle/>
          <a:p>
            <a:r>
              <a:rPr lang="en-US" dirty="0">
                <a:solidFill>
                  <a:schemeClr val="bg1"/>
                </a:solidFill>
              </a:rPr>
              <a:t>Eager Loading (Include() method used):</a:t>
            </a:r>
          </a:p>
        </p:txBody>
      </p:sp>
      <p:sp>
        <p:nvSpPr>
          <p:cNvPr id="12" name="TextBox 11">
            <a:extLst>
              <a:ext uri="{FF2B5EF4-FFF2-40B4-BE49-F238E27FC236}">
                <a16:creationId xmlns:a16="http://schemas.microsoft.com/office/drawing/2014/main" id="{40B58490-7B52-DB76-42C3-726AD6FF1D27}"/>
              </a:ext>
            </a:extLst>
          </p:cNvPr>
          <p:cNvSpPr txBox="1"/>
          <p:nvPr/>
        </p:nvSpPr>
        <p:spPr>
          <a:xfrm>
            <a:off x="1385188" y="997125"/>
            <a:ext cx="6856771" cy="307777"/>
          </a:xfrm>
          <a:prstGeom prst="rect">
            <a:avLst/>
          </a:prstGeom>
          <a:noFill/>
        </p:spPr>
        <p:txBody>
          <a:bodyPr wrap="square">
            <a:spAutoFit/>
          </a:bodyPr>
          <a:lstStyle/>
          <a:p>
            <a:r>
              <a:rPr lang="en-US" dirty="0">
                <a:solidFill>
                  <a:schemeClr val="bg1"/>
                </a:solidFill>
              </a:rPr>
              <a:t>Eager Loading gets record data for related records as part of the original query.</a:t>
            </a:r>
          </a:p>
        </p:txBody>
      </p:sp>
    </p:spTree>
    <p:extLst>
      <p:ext uri="{BB962C8B-B14F-4D97-AF65-F5344CB8AC3E}">
        <p14:creationId xmlns:p14="http://schemas.microsoft.com/office/powerpoint/2010/main" val="3420001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7BDC-0497-11A6-B685-18E3661F1B4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DF0557-FC5F-47FB-06BC-DA11E55E56F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370DE1B8-3BBA-233E-2323-7A6A1E79A22F}"/>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16E87E70-85AC-CEC1-498F-E71BE7F3AC53}"/>
              </a:ext>
            </a:extLst>
          </p:cNvPr>
          <p:cNvPicPr>
            <a:picLocks noChangeAspect="1"/>
          </p:cNvPicPr>
          <p:nvPr/>
        </p:nvPicPr>
        <p:blipFill>
          <a:blip r:embed="rId3"/>
          <a:stretch>
            <a:fillRect/>
          </a:stretch>
        </p:blipFill>
        <p:spPr>
          <a:xfrm>
            <a:off x="649872" y="2890864"/>
            <a:ext cx="3581900" cy="1810003"/>
          </a:xfrm>
          <a:prstGeom prst="rect">
            <a:avLst/>
          </a:prstGeom>
        </p:spPr>
      </p:pic>
      <p:sp>
        <p:nvSpPr>
          <p:cNvPr id="10" name="TextBox 9">
            <a:extLst>
              <a:ext uri="{FF2B5EF4-FFF2-40B4-BE49-F238E27FC236}">
                <a16:creationId xmlns:a16="http://schemas.microsoft.com/office/drawing/2014/main" id="{38935EA4-C26A-F5D0-3506-6FAC5DFD3E31}"/>
              </a:ext>
            </a:extLst>
          </p:cNvPr>
          <p:cNvSpPr txBox="1"/>
          <p:nvPr/>
        </p:nvSpPr>
        <p:spPr>
          <a:xfrm>
            <a:off x="4803742" y="1549395"/>
            <a:ext cx="1784463" cy="307777"/>
          </a:xfrm>
          <a:prstGeom prst="rect">
            <a:avLst/>
          </a:prstGeom>
          <a:noFill/>
        </p:spPr>
        <p:txBody>
          <a:bodyPr wrap="none" rtlCol="0">
            <a:spAutoFit/>
          </a:bodyPr>
          <a:lstStyle/>
          <a:p>
            <a:r>
              <a:rPr lang="en-US" dirty="0">
                <a:solidFill>
                  <a:schemeClr val="bg1"/>
                </a:solidFill>
              </a:rPr>
              <a:t>Lazy Loading (rare):</a:t>
            </a:r>
          </a:p>
        </p:txBody>
      </p:sp>
      <p:sp>
        <p:nvSpPr>
          <p:cNvPr id="12" name="TextBox 11">
            <a:extLst>
              <a:ext uri="{FF2B5EF4-FFF2-40B4-BE49-F238E27FC236}">
                <a16:creationId xmlns:a16="http://schemas.microsoft.com/office/drawing/2014/main" id="{59A94C73-C711-C96B-81C1-84A6D76D2ABC}"/>
              </a:ext>
            </a:extLst>
          </p:cNvPr>
          <p:cNvSpPr txBox="1"/>
          <p:nvPr/>
        </p:nvSpPr>
        <p:spPr>
          <a:xfrm>
            <a:off x="1171319" y="966044"/>
            <a:ext cx="6801361" cy="307777"/>
          </a:xfrm>
          <a:prstGeom prst="rect">
            <a:avLst/>
          </a:prstGeom>
          <a:noFill/>
        </p:spPr>
        <p:txBody>
          <a:bodyPr wrap="square">
            <a:spAutoFit/>
          </a:bodyPr>
          <a:lstStyle/>
          <a:p>
            <a:r>
              <a:rPr lang="en-US" dirty="0">
                <a:solidFill>
                  <a:schemeClr val="bg1"/>
                </a:solidFill>
              </a:rPr>
              <a:t>Lazy Loading gets record data for related records only when needed. (more queries)</a:t>
            </a:r>
          </a:p>
        </p:txBody>
      </p:sp>
      <p:pic>
        <p:nvPicPr>
          <p:cNvPr id="4" name="Picture 3">
            <a:extLst>
              <a:ext uri="{FF2B5EF4-FFF2-40B4-BE49-F238E27FC236}">
                <a16:creationId xmlns:a16="http://schemas.microsoft.com/office/drawing/2014/main" id="{28CCC25B-B34A-D91C-5F2D-B5634E3C61EA}"/>
              </a:ext>
            </a:extLst>
          </p:cNvPr>
          <p:cNvPicPr>
            <a:picLocks noChangeAspect="1"/>
          </p:cNvPicPr>
          <p:nvPr/>
        </p:nvPicPr>
        <p:blipFill>
          <a:blip r:embed="rId4"/>
          <a:stretch>
            <a:fillRect/>
          </a:stretch>
        </p:blipFill>
        <p:spPr>
          <a:xfrm>
            <a:off x="4902398" y="1893760"/>
            <a:ext cx="2947765" cy="169584"/>
          </a:xfrm>
          <a:prstGeom prst="rect">
            <a:avLst/>
          </a:prstGeom>
        </p:spPr>
      </p:pic>
      <p:pic>
        <p:nvPicPr>
          <p:cNvPr id="8" name="Picture 7">
            <a:extLst>
              <a:ext uri="{FF2B5EF4-FFF2-40B4-BE49-F238E27FC236}">
                <a16:creationId xmlns:a16="http://schemas.microsoft.com/office/drawing/2014/main" id="{BBDC3738-F43B-896F-EC52-C1591135B127}"/>
              </a:ext>
            </a:extLst>
          </p:cNvPr>
          <p:cNvPicPr>
            <a:picLocks noChangeAspect="1"/>
          </p:cNvPicPr>
          <p:nvPr/>
        </p:nvPicPr>
        <p:blipFill>
          <a:blip r:embed="rId5"/>
          <a:stretch>
            <a:fillRect/>
          </a:stretch>
        </p:blipFill>
        <p:spPr>
          <a:xfrm>
            <a:off x="5055861" y="2169214"/>
            <a:ext cx="2640837" cy="508484"/>
          </a:xfrm>
          <a:prstGeom prst="rect">
            <a:avLst/>
          </a:prstGeom>
        </p:spPr>
      </p:pic>
      <p:pic>
        <p:nvPicPr>
          <p:cNvPr id="13" name="Picture 12">
            <a:extLst>
              <a:ext uri="{FF2B5EF4-FFF2-40B4-BE49-F238E27FC236}">
                <a16:creationId xmlns:a16="http://schemas.microsoft.com/office/drawing/2014/main" id="{C8E46BE7-B359-BBAB-4949-B810837EE2A0}"/>
              </a:ext>
            </a:extLst>
          </p:cNvPr>
          <p:cNvPicPr>
            <a:picLocks noChangeAspect="1"/>
          </p:cNvPicPr>
          <p:nvPr/>
        </p:nvPicPr>
        <p:blipFill>
          <a:blip r:embed="rId6"/>
          <a:stretch>
            <a:fillRect/>
          </a:stretch>
        </p:blipFill>
        <p:spPr>
          <a:xfrm>
            <a:off x="4618135" y="2893398"/>
            <a:ext cx="3516288" cy="638726"/>
          </a:xfrm>
          <a:prstGeom prst="rect">
            <a:avLst/>
          </a:prstGeom>
        </p:spPr>
      </p:pic>
      <p:pic>
        <p:nvPicPr>
          <p:cNvPr id="15" name="Picture 14">
            <a:extLst>
              <a:ext uri="{FF2B5EF4-FFF2-40B4-BE49-F238E27FC236}">
                <a16:creationId xmlns:a16="http://schemas.microsoft.com/office/drawing/2014/main" id="{7927FE37-D484-A424-87C2-34C3BC9A2BE0}"/>
              </a:ext>
            </a:extLst>
          </p:cNvPr>
          <p:cNvPicPr>
            <a:picLocks noChangeAspect="1"/>
          </p:cNvPicPr>
          <p:nvPr/>
        </p:nvPicPr>
        <p:blipFill>
          <a:blip r:embed="rId7"/>
          <a:stretch>
            <a:fillRect/>
          </a:stretch>
        </p:blipFill>
        <p:spPr>
          <a:xfrm>
            <a:off x="4975122" y="4016076"/>
            <a:ext cx="2081349" cy="641511"/>
          </a:xfrm>
          <a:prstGeom prst="rect">
            <a:avLst/>
          </a:prstGeom>
        </p:spPr>
      </p:pic>
      <p:sp>
        <p:nvSpPr>
          <p:cNvPr id="16" name="TextBox 15">
            <a:extLst>
              <a:ext uri="{FF2B5EF4-FFF2-40B4-BE49-F238E27FC236}">
                <a16:creationId xmlns:a16="http://schemas.microsoft.com/office/drawing/2014/main" id="{9CD4ADEC-23E5-3632-3D91-7C915B6F4D6D}"/>
              </a:ext>
            </a:extLst>
          </p:cNvPr>
          <p:cNvSpPr txBox="1"/>
          <p:nvPr/>
        </p:nvSpPr>
        <p:spPr>
          <a:xfrm>
            <a:off x="4902398" y="3532124"/>
            <a:ext cx="2619628" cy="523220"/>
          </a:xfrm>
          <a:prstGeom prst="rect">
            <a:avLst/>
          </a:prstGeom>
          <a:noFill/>
        </p:spPr>
        <p:txBody>
          <a:bodyPr wrap="none" rtlCol="0">
            <a:spAutoFit/>
          </a:bodyPr>
          <a:lstStyle/>
          <a:p>
            <a:r>
              <a:rPr lang="en-US" dirty="0">
                <a:solidFill>
                  <a:schemeClr val="bg1"/>
                </a:solidFill>
              </a:rPr>
              <a:t>If 100 orders, then 101 queries</a:t>
            </a:r>
          </a:p>
          <a:p>
            <a:r>
              <a:rPr lang="en-US" dirty="0">
                <a:solidFill>
                  <a:schemeClr val="bg1"/>
                </a:solidFill>
              </a:rPr>
              <a:t>(1 for orders, 100 for items):</a:t>
            </a:r>
          </a:p>
        </p:txBody>
      </p:sp>
    </p:spTree>
    <p:extLst>
      <p:ext uri="{BB962C8B-B14F-4D97-AF65-F5344CB8AC3E}">
        <p14:creationId xmlns:p14="http://schemas.microsoft.com/office/powerpoint/2010/main" val="11490543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413BC2B-7A5D-D363-FF64-C3777F7569DB}"/>
              </a:ext>
            </a:extLst>
          </p:cNvPr>
          <p:cNvSpPr>
            <a:spLocks noGrp="1"/>
          </p:cNvSpPr>
          <p:nvPr>
            <p:ph type="body" idx="1"/>
          </p:nvPr>
        </p:nvSpPr>
        <p:spPr>
          <a:xfrm>
            <a:off x="1457395" y="1308015"/>
            <a:ext cx="6229209" cy="419535"/>
          </a:xfrm>
        </p:spPr>
        <p:txBody>
          <a:bodyPr/>
          <a:lstStyle/>
          <a:p>
            <a:r>
              <a:rPr lang="en-US" dirty="0"/>
              <a:t>Explicit loading uses EF core APIs like Entry(), Collection(), or Reference()</a:t>
            </a:r>
          </a:p>
          <a:p>
            <a:r>
              <a:rPr lang="en-US" dirty="0"/>
              <a:t>Rarely used – runs into same problem as lazy loading; many queries </a:t>
            </a:r>
          </a:p>
          <a:p>
            <a:r>
              <a:rPr lang="en-US" dirty="0"/>
              <a:t>Collection() will traverse relationship on to a set (many side of relationship)</a:t>
            </a:r>
          </a:p>
          <a:p>
            <a:r>
              <a:rPr lang="en-US" dirty="0"/>
              <a:t>Reference() will traverse relationship to a single entity (1 side of relationships)</a:t>
            </a:r>
          </a:p>
          <a:p>
            <a:endParaRPr lang="en-US" dirty="0"/>
          </a:p>
          <a:p>
            <a:endParaRPr lang="en-US" dirty="0"/>
          </a:p>
        </p:txBody>
      </p:sp>
      <p:sp>
        <p:nvSpPr>
          <p:cNvPr id="3" name="Title 2">
            <a:extLst>
              <a:ext uri="{FF2B5EF4-FFF2-40B4-BE49-F238E27FC236}">
                <a16:creationId xmlns:a16="http://schemas.microsoft.com/office/drawing/2014/main" id="{644C61DC-85F0-D519-2321-9D177AB57783}"/>
              </a:ext>
            </a:extLst>
          </p:cNvPr>
          <p:cNvSpPr>
            <a:spLocks noGrp="1"/>
          </p:cNvSpPr>
          <p:nvPr>
            <p:ph type="title"/>
          </p:nvPr>
        </p:nvSpPr>
        <p:spPr/>
        <p:txBody>
          <a:bodyPr/>
          <a:lstStyle/>
          <a:p>
            <a:r>
              <a:rPr lang="en-US" dirty="0"/>
              <a:t>Explicit Loading</a:t>
            </a:r>
          </a:p>
        </p:txBody>
      </p:sp>
      <p:pic>
        <p:nvPicPr>
          <p:cNvPr id="5" name="Picture 4">
            <a:extLst>
              <a:ext uri="{FF2B5EF4-FFF2-40B4-BE49-F238E27FC236}">
                <a16:creationId xmlns:a16="http://schemas.microsoft.com/office/drawing/2014/main" id="{B3ED925F-12AA-6162-B4B1-462B5347B109}"/>
              </a:ext>
            </a:extLst>
          </p:cNvPr>
          <p:cNvPicPr>
            <a:picLocks noChangeAspect="1"/>
          </p:cNvPicPr>
          <p:nvPr/>
        </p:nvPicPr>
        <p:blipFill>
          <a:blip r:embed="rId2"/>
          <a:stretch>
            <a:fillRect/>
          </a:stretch>
        </p:blipFill>
        <p:spPr>
          <a:xfrm>
            <a:off x="1326882" y="2681472"/>
            <a:ext cx="2296306" cy="807821"/>
          </a:xfrm>
          <a:prstGeom prst="rect">
            <a:avLst/>
          </a:prstGeom>
        </p:spPr>
      </p:pic>
      <p:pic>
        <p:nvPicPr>
          <p:cNvPr id="7" name="Picture 6">
            <a:extLst>
              <a:ext uri="{FF2B5EF4-FFF2-40B4-BE49-F238E27FC236}">
                <a16:creationId xmlns:a16="http://schemas.microsoft.com/office/drawing/2014/main" id="{F750B79B-F8C6-3E06-3C6D-1C38E85F6742}"/>
              </a:ext>
            </a:extLst>
          </p:cNvPr>
          <p:cNvPicPr>
            <a:picLocks noChangeAspect="1"/>
          </p:cNvPicPr>
          <p:nvPr/>
        </p:nvPicPr>
        <p:blipFill>
          <a:blip r:embed="rId3"/>
          <a:stretch>
            <a:fillRect/>
          </a:stretch>
        </p:blipFill>
        <p:spPr>
          <a:xfrm>
            <a:off x="4736448" y="2669693"/>
            <a:ext cx="2539556" cy="758077"/>
          </a:xfrm>
          <a:prstGeom prst="rect">
            <a:avLst/>
          </a:prstGeom>
        </p:spPr>
      </p:pic>
      <p:pic>
        <p:nvPicPr>
          <p:cNvPr id="9" name="Picture 8">
            <a:extLst>
              <a:ext uri="{FF2B5EF4-FFF2-40B4-BE49-F238E27FC236}">
                <a16:creationId xmlns:a16="http://schemas.microsoft.com/office/drawing/2014/main" id="{9B025BCE-2FBE-2290-B7E4-906FBE1EBF6E}"/>
              </a:ext>
            </a:extLst>
          </p:cNvPr>
          <p:cNvPicPr>
            <a:picLocks noChangeAspect="1"/>
          </p:cNvPicPr>
          <p:nvPr/>
        </p:nvPicPr>
        <p:blipFill>
          <a:blip r:embed="rId4"/>
          <a:stretch>
            <a:fillRect/>
          </a:stretch>
        </p:blipFill>
        <p:spPr>
          <a:xfrm>
            <a:off x="1509388" y="4148818"/>
            <a:ext cx="1887658" cy="782866"/>
          </a:xfrm>
          <a:prstGeom prst="rect">
            <a:avLst/>
          </a:prstGeom>
        </p:spPr>
      </p:pic>
      <p:sp>
        <p:nvSpPr>
          <p:cNvPr id="10" name="TextBox 9">
            <a:extLst>
              <a:ext uri="{FF2B5EF4-FFF2-40B4-BE49-F238E27FC236}">
                <a16:creationId xmlns:a16="http://schemas.microsoft.com/office/drawing/2014/main" id="{3D913945-7749-0AA8-B643-7AF62BEAED18}"/>
              </a:ext>
            </a:extLst>
          </p:cNvPr>
          <p:cNvSpPr txBox="1"/>
          <p:nvPr/>
        </p:nvSpPr>
        <p:spPr>
          <a:xfrm>
            <a:off x="1641313" y="3711678"/>
            <a:ext cx="1667444" cy="307777"/>
          </a:xfrm>
          <a:prstGeom prst="rect">
            <a:avLst/>
          </a:prstGeom>
          <a:noFill/>
        </p:spPr>
        <p:txBody>
          <a:bodyPr wrap="none" rtlCol="0">
            <a:spAutoFit/>
          </a:bodyPr>
          <a:lstStyle/>
          <a:p>
            <a:r>
              <a:rPr lang="en-US" dirty="0">
                <a:solidFill>
                  <a:schemeClr val="bg1"/>
                </a:solidFill>
              </a:rPr>
              <a:t>Roughly becomes:</a:t>
            </a:r>
          </a:p>
        </p:txBody>
      </p:sp>
      <p:pic>
        <p:nvPicPr>
          <p:cNvPr id="12" name="Picture 11">
            <a:extLst>
              <a:ext uri="{FF2B5EF4-FFF2-40B4-BE49-F238E27FC236}">
                <a16:creationId xmlns:a16="http://schemas.microsoft.com/office/drawing/2014/main" id="{2F5B7FC7-B33E-A86B-7C3C-5123B5C96684}"/>
              </a:ext>
            </a:extLst>
          </p:cNvPr>
          <p:cNvPicPr>
            <a:picLocks noChangeAspect="1"/>
          </p:cNvPicPr>
          <p:nvPr/>
        </p:nvPicPr>
        <p:blipFill>
          <a:blip r:embed="rId5"/>
          <a:stretch>
            <a:fillRect/>
          </a:stretch>
        </p:blipFill>
        <p:spPr>
          <a:xfrm>
            <a:off x="5062397" y="4132423"/>
            <a:ext cx="1887658" cy="815655"/>
          </a:xfrm>
          <a:prstGeom prst="rect">
            <a:avLst/>
          </a:prstGeom>
        </p:spPr>
      </p:pic>
      <p:sp>
        <p:nvSpPr>
          <p:cNvPr id="13" name="TextBox 12">
            <a:extLst>
              <a:ext uri="{FF2B5EF4-FFF2-40B4-BE49-F238E27FC236}">
                <a16:creationId xmlns:a16="http://schemas.microsoft.com/office/drawing/2014/main" id="{D619CCB1-2CB9-F7A8-7258-149ACAF06EB4}"/>
              </a:ext>
            </a:extLst>
          </p:cNvPr>
          <p:cNvSpPr txBox="1"/>
          <p:nvPr/>
        </p:nvSpPr>
        <p:spPr>
          <a:xfrm>
            <a:off x="4905623" y="3711677"/>
            <a:ext cx="1667444" cy="307777"/>
          </a:xfrm>
          <a:prstGeom prst="rect">
            <a:avLst/>
          </a:prstGeom>
          <a:noFill/>
        </p:spPr>
        <p:txBody>
          <a:bodyPr wrap="none" rtlCol="0">
            <a:spAutoFit/>
          </a:bodyPr>
          <a:lstStyle/>
          <a:p>
            <a:r>
              <a:rPr lang="en-US" dirty="0">
                <a:solidFill>
                  <a:schemeClr val="bg1"/>
                </a:solidFill>
              </a:rPr>
              <a:t>Roughly becomes:</a:t>
            </a:r>
          </a:p>
        </p:txBody>
      </p:sp>
    </p:spTree>
    <p:extLst>
      <p:ext uri="{BB962C8B-B14F-4D97-AF65-F5344CB8AC3E}">
        <p14:creationId xmlns:p14="http://schemas.microsoft.com/office/powerpoint/2010/main" val="319352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0CCB1F-BB8B-74F4-8237-5AFB01E94F2C}"/>
              </a:ext>
            </a:extLst>
          </p:cNvPr>
          <p:cNvSpPr>
            <a:spLocks noGrp="1"/>
          </p:cNvSpPr>
          <p:nvPr>
            <p:ph type="body" idx="1"/>
          </p:nvPr>
        </p:nvSpPr>
        <p:spPr>
          <a:xfrm>
            <a:off x="1127876" y="1413993"/>
            <a:ext cx="6907398" cy="394955"/>
          </a:xfrm>
        </p:spPr>
        <p:txBody>
          <a:bodyPr/>
          <a:lstStyle/>
          <a:p>
            <a:r>
              <a:rPr lang="en-US" sz="1100" dirty="0"/>
              <a:t>In general, manual separate queries or projection is often preferred (i.e. no eager, lazy, or explicit loading):</a:t>
            </a:r>
          </a:p>
        </p:txBody>
      </p:sp>
      <p:sp>
        <p:nvSpPr>
          <p:cNvPr id="3" name="Title 2">
            <a:extLst>
              <a:ext uri="{FF2B5EF4-FFF2-40B4-BE49-F238E27FC236}">
                <a16:creationId xmlns:a16="http://schemas.microsoft.com/office/drawing/2014/main" id="{9ABC168A-7741-A2B6-80D2-27E8171127BE}"/>
              </a:ext>
            </a:extLst>
          </p:cNvPr>
          <p:cNvSpPr>
            <a:spLocks noGrp="1"/>
          </p:cNvSpPr>
          <p:nvPr>
            <p:ph type="title"/>
          </p:nvPr>
        </p:nvSpPr>
        <p:spPr/>
        <p:txBody>
          <a:bodyPr/>
          <a:lstStyle/>
          <a:p>
            <a:r>
              <a:rPr lang="en-US" dirty="0"/>
              <a:t>Eager vs Lazy vs Explicit Loading</a:t>
            </a:r>
          </a:p>
        </p:txBody>
      </p:sp>
      <p:pic>
        <p:nvPicPr>
          <p:cNvPr id="5" name="Picture 4">
            <a:extLst>
              <a:ext uri="{FF2B5EF4-FFF2-40B4-BE49-F238E27FC236}">
                <a16:creationId xmlns:a16="http://schemas.microsoft.com/office/drawing/2014/main" id="{18F1BB0D-B70B-C890-5870-47FF373EC916}"/>
              </a:ext>
            </a:extLst>
          </p:cNvPr>
          <p:cNvPicPr>
            <a:picLocks noChangeAspect="1"/>
          </p:cNvPicPr>
          <p:nvPr/>
        </p:nvPicPr>
        <p:blipFill>
          <a:blip r:embed="rId2"/>
          <a:stretch>
            <a:fillRect/>
          </a:stretch>
        </p:blipFill>
        <p:spPr>
          <a:xfrm>
            <a:off x="1192616" y="2395880"/>
            <a:ext cx="3149333" cy="1524304"/>
          </a:xfrm>
          <a:prstGeom prst="rect">
            <a:avLst/>
          </a:prstGeom>
        </p:spPr>
      </p:pic>
      <p:pic>
        <p:nvPicPr>
          <p:cNvPr id="7" name="Picture 6">
            <a:extLst>
              <a:ext uri="{FF2B5EF4-FFF2-40B4-BE49-F238E27FC236}">
                <a16:creationId xmlns:a16="http://schemas.microsoft.com/office/drawing/2014/main" id="{AEA096D2-4328-BF08-709E-77294D923566}"/>
              </a:ext>
            </a:extLst>
          </p:cNvPr>
          <p:cNvPicPr>
            <a:picLocks noChangeAspect="1"/>
          </p:cNvPicPr>
          <p:nvPr/>
        </p:nvPicPr>
        <p:blipFill>
          <a:blip r:embed="rId3"/>
          <a:stretch>
            <a:fillRect/>
          </a:stretch>
        </p:blipFill>
        <p:spPr>
          <a:xfrm>
            <a:off x="5288851" y="2281083"/>
            <a:ext cx="2175253" cy="1753897"/>
          </a:xfrm>
          <a:prstGeom prst="rect">
            <a:avLst/>
          </a:prstGeom>
        </p:spPr>
      </p:pic>
      <p:sp>
        <p:nvSpPr>
          <p:cNvPr id="8" name="TextBox 7">
            <a:extLst>
              <a:ext uri="{FF2B5EF4-FFF2-40B4-BE49-F238E27FC236}">
                <a16:creationId xmlns:a16="http://schemas.microsoft.com/office/drawing/2014/main" id="{A39FACF8-5FF8-CDC6-533F-E7B4DCB4721C}"/>
              </a:ext>
            </a:extLst>
          </p:cNvPr>
          <p:cNvSpPr txBox="1"/>
          <p:nvPr/>
        </p:nvSpPr>
        <p:spPr>
          <a:xfrm>
            <a:off x="1118301" y="2088103"/>
            <a:ext cx="2202847" cy="307777"/>
          </a:xfrm>
          <a:prstGeom prst="rect">
            <a:avLst/>
          </a:prstGeom>
          <a:noFill/>
        </p:spPr>
        <p:txBody>
          <a:bodyPr wrap="none" rtlCol="0">
            <a:spAutoFit/>
          </a:bodyPr>
          <a:lstStyle/>
          <a:p>
            <a:r>
              <a:rPr lang="en-US" dirty="0">
                <a:solidFill>
                  <a:schemeClr val="bg1"/>
                </a:solidFill>
              </a:rPr>
              <a:t>Manual separate queries:</a:t>
            </a:r>
          </a:p>
        </p:txBody>
      </p:sp>
      <p:sp>
        <p:nvSpPr>
          <p:cNvPr id="9" name="TextBox 8">
            <a:extLst>
              <a:ext uri="{FF2B5EF4-FFF2-40B4-BE49-F238E27FC236}">
                <a16:creationId xmlns:a16="http://schemas.microsoft.com/office/drawing/2014/main" id="{431B807E-5793-0BEC-22D5-9BACAF5CE6A9}"/>
              </a:ext>
            </a:extLst>
          </p:cNvPr>
          <p:cNvSpPr txBox="1"/>
          <p:nvPr/>
        </p:nvSpPr>
        <p:spPr>
          <a:xfrm>
            <a:off x="5218353" y="1973306"/>
            <a:ext cx="1031051" cy="307777"/>
          </a:xfrm>
          <a:prstGeom prst="rect">
            <a:avLst/>
          </a:prstGeom>
          <a:noFill/>
        </p:spPr>
        <p:txBody>
          <a:bodyPr wrap="none" rtlCol="0">
            <a:spAutoFit/>
          </a:bodyPr>
          <a:lstStyle/>
          <a:p>
            <a:r>
              <a:rPr lang="en-US" dirty="0">
                <a:solidFill>
                  <a:schemeClr val="bg1"/>
                </a:solidFill>
              </a:rPr>
              <a:t>Projection:</a:t>
            </a:r>
          </a:p>
        </p:txBody>
      </p:sp>
    </p:spTree>
    <p:extLst>
      <p:ext uri="{BB962C8B-B14F-4D97-AF65-F5344CB8AC3E}">
        <p14:creationId xmlns:p14="http://schemas.microsoft.com/office/powerpoint/2010/main" val="24569756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84B3E-B266-4AA1-BBB2-834747B743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95EB5-AEF7-57D1-90E0-DED9DE4138A7}"/>
              </a:ext>
            </a:extLst>
          </p:cNvPr>
          <p:cNvSpPr>
            <a:spLocks noGrp="1"/>
          </p:cNvSpPr>
          <p:nvPr>
            <p:ph type="title"/>
          </p:nvPr>
        </p:nvSpPr>
        <p:spPr>
          <a:xfrm>
            <a:off x="703649" y="-10435"/>
            <a:ext cx="7736700" cy="572700"/>
          </a:xfrm>
        </p:spPr>
        <p:txBody>
          <a:bodyPr/>
          <a:lstStyle/>
          <a:p>
            <a:r>
              <a:rPr lang="en-US" dirty="0"/>
              <a:t>Clean Code</a:t>
            </a:r>
          </a:p>
        </p:txBody>
      </p:sp>
      <p:pic>
        <p:nvPicPr>
          <p:cNvPr id="10" name="Picture 9">
            <a:extLst>
              <a:ext uri="{FF2B5EF4-FFF2-40B4-BE49-F238E27FC236}">
                <a16:creationId xmlns:a16="http://schemas.microsoft.com/office/drawing/2014/main" id="{2E6DFCAA-4D4A-5A1C-7FD8-05F0EE76D053}"/>
              </a:ext>
            </a:extLst>
          </p:cNvPr>
          <p:cNvPicPr>
            <a:picLocks noChangeAspect="1"/>
          </p:cNvPicPr>
          <p:nvPr/>
        </p:nvPicPr>
        <p:blipFill>
          <a:blip r:embed="rId2"/>
          <a:stretch>
            <a:fillRect/>
          </a:stretch>
        </p:blipFill>
        <p:spPr>
          <a:xfrm>
            <a:off x="1828379" y="771409"/>
            <a:ext cx="5487239" cy="4018408"/>
          </a:xfrm>
          <a:prstGeom prst="rect">
            <a:avLst/>
          </a:prstGeom>
        </p:spPr>
      </p:pic>
    </p:spTree>
    <p:extLst>
      <p:ext uri="{BB962C8B-B14F-4D97-AF65-F5344CB8AC3E}">
        <p14:creationId xmlns:p14="http://schemas.microsoft.com/office/powerpoint/2010/main" val="15258903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3D504-EE2A-AEED-5D91-E1D393647E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54C5C2-0E18-17A1-A2FA-040E5EBD52CF}"/>
              </a:ext>
            </a:extLst>
          </p:cNvPr>
          <p:cNvSpPr>
            <a:spLocks noGrp="1"/>
          </p:cNvSpPr>
          <p:nvPr>
            <p:ph type="title"/>
          </p:nvPr>
        </p:nvSpPr>
        <p:spPr>
          <a:xfrm>
            <a:off x="703649" y="-10435"/>
            <a:ext cx="7736700" cy="572700"/>
          </a:xfrm>
        </p:spPr>
        <p:txBody>
          <a:bodyPr/>
          <a:lstStyle/>
          <a:p>
            <a:r>
              <a:rPr lang="en-US" dirty="0"/>
              <a:t>CQRS</a:t>
            </a:r>
          </a:p>
        </p:txBody>
      </p:sp>
      <p:sp>
        <p:nvSpPr>
          <p:cNvPr id="3" name="TextBox 2">
            <a:extLst>
              <a:ext uri="{FF2B5EF4-FFF2-40B4-BE49-F238E27FC236}">
                <a16:creationId xmlns:a16="http://schemas.microsoft.com/office/drawing/2014/main" id="{F0C0E464-A224-8915-5CFC-3DD423E607E8}"/>
              </a:ext>
            </a:extLst>
          </p:cNvPr>
          <p:cNvSpPr txBox="1"/>
          <p:nvPr/>
        </p:nvSpPr>
        <p:spPr>
          <a:xfrm>
            <a:off x="1706400" y="1267200"/>
            <a:ext cx="1766830" cy="954107"/>
          </a:xfrm>
          <a:prstGeom prst="rect">
            <a:avLst/>
          </a:prstGeom>
          <a:noFill/>
        </p:spPr>
        <p:txBody>
          <a:bodyPr wrap="none" rtlCol="0">
            <a:spAutoFit/>
          </a:bodyPr>
          <a:lstStyle/>
          <a:p>
            <a:r>
              <a:rPr lang="en-US" dirty="0">
                <a:solidFill>
                  <a:schemeClr val="bg1"/>
                </a:solidFill>
              </a:rPr>
              <a:t>Command</a:t>
            </a:r>
          </a:p>
          <a:p>
            <a:endParaRPr lang="en-US" dirty="0">
              <a:solidFill>
                <a:schemeClr val="bg1"/>
              </a:solidFill>
            </a:endParaRPr>
          </a:p>
          <a:p>
            <a:pPr marL="285750" indent="-285750">
              <a:buClr>
                <a:schemeClr val="bg1"/>
              </a:buClr>
              <a:buFontTx/>
              <a:buChar char="-"/>
            </a:pPr>
            <a:r>
              <a:rPr lang="en-US" dirty="0">
                <a:solidFill>
                  <a:schemeClr val="bg1"/>
                </a:solidFill>
              </a:rPr>
              <a:t>Does something</a:t>
            </a:r>
          </a:p>
          <a:p>
            <a:pPr marL="285750" indent="-285750">
              <a:buClr>
                <a:schemeClr val="bg1"/>
              </a:buClr>
              <a:buFontTx/>
              <a:buChar char="-"/>
            </a:pPr>
            <a:r>
              <a:rPr lang="en-US" dirty="0">
                <a:solidFill>
                  <a:schemeClr val="bg1"/>
                </a:solidFill>
              </a:rPr>
              <a:t>Modifies State</a:t>
            </a:r>
          </a:p>
        </p:txBody>
      </p:sp>
      <p:sp>
        <p:nvSpPr>
          <p:cNvPr id="4" name="TextBox 3">
            <a:extLst>
              <a:ext uri="{FF2B5EF4-FFF2-40B4-BE49-F238E27FC236}">
                <a16:creationId xmlns:a16="http://schemas.microsoft.com/office/drawing/2014/main" id="{BC9B1AB2-A993-1DF4-4460-CEAA72A56875}"/>
              </a:ext>
            </a:extLst>
          </p:cNvPr>
          <p:cNvSpPr txBox="1"/>
          <p:nvPr/>
        </p:nvSpPr>
        <p:spPr>
          <a:xfrm>
            <a:off x="4881600" y="1267200"/>
            <a:ext cx="2234907" cy="954107"/>
          </a:xfrm>
          <a:prstGeom prst="rect">
            <a:avLst/>
          </a:prstGeom>
          <a:noFill/>
        </p:spPr>
        <p:txBody>
          <a:bodyPr wrap="none" rtlCol="0">
            <a:spAutoFit/>
          </a:bodyPr>
          <a:lstStyle/>
          <a:p>
            <a:r>
              <a:rPr lang="en-US" dirty="0">
                <a:solidFill>
                  <a:schemeClr val="bg1"/>
                </a:solidFill>
              </a:rPr>
              <a:t>Query </a:t>
            </a:r>
          </a:p>
          <a:p>
            <a:endParaRPr lang="en-US" dirty="0">
              <a:solidFill>
                <a:schemeClr val="bg1"/>
              </a:solidFill>
            </a:endParaRPr>
          </a:p>
          <a:p>
            <a:pPr marL="285750" indent="-285750">
              <a:buClr>
                <a:schemeClr val="bg1"/>
              </a:buClr>
              <a:buFontTx/>
              <a:buChar char="-"/>
            </a:pPr>
            <a:r>
              <a:rPr lang="en-US" dirty="0">
                <a:solidFill>
                  <a:schemeClr val="bg1"/>
                </a:solidFill>
              </a:rPr>
              <a:t>Answers a question</a:t>
            </a:r>
          </a:p>
          <a:p>
            <a:pPr marL="285750" indent="-285750">
              <a:buClr>
                <a:schemeClr val="bg1"/>
              </a:buClr>
              <a:buFontTx/>
              <a:buChar char="-"/>
            </a:pPr>
            <a:r>
              <a:rPr lang="en-US" dirty="0">
                <a:solidFill>
                  <a:schemeClr val="bg1"/>
                </a:solidFill>
              </a:rPr>
              <a:t>Does not modify State</a:t>
            </a:r>
          </a:p>
        </p:txBody>
      </p:sp>
      <p:sp>
        <p:nvSpPr>
          <p:cNvPr id="5" name="TextBox 4">
            <a:extLst>
              <a:ext uri="{FF2B5EF4-FFF2-40B4-BE49-F238E27FC236}">
                <a16:creationId xmlns:a16="http://schemas.microsoft.com/office/drawing/2014/main" id="{E1AA76C0-06AB-16E7-2E96-2FEC2D073127}"/>
              </a:ext>
            </a:extLst>
          </p:cNvPr>
          <p:cNvSpPr txBox="1"/>
          <p:nvPr/>
        </p:nvSpPr>
        <p:spPr>
          <a:xfrm>
            <a:off x="2351679" y="854444"/>
            <a:ext cx="4440639" cy="307777"/>
          </a:xfrm>
          <a:prstGeom prst="rect">
            <a:avLst/>
          </a:prstGeom>
          <a:noFill/>
        </p:spPr>
        <p:txBody>
          <a:bodyPr wrap="none" rtlCol="0">
            <a:spAutoFit/>
          </a:bodyPr>
          <a:lstStyle/>
          <a:p>
            <a:r>
              <a:rPr lang="en-US" dirty="0">
                <a:solidFill>
                  <a:schemeClr val="accent3"/>
                </a:solidFill>
              </a:rPr>
              <a:t>CQRS</a:t>
            </a:r>
            <a:r>
              <a:rPr lang="en-US" dirty="0">
                <a:solidFill>
                  <a:schemeClr val="bg1"/>
                </a:solidFill>
              </a:rPr>
              <a:t> = Command Query Responsibility Segregation</a:t>
            </a:r>
          </a:p>
        </p:txBody>
      </p:sp>
      <p:pic>
        <p:nvPicPr>
          <p:cNvPr id="7" name="Picture 6">
            <a:extLst>
              <a:ext uri="{FF2B5EF4-FFF2-40B4-BE49-F238E27FC236}">
                <a16:creationId xmlns:a16="http://schemas.microsoft.com/office/drawing/2014/main" id="{EE062DC4-E8E3-5600-EE0C-7DEE5E99EB0B}"/>
              </a:ext>
            </a:extLst>
          </p:cNvPr>
          <p:cNvPicPr>
            <a:picLocks noChangeAspect="1"/>
          </p:cNvPicPr>
          <p:nvPr/>
        </p:nvPicPr>
        <p:blipFill>
          <a:blip r:embed="rId2"/>
          <a:stretch>
            <a:fillRect/>
          </a:stretch>
        </p:blipFill>
        <p:spPr>
          <a:xfrm>
            <a:off x="2042074" y="2326286"/>
            <a:ext cx="5059848" cy="2349215"/>
          </a:xfrm>
          <a:prstGeom prst="rect">
            <a:avLst/>
          </a:prstGeom>
        </p:spPr>
      </p:pic>
    </p:spTree>
    <p:extLst>
      <p:ext uri="{BB962C8B-B14F-4D97-AF65-F5344CB8AC3E}">
        <p14:creationId xmlns:p14="http://schemas.microsoft.com/office/powerpoint/2010/main" val="39758620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2BA8A-3066-B3A6-6D44-E04139DA4C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737E3A-D904-F750-E88B-5D9556F95730}"/>
              </a:ext>
            </a:extLst>
          </p:cNvPr>
          <p:cNvSpPr>
            <a:spLocks noGrp="1"/>
          </p:cNvSpPr>
          <p:nvPr>
            <p:ph type="title"/>
          </p:nvPr>
        </p:nvSpPr>
        <p:spPr>
          <a:xfrm>
            <a:off x="703649" y="-10435"/>
            <a:ext cx="7736700" cy="572700"/>
          </a:xfrm>
        </p:spPr>
        <p:txBody>
          <a:bodyPr/>
          <a:lstStyle/>
          <a:p>
            <a:r>
              <a:rPr lang="en-US" dirty="0"/>
              <a:t>Mediator Pattern</a:t>
            </a:r>
          </a:p>
        </p:txBody>
      </p:sp>
      <p:sp>
        <p:nvSpPr>
          <p:cNvPr id="5" name="TextBox 4">
            <a:extLst>
              <a:ext uri="{FF2B5EF4-FFF2-40B4-BE49-F238E27FC236}">
                <a16:creationId xmlns:a16="http://schemas.microsoft.com/office/drawing/2014/main" id="{FE2E674B-0B92-B8D5-8F21-74E1F428CBD7}"/>
              </a:ext>
            </a:extLst>
          </p:cNvPr>
          <p:cNvSpPr txBox="1"/>
          <p:nvPr/>
        </p:nvSpPr>
        <p:spPr>
          <a:xfrm>
            <a:off x="2488736" y="1402199"/>
            <a:ext cx="4166525" cy="1169551"/>
          </a:xfrm>
          <a:prstGeom prst="rect">
            <a:avLst/>
          </a:prstGeom>
          <a:noFill/>
        </p:spPr>
        <p:txBody>
          <a:bodyPr wrap="none" rtlCol="0">
            <a:spAutoFit/>
          </a:bodyPr>
          <a:lstStyle/>
          <a:p>
            <a:r>
              <a:rPr lang="en-US" dirty="0">
                <a:solidFill>
                  <a:schemeClr val="bg1"/>
                </a:solidFill>
              </a:rPr>
              <a:t>API/Endpoints &gt; Controller &gt; Service &gt; Repo &gt; EF</a:t>
            </a:r>
            <a:br>
              <a:rPr lang="en-US" dirty="0">
                <a:solidFill>
                  <a:schemeClr val="bg1"/>
                </a:solidFill>
              </a:rPr>
            </a:br>
            <a:br>
              <a:rPr lang="en-US" dirty="0">
                <a:solidFill>
                  <a:schemeClr val="bg1"/>
                </a:solidFill>
              </a:rPr>
            </a:br>
            <a:br>
              <a:rPr lang="en-US" dirty="0">
                <a:solidFill>
                  <a:schemeClr val="bg1"/>
                </a:solidFill>
              </a:rPr>
            </a:br>
            <a:br>
              <a:rPr lang="en-US" dirty="0">
                <a:solidFill>
                  <a:schemeClr val="bg1"/>
                </a:solidFill>
              </a:rPr>
            </a:br>
            <a:endParaRPr lang="en-US" dirty="0">
              <a:solidFill>
                <a:schemeClr val="bg1"/>
              </a:solidFill>
            </a:endParaRPr>
          </a:p>
        </p:txBody>
      </p:sp>
      <p:sp>
        <p:nvSpPr>
          <p:cNvPr id="6" name="TextBox 5">
            <a:extLst>
              <a:ext uri="{FF2B5EF4-FFF2-40B4-BE49-F238E27FC236}">
                <a16:creationId xmlns:a16="http://schemas.microsoft.com/office/drawing/2014/main" id="{BA82759D-9433-3B26-9AA8-510C4DBD944D}"/>
              </a:ext>
            </a:extLst>
          </p:cNvPr>
          <p:cNvSpPr txBox="1"/>
          <p:nvPr/>
        </p:nvSpPr>
        <p:spPr>
          <a:xfrm>
            <a:off x="4424620" y="2897083"/>
            <a:ext cx="1840568" cy="738664"/>
          </a:xfrm>
          <a:prstGeom prst="rect">
            <a:avLst/>
          </a:prstGeom>
          <a:noFill/>
        </p:spPr>
        <p:txBody>
          <a:bodyPr wrap="none" rtlCol="0">
            <a:spAutoFit/>
          </a:bodyPr>
          <a:lstStyle/>
          <a:p>
            <a:r>
              <a:rPr lang="en-US" dirty="0">
                <a:solidFill>
                  <a:schemeClr val="bg1"/>
                </a:solidFill>
              </a:rPr>
              <a:t>Query Handler &gt;</a:t>
            </a:r>
          </a:p>
          <a:p>
            <a:endParaRPr lang="en-US" dirty="0">
              <a:solidFill>
                <a:schemeClr val="bg1"/>
              </a:solidFill>
            </a:endParaRPr>
          </a:p>
          <a:p>
            <a:r>
              <a:rPr lang="en-US" dirty="0">
                <a:solidFill>
                  <a:schemeClr val="bg1"/>
                </a:solidFill>
              </a:rPr>
              <a:t>Command Handler &gt;</a:t>
            </a:r>
          </a:p>
        </p:txBody>
      </p:sp>
      <p:sp>
        <p:nvSpPr>
          <p:cNvPr id="8" name="TextBox 7">
            <a:extLst>
              <a:ext uri="{FF2B5EF4-FFF2-40B4-BE49-F238E27FC236}">
                <a16:creationId xmlns:a16="http://schemas.microsoft.com/office/drawing/2014/main" id="{10C36D19-C003-5AD8-622D-EAFCB274542D}"/>
              </a:ext>
            </a:extLst>
          </p:cNvPr>
          <p:cNvSpPr txBox="1"/>
          <p:nvPr/>
        </p:nvSpPr>
        <p:spPr>
          <a:xfrm>
            <a:off x="6265188" y="3034888"/>
            <a:ext cx="891591" cy="307777"/>
          </a:xfrm>
          <a:prstGeom prst="rect">
            <a:avLst/>
          </a:prstGeom>
          <a:noFill/>
        </p:spPr>
        <p:txBody>
          <a:bodyPr wrap="none" rtlCol="0">
            <a:spAutoFit/>
          </a:bodyPr>
          <a:lstStyle/>
          <a:p>
            <a:r>
              <a:rPr lang="en-US" dirty="0">
                <a:solidFill>
                  <a:schemeClr val="bg1"/>
                </a:solidFill>
              </a:rPr>
              <a:t>Repo/EF</a:t>
            </a:r>
          </a:p>
        </p:txBody>
      </p:sp>
      <p:sp>
        <p:nvSpPr>
          <p:cNvPr id="9" name="TextBox 8">
            <a:extLst>
              <a:ext uri="{FF2B5EF4-FFF2-40B4-BE49-F238E27FC236}">
                <a16:creationId xmlns:a16="http://schemas.microsoft.com/office/drawing/2014/main" id="{543782F6-BA5B-FC80-2435-26192299F712}"/>
              </a:ext>
            </a:extLst>
          </p:cNvPr>
          <p:cNvSpPr txBox="1"/>
          <p:nvPr/>
        </p:nvSpPr>
        <p:spPr>
          <a:xfrm>
            <a:off x="1070817" y="3112526"/>
            <a:ext cx="3353803" cy="307777"/>
          </a:xfrm>
          <a:prstGeom prst="rect">
            <a:avLst/>
          </a:prstGeom>
          <a:noFill/>
        </p:spPr>
        <p:txBody>
          <a:bodyPr wrap="none" rtlCol="0">
            <a:spAutoFit/>
          </a:bodyPr>
          <a:lstStyle/>
          <a:p>
            <a:r>
              <a:rPr lang="en-US" dirty="0">
                <a:solidFill>
                  <a:schemeClr val="bg1"/>
                </a:solidFill>
              </a:rPr>
              <a:t>API/Endpoints &gt; Controller &gt; Mediator &gt;</a:t>
            </a:r>
            <a:endParaRPr lang="en-US" dirty="0"/>
          </a:p>
        </p:txBody>
      </p:sp>
      <p:sp>
        <p:nvSpPr>
          <p:cNvPr id="10" name="TextBox 9">
            <a:extLst>
              <a:ext uri="{FF2B5EF4-FFF2-40B4-BE49-F238E27FC236}">
                <a16:creationId xmlns:a16="http://schemas.microsoft.com/office/drawing/2014/main" id="{8DDFD93A-105E-D375-E782-42F7D0498FB1}"/>
              </a:ext>
            </a:extLst>
          </p:cNvPr>
          <p:cNvSpPr txBox="1"/>
          <p:nvPr/>
        </p:nvSpPr>
        <p:spPr>
          <a:xfrm>
            <a:off x="4670152" y="2645178"/>
            <a:ext cx="1197764" cy="261610"/>
          </a:xfrm>
          <a:prstGeom prst="rect">
            <a:avLst/>
          </a:prstGeom>
          <a:noFill/>
        </p:spPr>
        <p:txBody>
          <a:bodyPr wrap="none" rtlCol="0">
            <a:spAutoFit/>
          </a:bodyPr>
          <a:lstStyle/>
          <a:p>
            <a:r>
              <a:rPr lang="en-US" sz="1100" dirty="0">
                <a:solidFill>
                  <a:schemeClr val="bg1"/>
                </a:solidFill>
              </a:rPr>
              <a:t>CQRS Handlers</a:t>
            </a:r>
          </a:p>
        </p:txBody>
      </p:sp>
    </p:spTree>
    <p:extLst>
      <p:ext uri="{BB962C8B-B14F-4D97-AF65-F5344CB8AC3E}">
        <p14:creationId xmlns:p14="http://schemas.microsoft.com/office/powerpoint/2010/main" val="39976664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291971E-93F4-CFA6-DC5A-F96D9618298E}"/>
              </a:ext>
            </a:extLst>
          </p:cNvPr>
          <p:cNvSpPr>
            <a:spLocks noGrp="1"/>
          </p:cNvSpPr>
          <p:nvPr>
            <p:ph type="body" idx="1"/>
          </p:nvPr>
        </p:nvSpPr>
        <p:spPr>
          <a:xfrm>
            <a:off x="2874948" y="1310942"/>
            <a:ext cx="3392603" cy="424452"/>
          </a:xfrm>
        </p:spPr>
        <p:txBody>
          <a:bodyPr/>
          <a:lstStyle/>
          <a:p>
            <a:r>
              <a:rPr lang="en-US" dirty="0"/>
              <a:t>Install </a:t>
            </a:r>
            <a:r>
              <a:rPr lang="en-US" dirty="0" err="1"/>
              <a:t>nuget</a:t>
            </a:r>
            <a:r>
              <a:rPr lang="en-US" dirty="0"/>
              <a:t> package to application layer</a:t>
            </a:r>
          </a:p>
        </p:txBody>
      </p:sp>
      <p:sp>
        <p:nvSpPr>
          <p:cNvPr id="3" name="Title 2">
            <a:extLst>
              <a:ext uri="{FF2B5EF4-FFF2-40B4-BE49-F238E27FC236}">
                <a16:creationId xmlns:a16="http://schemas.microsoft.com/office/drawing/2014/main" id="{D5F9DCFC-CE1F-8BAC-DA0F-5DD1FDEEFE85}"/>
              </a:ext>
            </a:extLst>
          </p:cNvPr>
          <p:cNvSpPr>
            <a:spLocks noGrp="1"/>
          </p:cNvSpPr>
          <p:nvPr>
            <p:ph type="title"/>
          </p:nvPr>
        </p:nvSpPr>
        <p:spPr/>
        <p:txBody>
          <a:bodyPr/>
          <a:lstStyle/>
          <a:p>
            <a:r>
              <a:rPr lang="en-US" dirty="0" err="1"/>
              <a:t>Mediatr</a:t>
            </a:r>
            <a:r>
              <a:rPr lang="en-US" dirty="0"/>
              <a:t> &amp; CQRS Setup</a:t>
            </a:r>
          </a:p>
        </p:txBody>
      </p:sp>
      <p:pic>
        <p:nvPicPr>
          <p:cNvPr id="5" name="Picture 4">
            <a:extLst>
              <a:ext uri="{FF2B5EF4-FFF2-40B4-BE49-F238E27FC236}">
                <a16:creationId xmlns:a16="http://schemas.microsoft.com/office/drawing/2014/main" id="{3A4FBFF8-C1C4-B047-A72E-7D8378BBA095}"/>
              </a:ext>
            </a:extLst>
          </p:cNvPr>
          <p:cNvPicPr>
            <a:picLocks noChangeAspect="1"/>
          </p:cNvPicPr>
          <p:nvPr/>
        </p:nvPicPr>
        <p:blipFill>
          <a:blip r:embed="rId2"/>
          <a:stretch>
            <a:fillRect/>
          </a:stretch>
        </p:blipFill>
        <p:spPr>
          <a:xfrm>
            <a:off x="2027153" y="1869422"/>
            <a:ext cx="5088194" cy="702328"/>
          </a:xfrm>
          <a:prstGeom prst="rect">
            <a:avLst/>
          </a:prstGeom>
        </p:spPr>
      </p:pic>
      <p:pic>
        <p:nvPicPr>
          <p:cNvPr id="7" name="Picture 6">
            <a:extLst>
              <a:ext uri="{FF2B5EF4-FFF2-40B4-BE49-F238E27FC236}">
                <a16:creationId xmlns:a16="http://schemas.microsoft.com/office/drawing/2014/main" id="{95BC0D34-8E52-F6E1-A93E-A8CD470F8FF9}"/>
              </a:ext>
            </a:extLst>
          </p:cNvPr>
          <p:cNvPicPr>
            <a:picLocks noChangeAspect="1"/>
          </p:cNvPicPr>
          <p:nvPr/>
        </p:nvPicPr>
        <p:blipFill>
          <a:blip r:embed="rId3"/>
          <a:stretch>
            <a:fillRect/>
          </a:stretch>
        </p:blipFill>
        <p:spPr>
          <a:xfrm>
            <a:off x="3687087" y="3279247"/>
            <a:ext cx="1769825" cy="1504953"/>
          </a:xfrm>
          <a:prstGeom prst="rect">
            <a:avLst/>
          </a:prstGeom>
        </p:spPr>
      </p:pic>
      <p:sp>
        <p:nvSpPr>
          <p:cNvPr id="8" name="TextBox 7">
            <a:extLst>
              <a:ext uri="{FF2B5EF4-FFF2-40B4-BE49-F238E27FC236}">
                <a16:creationId xmlns:a16="http://schemas.microsoft.com/office/drawing/2014/main" id="{18FA1715-027B-1EC6-126E-D470B911D0D4}"/>
              </a:ext>
            </a:extLst>
          </p:cNvPr>
          <p:cNvSpPr txBox="1"/>
          <p:nvPr/>
        </p:nvSpPr>
        <p:spPr>
          <a:xfrm>
            <a:off x="2191337" y="2816941"/>
            <a:ext cx="4780476" cy="307777"/>
          </a:xfrm>
          <a:prstGeom prst="rect">
            <a:avLst/>
          </a:prstGeom>
          <a:noFill/>
        </p:spPr>
        <p:txBody>
          <a:bodyPr wrap="none" rtlCol="0">
            <a:spAutoFit/>
          </a:bodyPr>
          <a:lstStyle/>
          <a:p>
            <a:r>
              <a:rPr lang="en-US" dirty="0">
                <a:solidFill>
                  <a:schemeClr val="bg1"/>
                </a:solidFill>
              </a:rPr>
              <a:t>Instead of services, we now have commands and queries:</a:t>
            </a:r>
          </a:p>
        </p:txBody>
      </p:sp>
    </p:spTree>
    <p:extLst>
      <p:ext uri="{BB962C8B-B14F-4D97-AF65-F5344CB8AC3E}">
        <p14:creationId xmlns:p14="http://schemas.microsoft.com/office/powerpoint/2010/main" val="4545632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539059-32E5-F172-E38A-42F1689CF809}"/>
              </a:ext>
            </a:extLst>
          </p:cNvPr>
          <p:cNvSpPr>
            <a:spLocks noGrp="1"/>
          </p:cNvSpPr>
          <p:nvPr>
            <p:ph type="body" idx="1"/>
          </p:nvPr>
        </p:nvSpPr>
        <p:spPr>
          <a:xfrm>
            <a:off x="1428765" y="955165"/>
            <a:ext cx="1641990" cy="261038"/>
          </a:xfrm>
        </p:spPr>
        <p:txBody>
          <a:bodyPr/>
          <a:lstStyle/>
          <a:p>
            <a:pPr marL="152400" indent="0">
              <a:buNone/>
            </a:pPr>
            <a:r>
              <a:rPr lang="en-US" dirty="0"/>
              <a:t>Command Example:</a:t>
            </a:r>
          </a:p>
        </p:txBody>
      </p:sp>
      <p:sp>
        <p:nvSpPr>
          <p:cNvPr id="3" name="Title 2">
            <a:extLst>
              <a:ext uri="{FF2B5EF4-FFF2-40B4-BE49-F238E27FC236}">
                <a16:creationId xmlns:a16="http://schemas.microsoft.com/office/drawing/2014/main" id="{70E1DE92-972A-4819-A91C-34E50453E194}"/>
              </a:ext>
            </a:extLst>
          </p:cNvPr>
          <p:cNvSpPr>
            <a:spLocks noGrp="1"/>
          </p:cNvSpPr>
          <p:nvPr>
            <p:ph type="title"/>
          </p:nvPr>
        </p:nvSpPr>
        <p:spPr/>
        <p:txBody>
          <a:bodyPr/>
          <a:lstStyle/>
          <a:p>
            <a:r>
              <a:rPr lang="en-US" dirty="0" err="1"/>
              <a:t>Mediatr</a:t>
            </a:r>
            <a:r>
              <a:rPr lang="en-US" dirty="0"/>
              <a:t> &amp; CQRS Setup</a:t>
            </a:r>
          </a:p>
        </p:txBody>
      </p:sp>
      <p:pic>
        <p:nvPicPr>
          <p:cNvPr id="5" name="Picture 4">
            <a:extLst>
              <a:ext uri="{FF2B5EF4-FFF2-40B4-BE49-F238E27FC236}">
                <a16:creationId xmlns:a16="http://schemas.microsoft.com/office/drawing/2014/main" id="{C764F034-D0C6-9CA8-80CD-4ED9DA18CBEF}"/>
              </a:ext>
            </a:extLst>
          </p:cNvPr>
          <p:cNvPicPr>
            <a:picLocks noChangeAspect="1"/>
          </p:cNvPicPr>
          <p:nvPr/>
        </p:nvPicPr>
        <p:blipFill>
          <a:blip r:embed="rId2"/>
          <a:stretch>
            <a:fillRect/>
          </a:stretch>
        </p:blipFill>
        <p:spPr>
          <a:xfrm>
            <a:off x="535778" y="1500406"/>
            <a:ext cx="3751441" cy="3471030"/>
          </a:xfrm>
          <a:prstGeom prst="rect">
            <a:avLst/>
          </a:prstGeom>
        </p:spPr>
      </p:pic>
      <p:pic>
        <p:nvPicPr>
          <p:cNvPr id="7" name="Picture 6">
            <a:extLst>
              <a:ext uri="{FF2B5EF4-FFF2-40B4-BE49-F238E27FC236}">
                <a16:creationId xmlns:a16="http://schemas.microsoft.com/office/drawing/2014/main" id="{D2D0FF1F-AD9C-C758-2835-024916B05172}"/>
              </a:ext>
            </a:extLst>
          </p:cNvPr>
          <p:cNvPicPr>
            <a:picLocks noChangeAspect="1"/>
          </p:cNvPicPr>
          <p:nvPr/>
        </p:nvPicPr>
        <p:blipFill>
          <a:blip r:embed="rId3"/>
          <a:stretch>
            <a:fillRect/>
          </a:stretch>
        </p:blipFill>
        <p:spPr>
          <a:xfrm>
            <a:off x="4538962" y="1500406"/>
            <a:ext cx="3910963" cy="3471030"/>
          </a:xfrm>
          <a:prstGeom prst="rect">
            <a:avLst/>
          </a:prstGeom>
        </p:spPr>
      </p:pic>
      <p:sp>
        <p:nvSpPr>
          <p:cNvPr id="8" name="Text Placeholder 1">
            <a:extLst>
              <a:ext uri="{FF2B5EF4-FFF2-40B4-BE49-F238E27FC236}">
                <a16:creationId xmlns:a16="http://schemas.microsoft.com/office/drawing/2014/main" id="{7235449D-EC95-94A4-BCEC-546AE255899B}"/>
              </a:ext>
            </a:extLst>
          </p:cNvPr>
          <p:cNvSpPr txBox="1">
            <a:spLocks/>
          </p:cNvSpPr>
          <p:nvPr/>
        </p:nvSpPr>
        <p:spPr>
          <a:xfrm>
            <a:off x="5652604" y="999746"/>
            <a:ext cx="1683677" cy="2610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15000"/>
              </a:lnSpc>
              <a:spcBef>
                <a:spcPts val="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1pPr>
            <a:lvl2pPr marL="914400" marR="0" lvl="1"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2pPr>
            <a:lvl3pPr marL="1371600" marR="0" lvl="2"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3pPr>
            <a:lvl4pPr marL="1828800" marR="0" lvl="3"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4pPr>
            <a:lvl5pPr marL="2286000" marR="0" lvl="4"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5pPr>
            <a:lvl6pPr marL="2743200" marR="0" lvl="5"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6pPr>
            <a:lvl7pPr marL="3200400" marR="0" lvl="6"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7pPr>
            <a:lvl8pPr marL="3657600" marR="0" lvl="7" indent="-304800" algn="l" rtl="0">
              <a:lnSpc>
                <a:spcPct val="115000"/>
              </a:lnSpc>
              <a:spcBef>
                <a:spcPts val="1600"/>
              </a:spcBef>
              <a:spcAft>
                <a:spcPts val="0"/>
              </a:spcAft>
              <a:buClr>
                <a:schemeClr val="lt1"/>
              </a:buClr>
              <a:buSzPts val="1200"/>
              <a:buFont typeface="Arial"/>
              <a:buChar char="○"/>
              <a:defRPr sz="1200" b="0" i="0" u="none" strike="noStrike" cap="none">
                <a:solidFill>
                  <a:schemeClr val="lt1"/>
                </a:solidFill>
                <a:latin typeface="Arial"/>
                <a:ea typeface="Arial"/>
                <a:cs typeface="Arial"/>
                <a:sym typeface="Arial"/>
              </a:defRPr>
            </a:lvl8pPr>
            <a:lvl9pPr marL="4114800" marR="0" lvl="8" indent="-304800" algn="l" rtl="0">
              <a:lnSpc>
                <a:spcPct val="115000"/>
              </a:lnSpc>
              <a:spcBef>
                <a:spcPts val="1600"/>
              </a:spcBef>
              <a:spcAft>
                <a:spcPts val="1600"/>
              </a:spcAft>
              <a:buClr>
                <a:schemeClr val="lt1"/>
              </a:buClr>
              <a:buSzPts val="1200"/>
              <a:buFont typeface="Arial"/>
              <a:buChar char="■"/>
              <a:defRPr sz="1200" b="0" i="0" u="none" strike="noStrike" cap="none">
                <a:solidFill>
                  <a:schemeClr val="lt1"/>
                </a:solidFill>
                <a:latin typeface="Arial"/>
                <a:ea typeface="Arial"/>
                <a:cs typeface="Arial"/>
                <a:sym typeface="Arial"/>
              </a:defRPr>
            </a:lvl9pPr>
          </a:lstStyle>
          <a:p>
            <a:pPr marL="152400" indent="0">
              <a:buFont typeface="Source Sans Pro"/>
              <a:buNone/>
            </a:pPr>
            <a:r>
              <a:rPr lang="en-US" dirty="0"/>
              <a:t>Query Example:</a:t>
            </a:r>
          </a:p>
        </p:txBody>
      </p:sp>
    </p:spTree>
    <p:extLst>
      <p:ext uri="{BB962C8B-B14F-4D97-AF65-F5344CB8AC3E}">
        <p14:creationId xmlns:p14="http://schemas.microsoft.com/office/powerpoint/2010/main" val="32451658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78022EB-004F-E618-6AFE-B3909F716DE1}"/>
              </a:ext>
            </a:extLst>
          </p:cNvPr>
          <p:cNvSpPr>
            <a:spLocks noGrp="1"/>
          </p:cNvSpPr>
          <p:nvPr>
            <p:ph type="body" idx="1"/>
          </p:nvPr>
        </p:nvSpPr>
        <p:spPr>
          <a:xfrm>
            <a:off x="3131289" y="932000"/>
            <a:ext cx="3372878" cy="428567"/>
          </a:xfrm>
        </p:spPr>
        <p:txBody>
          <a:bodyPr/>
          <a:lstStyle/>
          <a:p>
            <a:r>
              <a:rPr lang="en-US" dirty="0"/>
              <a:t>Register </a:t>
            </a:r>
            <a:r>
              <a:rPr lang="en-US" dirty="0" err="1"/>
              <a:t>MediatR</a:t>
            </a:r>
            <a:r>
              <a:rPr lang="en-US" dirty="0"/>
              <a:t> in </a:t>
            </a:r>
            <a:r>
              <a:rPr lang="en-US" dirty="0" err="1"/>
              <a:t>program.cs</a:t>
            </a:r>
            <a:endParaRPr lang="en-US" dirty="0"/>
          </a:p>
        </p:txBody>
      </p:sp>
      <p:sp>
        <p:nvSpPr>
          <p:cNvPr id="3" name="Title 2">
            <a:extLst>
              <a:ext uri="{FF2B5EF4-FFF2-40B4-BE49-F238E27FC236}">
                <a16:creationId xmlns:a16="http://schemas.microsoft.com/office/drawing/2014/main" id="{18256470-D11D-8134-3043-61E61BAE69C7}"/>
              </a:ext>
            </a:extLst>
          </p:cNvPr>
          <p:cNvSpPr>
            <a:spLocks noGrp="1"/>
          </p:cNvSpPr>
          <p:nvPr>
            <p:ph type="title"/>
          </p:nvPr>
        </p:nvSpPr>
        <p:spPr/>
        <p:txBody>
          <a:bodyPr/>
          <a:lstStyle/>
          <a:p>
            <a:r>
              <a:rPr lang="en-US" dirty="0" err="1"/>
              <a:t>Mediatr</a:t>
            </a:r>
            <a:r>
              <a:rPr lang="en-US" dirty="0"/>
              <a:t> &amp; CQRS Setup</a:t>
            </a:r>
          </a:p>
        </p:txBody>
      </p:sp>
      <p:pic>
        <p:nvPicPr>
          <p:cNvPr id="5" name="Picture 4">
            <a:extLst>
              <a:ext uri="{FF2B5EF4-FFF2-40B4-BE49-F238E27FC236}">
                <a16:creationId xmlns:a16="http://schemas.microsoft.com/office/drawing/2014/main" id="{57C5342A-DDDD-BE0F-E4FD-58B089BFDF71}"/>
              </a:ext>
            </a:extLst>
          </p:cNvPr>
          <p:cNvPicPr>
            <a:picLocks noChangeAspect="1"/>
          </p:cNvPicPr>
          <p:nvPr/>
        </p:nvPicPr>
        <p:blipFill>
          <a:blip r:embed="rId2"/>
          <a:stretch>
            <a:fillRect/>
          </a:stretch>
        </p:blipFill>
        <p:spPr>
          <a:xfrm>
            <a:off x="610747" y="1396999"/>
            <a:ext cx="7921256" cy="215402"/>
          </a:xfrm>
          <a:prstGeom prst="rect">
            <a:avLst/>
          </a:prstGeom>
        </p:spPr>
      </p:pic>
      <p:pic>
        <p:nvPicPr>
          <p:cNvPr id="7" name="Picture 6">
            <a:extLst>
              <a:ext uri="{FF2B5EF4-FFF2-40B4-BE49-F238E27FC236}">
                <a16:creationId xmlns:a16="http://schemas.microsoft.com/office/drawing/2014/main" id="{B949BDD6-38D5-3965-C44F-0D8648214627}"/>
              </a:ext>
            </a:extLst>
          </p:cNvPr>
          <p:cNvPicPr>
            <a:picLocks noChangeAspect="1"/>
          </p:cNvPicPr>
          <p:nvPr/>
        </p:nvPicPr>
        <p:blipFill>
          <a:blip r:embed="rId3"/>
          <a:stretch>
            <a:fillRect/>
          </a:stretch>
        </p:blipFill>
        <p:spPr>
          <a:xfrm>
            <a:off x="610747" y="1727791"/>
            <a:ext cx="3836913" cy="3220138"/>
          </a:xfrm>
          <a:prstGeom prst="rect">
            <a:avLst/>
          </a:prstGeom>
        </p:spPr>
      </p:pic>
      <p:sp>
        <p:nvSpPr>
          <p:cNvPr id="8" name="Text Placeholder 1">
            <a:extLst>
              <a:ext uri="{FF2B5EF4-FFF2-40B4-BE49-F238E27FC236}">
                <a16:creationId xmlns:a16="http://schemas.microsoft.com/office/drawing/2014/main" id="{1D70161B-22A8-71EA-B88D-3B7B35DFCD07}"/>
              </a:ext>
            </a:extLst>
          </p:cNvPr>
          <p:cNvSpPr txBox="1">
            <a:spLocks/>
          </p:cNvSpPr>
          <p:nvPr/>
        </p:nvSpPr>
        <p:spPr>
          <a:xfrm>
            <a:off x="4447660" y="2221997"/>
            <a:ext cx="3257170" cy="42856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15000"/>
              </a:lnSpc>
              <a:spcBef>
                <a:spcPts val="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1pPr>
            <a:lvl2pPr marL="914400" marR="0" lvl="1"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2pPr>
            <a:lvl3pPr marL="1371600" marR="0" lvl="2"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3pPr>
            <a:lvl4pPr marL="1828800" marR="0" lvl="3"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4pPr>
            <a:lvl5pPr marL="2286000" marR="0" lvl="4"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5pPr>
            <a:lvl6pPr marL="2743200" marR="0" lvl="5"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6pPr>
            <a:lvl7pPr marL="3200400" marR="0" lvl="6" indent="-304800" algn="l" rtl="0">
              <a:lnSpc>
                <a:spcPct val="115000"/>
              </a:lnSpc>
              <a:spcBef>
                <a:spcPts val="1600"/>
              </a:spcBef>
              <a:spcAft>
                <a:spcPts val="0"/>
              </a:spcAft>
              <a:buClr>
                <a:schemeClr val="lt1"/>
              </a:buClr>
              <a:buSzPts val="1200"/>
              <a:buFont typeface="Source Sans Pro"/>
              <a:buChar char="●"/>
              <a:defRPr sz="1200" b="0" i="0" u="none" strike="noStrike" cap="none">
                <a:solidFill>
                  <a:schemeClr val="lt1"/>
                </a:solidFill>
                <a:latin typeface="Source Sans Pro"/>
                <a:ea typeface="Source Sans Pro"/>
                <a:cs typeface="Source Sans Pro"/>
                <a:sym typeface="Source Sans Pro"/>
              </a:defRPr>
            </a:lvl7pPr>
            <a:lvl8pPr marL="3657600" marR="0" lvl="7" indent="-304800" algn="l" rtl="0">
              <a:lnSpc>
                <a:spcPct val="115000"/>
              </a:lnSpc>
              <a:spcBef>
                <a:spcPts val="1600"/>
              </a:spcBef>
              <a:spcAft>
                <a:spcPts val="0"/>
              </a:spcAft>
              <a:buClr>
                <a:schemeClr val="lt1"/>
              </a:buClr>
              <a:buSzPts val="1200"/>
              <a:buFont typeface="Arial"/>
              <a:buChar char="○"/>
              <a:defRPr sz="1200" b="0" i="0" u="none" strike="noStrike" cap="none">
                <a:solidFill>
                  <a:schemeClr val="lt1"/>
                </a:solidFill>
                <a:latin typeface="Arial"/>
                <a:ea typeface="Arial"/>
                <a:cs typeface="Arial"/>
                <a:sym typeface="Arial"/>
              </a:defRPr>
            </a:lvl8pPr>
            <a:lvl9pPr marL="4114800" marR="0" lvl="8" indent="-304800" algn="l" rtl="0">
              <a:lnSpc>
                <a:spcPct val="115000"/>
              </a:lnSpc>
              <a:spcBef>
                <a:spcPts val="1600"/>
              </a:spcBef>
              <a:spcAft>
                <a:spcPts val="1600"/>
              </a:spcAft>
              <a:buClr>
                <a:schemeClr val="lt1"/>
              </a:buClr>
              <a:buSzPts val="1200"/>
              <a:buFont typeface="Arial"/>
              <a:buChar char="■"/>
              <a:defRPr sz="1200" b="0" i="0" u="none" strike="noStrike" cap="none">
                <a:solidFill>
                  <a:schemeClr val="lt1"/>
                </a:solidFill>
                <a:latin typeface="Arial"/>
                <a:ea typeface="Arial"/>
                <a:cs typeface="Arial"/>
                <a:sym typeface="Arial"/>
              </a:defRPr>
            </a:lvl9pPr>
          </a:lstStyle>
          <a:p>
            <a:r>
              <a:rPr lang="en-US" dirty="0"/>
              <a:t>We can then use our Mediator from the controller</a:t>
            </a:r>
          </a:p>
        </p:txBody>
      </p:sp>
    </p:spTree>
    <p:extLst>
      <p:ext uri="{BB962C8B-B14F-4D97-AF65-F5344CB8AC3E}">
        <p14:creationId xmlns:p14="http://schemas.microsoft.com/office/powerpoint/2010/main" val="97985044"/>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76771</TotalTime>
  <Words>1287</Words>
  <Application>Microsoft Office PowerPoint</Application>
  <PresentationFormat>On-screen Show (16:9)</PresentationFormat>
  <Paragraphs>202</Paragraphs>
  <Slides>38</Slides>
  <Notes>3</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Wingdings</vt:lpstr>
      <vt:lpstr>Source Sans Pro</vt:lpstr>
      <vt:lpstr>Arial</vt:lpstr>
      <vt:lpstr>Hammersmith One</vt:lpstr>
      <vt:lpstr>Creative Sales Strategy by Slidesgo</vt:lpstr>
      <vt:lpstr>ASP.NET</vt:lpstr>
      <vt:lpstr>Agenda</vt:lpstr>
      <vt:lpstr>What is a Database?</vt:lpstr>
      <vt:lpstr>Model Binding</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lpstr>Change Tracking</vt:lpstr>
      <vt:lpstr>EF Core Data Annotations</vt:lpstr>
      <vt:lpstr>Data Annotations – Relationships &amp; Navigation Properties</vt:lpstr>
      <vt:lpstr>Data Annotations – Relationships &amp; Navigation Properties</vt:lpstr>
      <vt:lpstr>Data Annotations – Relationships &amp; Navigation Properties</vt:lpstr>
      <vt:lpstr>Fluent API</vt:lpstr>
      <vt:lpstr>Fluent API – Other Common Methods</vt:lpstr>
      <vt:lpstr>Fluent API – Best Practice</vt:lpstr>
      <vt:lpstr>Caching</vt:lpstr>
      <vt:lpstr>In-Memory Caching</vt:lpstr>
      <vt:lpstr>Cache Invalidation</vt:lpstr>
      <vt:lpstr>Response Caching</vt:lpstr>
      <vt:lpstr>Response Cache vs Memory Cache</vt:lpstr>
      <vt:lpstr>Eager vs Lazy Loading</vt:lpstr>
      <vt:lpstr>Eager vs Lazy Loading</vt:lpstr>
      <vt:lpstr>Explicit Loading</vt:lpstr>
      <vt:lpstr>Eager vs Lazy vs Explicit Loading</vt:lpstr>
      <vt:lpstr>Clean Code</vt:lpstr>
      <vt:lpstr>CQRS</vt:lpstr>
      <vt:lpstr>Mediator Pattern</vt:lpstr>
      <vt:lpstr>Mediatr &amp; CQRS Setup</vt:lpstr>
      <vt:lpstr>Mediatr &amp; CQRS Setup</vt:lpstr>
      <vt:lpstr>Mediatr &amp; CQRS Setup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30</cp:revision>
  <dcterms:modified xsi:type="dcterms:W3CDTF">2026-05-26T17:43:29Z</dcterms:modified>
</cp:coreProperties>
</file>